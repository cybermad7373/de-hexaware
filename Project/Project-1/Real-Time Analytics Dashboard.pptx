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x="18288000" cy="10287000"/>
  <p:notesSz cx="6858000" cy="9144000"/>
  <p:embeddedFontLst>
    <p:embeddedFont>
      <p:font typeface="Poppins Semi-Bold" charset="1" panose="00000700000000000000"/>
      <p:regular r:id="rId36"/>
    </p:embeddedFont>
    <p:embeddedFont>
      <p:font typeface="Poppins" charset="1" panose="00000500000000000000"/>
      <p:regular r:id="rId37"/>
    </p:embeddedFont>
    <p:embeddedFont>
      <p:font typeface="Poppins Bold" charset="1" panose="00000800000000000000"/>
      <p:regular r:id="rId38"/>
    </p:embeddedFont>
    <p:embeddedFont>
      <p:font typeface="DM Sans" charset="1" panose="00000000000000000000"/>
      <p:regular r:id="rId39"/>
    </p:embeddedFont>
    <p:embeddedFont>
      <p:font typeface="Open Sans Bold" charset="1" panose="020B0806030504020204"/>
      <p:regular r:id="rId40"/>
    </p:embeddedFont>
    <p:embeddedFont>
      <p:font typeface="DM Sans Bold" charset="1" panose="00000000000000000000"/>
      <p:regular r:id="rId41"/>
    </p:embeddedFont>
    <p:embeddedFont>
      <p:font typeface="Open Sans Light" charset="1" panose="020B0306030504020204"/>
      <p:regular r:id="rId4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42" Target="fonts/font42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3.pn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6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01622" y="-767350"/>
            <a:ext cx="22013892" cy="12354774"/>
          </a:xfrm>
          <a:custGeom>
            <a:avLst/>
            <a:gdLst/>
            <a:ahLst/>
            <a:cxnLst/>
            <a:rect r="r" b="b" t="t" l="l"/>
            <a:pathLst>
              <a:path h="12354774" w="22013892">
                <a:moveTo>
                  <a:pt x="0" y="0"/>
                </a:moveTo>
                <a:lnTo>
                  <a:pt x="22013891" y="0"/>
                </a:lnTo>
                <a:lnTo>
                  <a:pt x="22013891" y="12354775"/>
                </a:lnTo>
                <a:lnTo>
                  <a:pt x="0" y="12354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467" r="0" b="-946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AAD7D4">
                <a:alpha val="28627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610563" y="2149180"/>
            <a:ext cx="13066873" cy="441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918"/>
              </a:lnSpc>
            </a:pPr>
            <a:r>
              <a:rPr lang="en-US" b="true" sz="12998" spc="-701">
                <a:solidFill>
                  <a:srgbClr val="1C21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REAL-TIME ANALYTICS DASHBOARD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974372" y="7178505"/>
            <a:ext cx="8339257" cy="669188"/>
            <a:chOff x="0" y="0"/>
            <a:chExt cx="11119009" cy="892251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11119009" cy="892251"/>
              <a:chOff x="0" y="0"/>
              <a:chExt cx="2196347" cy="176247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96347" cy="176247"/>
              </a:xfrm>
              <a:custGeom>
                <a:avLst/>
                <a:gdLst/>
                <a:ahLst/>
                <a:cxnLst/>
                <a:rect r="r" b="b" t="t" l="l"/>
                <a:pathLst>
                  <a:path h="176247" w="2196347">
                    <a:moveTo>
                      <a:pt x="0" y="0"/>
                    </a:moveTo>
                    <a:lnTo>
                      <a:pt x="2196347" y="0"/>
                    </a:lnTo>
                    <a:lnTo>
                      <a:pt x="2196347" y="176247"/>
                    </a:lnTo>
                    <a:lnTo>
                      <a:pt x="0" y="176247"/>
                    </a:lnTo>
                    <a:close/>
                  </a:path>
                </a:pathLst>
              </a:custGeom>
              <a:solidFill>
                <a:srgbClr val="AAD7D4"/>
              </a:solidFill>
              <a:ln w="28575" cap="sq">
                <a:solidFill>
                  <a:srgbClr val="1C2120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196347" cy="2143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TextBox 11" id="11"/>
            <p:cNvSpPr txBox="true"/>
            <p:nvPr/>
          </p:nvSpPr>
          <p:spPr>
            <a:xfrm rot="0">
              <a:off x="303200" y="137266"/>
              <a:ext cx="10512609" cy="6558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445"/>
                </a:lnSpc>
              </a:pPr>
              <a:r>
                <a:rPr lang="en-US" sz="3445" spc="-68">
                  <a:solidFill>
                    <a:srgbClr val="1C2120"/>
                  </a:solidFill>
                  <a:latin typeface="Poppins"/>
                  <a:ea typeface="Poppins"/>
                  <a:cs typeface="Poppins"/>
                  <a:sym typeface="Poppins"/>
                </a:rPr>
                <a:t>USING AZURE DATABRICKS &amp; PYSPARK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57788" y="-177024"/>
            <a:ext cx="7097803" cy="11057957"/>
          </a:xfrm>
          <a:custGeom>
            <a:avLst/>
            <a:gdLst/>
            <a:ahLst/>
            <a:cxnLst/>
            <a:rect r="r" b="b" t="t" l="l"/>
            <a:pathLst>
              <a:path h="11057957" w="7097803">
                <a:moveTo>
                  <a:pt x="0" y="0"/>
                </a:moveTo>
                <a:lnTo>
                  <a:pt x="7097803" y="0"/>
                </a:lnTo>
                <a:lnTo>
                  <a:pt x="7097803" y="11057957"/>
                </a:lnTo>
                <a:lnTo>
                  <a:pt x="0" y="1105795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31569" t="0" r="-2267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514350" y="-177024"/>
            <a:ext cx="7454365" cy="10601584"/>
            <a:chOff x="0" y="0"/>
            <a:chExt cx="1963290" cy="279218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963290" cy="2792187"/>
            </a:xfrm>
            <a:custGeom>
              <a:avLst/>
              <a:gdLst/>
              <a:ahLst/>
              <a:cxnLst/>
              <a:rect r="r" b="b" t="t" l="l"/>
              <a:pathLst>
                <a:path h="2792187" w="1963290">
                  <a:moveTo>
                    <a:pt x="0" y="0"/>
                  </a:moveTo>
                  <a:lnTo>
                    <a:pt x="1963290" y="0"/>
                  </a:lnTo>
                  <a:lnTo>
                    <a:pt x="1963290" y="2792187"/>
                  </a:lnTo>
                  <a:lnTo>
                    <a:pt x="0" y="2792187"/>
                  </a:lnTo>
                  <a:close/>
                </a:path>
              </a:pathLst>
            </a:custGeom>
            <a:solidFill>
              <a:srgbClr val="AAD7D4">
                <a:alpha val="55686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963290" cy="28302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8595420" y="2636305"/>
            <a:ext cx="8011990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Agenda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52271" y="4527580"/>
            <a:ext cx="7898287" cy="3467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roject Statement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Objectives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Architecture &amp; Data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Implementation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Results &amp; Optimizations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Conclusion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04495" y="3942578"/>
            <a:ext cx="11715384" cy="3467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Build a 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real-time analytics dashboard for cryptocurrency markets.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Ing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est data from Binance API.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Process data using Azure Databricks + PySpark.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rovide auto-updating visual insights for traders &amp; analysts.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5639992" y="7410289"/>
            <a:ext cx="2467826" cy="1083689"/>
            <a:chOff x="0" y="0"/>
            <a:chExt cx="649962" cy="28541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49962" cy="285416"/>
            </a:xfrm>
            <a:custGeom>
              <a:avLst/>
              <a:gdLst/>
              <a:ahLst/>
              <a:cxnLst/>
              <a:rect r="r" b="b" t="t" l="l"/>
              <a:pathLst>
                <a:path h="285416" w="649962">
                  <a:moveTo>
                    <a:pt x="142708" y="0"/>
                  </a:moveTo>
                  <a:lnTo>
                    <a:pt x="507254" y="0"/>
                  </a:lnTo>
                  <a:cubicBezTo>
                    <a:pt x="545103" y="0"/>
                    <a:pt x="581401" y="15035"/>
                    <a:pt x="608164" y="41798"/>
                  </a:cubicBezTo>
                  <a:cubicBezTo>
                    <a:pt x="634927" y="68561"/>
                    <a:pt x="649962" y="104859"/>
                    <a:pt x="649962" y="142708"/>
                  </a:cubicBezTo>
                  <a:lnTo>
                    <a:pt x="649962" y="142708"/>
                  </a:lnTo>
                  <a:cubicBezTo>
                    <a:pt x="649962" y="221523"/>
                    <a:pt x="586070" y="285416"/>
                    <a:pt x="507254" y="285416"/>
                  </a:cubicBezTo>
                  <a:lnTo>
                    <a:pt x="142708" y="285416"/>
                  </a:lnTo>
                  <a:cubicBezTo>
                    <a:pt x="63893" y="285416"/>
                    <a:pt x="0" y="221523"/>
                    <a:pt x="0" y="142708"/>
                  </a:cubicBezTo>
                  <a:lnTo>
                    <a:pt x="0" y="142708"/>
                  </a:lnTo>
                  <a:cubicBezTo>
                    <a:pt x="0" y="63893"/>
                    <a:pt x="63893" y="0"/>
                    <a:pt x="142708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649962" cy="333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  <a:r>
                <a:rPr lang="en-US" b="true" sz="22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API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837283" y="2260853"/>
            <a:ext cx="10984319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Statement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081759" y="7410289"/>
            <a:ext cx="3086100" cy="1083689"/>
            <a:chOff x="0" y="0"/>
            <a:chExt cx="812800" cy="2854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285416"/>
            </a:xfrm>
            <a:custGeom>
              <a:avLst/>
              <a:gdLst/>
              <a:ahLst/>
              <a:cxnLst/>
              <a:rect r="r" b="b" t="t" l="l"/>
              <a:pathLst>
                <a:path h="285416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157475"/>
                  </a:lnTo>
                  <a:cubicBezTo>
                    <a:pt x="812800" y="191407"/>
                    <a:pt x="799321" y="223949"/>
                    <a:pt x="775327" y="247943"/>
                  </a:cubicBezTo>
                  <a:cubicBezTo>
                    <a:pt x="751333" y="271937"/>
                    <a:pt x="718791" y="285416"/>
                    <a:pt x="684859" y="285416"/>
                  </a:cubicBezTo>
                  <a:lnTo>
                    <a:pt x="127941" y="285416"/>
                  </a:lnTo>
                  <a:cubicBezTo>
                    <a:pt x="94009" y="285416"/>
                    <a:pt x="61467" y="271937"/>
                    <a:pt x="37473" y="247943"/>
                  </a:cubicBezTo>
                  <a:cubicBezTo>
                    <a:pt x="13479" y="223949"/>
                    <a:pt x="0" y="191407"/>
                    <a:pt x="0" y="157475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812800" cy="333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  <a:r>
                <a:rPr lang="en-US" b="true" sz="22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Processing 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1799" y="7410289"/>
            <a:ext cx="3086100" cy="1083689"/>
            <a:chOff x="0" y="0"/>
            <a:chExt cx="812800" cy="28541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285416"/>
            </a:xfrm>
            <a:custGeom>
              <a:avLst/>
              <a:gdLst/>
              <a:ahLst/>
              <a:cxnLst/>
              <a:rect r="r" b="b" t="t" l="l"/>
              <a:pathLst>
                <a:path h="285416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157475"/>
                  </a:lnTo>
                  <a:cubicBezTo>
                    <a:pt x="812800" y="191407"/>
                    <a:pt x="799321" y="223949"/>
                    <a:pt x="775327" y="247943"/>
                  </a:cubicBezTo>
                  <a:cubicBezTo>
                    <a:pt x="751333" y="271937"/>
                    <a:pt x="718791" y="285416"/>
                    <a:pt x="684859" y="285416"/>
                  </a:cubicBezTo>
                  <a:lnTo>
                    <a:pt x="127941" y="285416"/>
                  </a:lnTo>
                  <a:cubicBezTo>
                    <a:pt x="94009" y="285416"/>
                    <a:pt x="61467" y="271937"/>
                    <a:pt x="37473" y="247943"/>
                  </a:cubicBezTo>
                  <a:cubicBezTo>
                    <a:pt x="13479" y="223949"/>
                    <a:pt x="0" y="191407"/>
                    <a:pt x="0" y="157475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AAD7D4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812800" cy="3330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  <a:r>
                <a:rPr lang="en-US" b="true" sz="2299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Dashboard </a:t>
              </a:r>
            </a:p>
          </p:txBody>
        </p:sp>
      </p:grpSp>
      <p:sp>
        <p:nvSpPr>
          <p:cNvPr name="AutoShape 14" id="14"/>
          <p:cNvSpPr/>
          <p:nvPr/>
        </p:nvSpPr>
        <p:spPr>
          <a:xfrm>
            <a:off x="8107818" y="7952134"/>
            <a:ext cx="973941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15" id="15"/>
          <p:cNvSpPr/>
          <p:nvPr/>
        </p:nvSpPr>
        <p:spPr>
          <a:xfrm flipH="true">
            <a:off x="12167859" y="7952134"/>
            <a:ext cx="973941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triangle" len="med" w="lg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01622" y="-767350"/>
            <a:ext cx="22013892" cy="12354774"/>
          </a:xfrm>
          <a:custGeom>
            <a:avLst/>
            <a:gdLst/>
            <a:ahLst/>
            <a:cxnLst/>
            <a:rect r="r" b="b" t="t" l="l"/>
            <a:pathLst>
              <a:path h="12354774" w="22013892">
                <a:moveTo>
                  <a:pt x="0" y="0"/>
                </a:moveTo>
                <a:lnTo>
                  <a:pt x="22013891" y="0"/>
                </a:lnTo>
                <a:lnTo>
                  <a:pt x="22013891" y="12354775"/>
                </a:lnTo>
                <a:lnTo>
                  <a:pt x="0" y="12354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467" r="0" b="-946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AAD7D4">
                <a:alpha val="28627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610563" y="4479653"/>
            <a:ext cx="13066873" cy="1651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918"/>
              </a:lnSpc>
            </a:pPr>
            <a:r>
              <a:rPr lang="en-US" b="true" sz="12998" spc="-701">
                <a:solidFill>
                  <a:srgbClr val="1C21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PROJECT DETAILS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787382" y="4662939"/>
            <a:ext cx="10338693" cy="5143500"/>
          </a:xfrm>
          <a:custGeom>
            <a:avLst/>
            <a:gdLst/>
            <a:ahLst/>
            <a:cxnLst/>
            <a:rect r="r" b="b" t="t" l="l"/>
            <a:pathLst>
              <a:path h="5143500" w="10338693">
                <a:moveTo>
                  <a:pt x="0" y="0"/>
                </a:moveTo>
                <a:lnTo>
                  <a:pt x="10338693" y="0"/>
                </a:lnTo>
                <a:lnTo>
                  <a:pt x="10338693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837283" y="4624839"/>
            <a:ext cx="4769571" cy="39630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Why? Cryptocurrency is h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ighly volatile &amp; runs 24/7.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Ne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ed real-time monitoring for decision-making.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837283" y="2260853"/>
            <a:ext cx="10984319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Overview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83928"/>
            <a:ext cx="18395453" cy="10203072"/>
          </a:xfrm>
          <a:custGeom>
            <a:avLst/>
            <a:gdLst/>
            <a:ahLst/>
            <a:cxnLst/>
            <a:rect r="r" b="b" t="t" l="l"/>
            <a:pathLst>
              <a:path h="10203072" w="18395453">
                <a:moveTo>
                  <a:pt x="0" y="0"/>
                </a:moveTo>
                <a:lnTo>
                  <a:pt x="18395453" y="0"/>
                </a:lnTo>
                <a:lnTo>
                  <a:pt x="18395453" y="10203072"/>
                </a:lnTo>
                <a:lnTo>
                  <a:pt x="0" y="102030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</a:blip>
            <a:stretch>
              <a:fillRect l="-11424" t="-10674" r="0" b="-2342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837283" y="3657468"/>
            <a:ext cx="11715384" cy="3467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9"/>
              </a:lnSpc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Pipeline Components:</a:t>
            </a:r>
          </a:p>
          <a:p>
            <a:pPr algn="l" marL="629977" indent="-314989" lvl="1">
              <a:lnSpc>
                <a:spcPts val="3939"/>
              </a:lnSpc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Data Source: Binance API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Ingestion: Azure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Databricks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Processing: PySpark Structured Streaming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Visualization: Matplotlib, Plotly, Power BI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Outcome: Actionable, real-time crypto insights.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837283" y="2260853"/>
            <a:ext cx="10984319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Overview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5797019" y="7411860"/>
            <a:ext cx="11462281" cy="1846440"/>
            <a:chOff x="0" y="0"/>
            <a:chExt cx="15283041" cy="2461920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1165831" y="0"/>
              <a:ext cx="3290435" cy="1444919"/>
              <a:chOff x="0" y="0"/>
              <a:chExt cx="649962" cy="285416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649962" cy="285416"/>
              </a:xfrm>
              <a:custGeom>
                <a:avLst/>
                <a:gdLst/>
                <a:ahLst/>
                <a:cxnLst/>
                <a:rect r="r" b="b" t="t" l="l"/>
                <a:pathLst>
                  <a:path h="285416" w="649962">
                    <a:moveTo>
                      <a:pt x="142708" y="0"/>
                    </a:moveTo>
                    <a:lnTo>
                      <a:pt x="507254" y="0"/>
                    </a:lnTo>
                    <a:cubicBezTo>
                      <a:pt x="545103" y="0"/>
                      <a:pt x="581401" y="15035"/>
                      <a:pt x="608164" y="41798"/>
                    </a:cubicBezTo>
                    <a:cubicBezTo>
                      <a:pt x="634927" y="68561"/>
                      <a:pt x="649962" y="104859"/>
                      <a:pt x="649962" y="142708"/>
                    </a:cubicBezTo>
                    <a:lnTo>
                      <a:pt x="649962" y="142708"/>
                    </a:lnTo>
                    <a:cubicBezTo>
                      <a:pt x="649962" y="221523"/>
                      <a:pt x="586070" y="285416"/>
                      <a:pt x="507254" y="285416"/>
                    </a:cubicBezTo>
                    <a:lnTo>
                      <a:pt x="142708" y="285416"/>
                    </a:lnTo>
                    <a:cubicBezTo>
                      <a:pt x="63893" y="285416"/>
                      <a:pt x="0" y="221523"/>
                      <a:pt x="0" y="142708"/>
                    </a:cubicBezTo>
                    <a:lnTo>
                      <a:pt x="0" y="142708"/>
                    </a:lnTo>
                    <a:cubicBezTo>
                      <a:pt x="0" y="63893"/>
                      <a:pt x="63893" y="0"/>
                      <a:pt x="142708" y="0"/>
                    </a:cubicBezTo>
                    <a:close/>
                  </a:path>
                </a:pathLst>
              </a:custGeom>
              <a:solidFill>
                <a:srgbClr val="AAD7D4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47625"/>
                <a:ext cx="649962" cy="33304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19"/>
                  </a:lnSpc>
                </a:pPr>
                <a:r>
                  <a:rPr lang="en-US" b="true" sz="2299">
                    <a:solidFill>
                      <a:srgbClr val="000000"/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Data ingestion</a:t>
                </a:r>
              </a:p>
            </p:txBody>
          </p:sp>
        </p:grpSp>
        <p:grpSp>
          <p:nvGrpSpPr>
            <p:cNvPr name="Group 10" id="10"/>
            <p:cNvGrpSpPr/>
            <p:nvPr/>
          </p:nvGrpSpPr>
          <p:grpSpPr>
            <a:xfrm rot="0">
              <a:off x="5754853" y="0"/>
              <a:ext cx="4114800" cy="1444919"/>
              <a:chOff x="0" y="0"/>
              <a:chExt cx="812800" cy="28541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812800" cy="285416"/>
              </a:xfrm>
              <a:custGeom>
                <a:avLst/>
                <a:gdLst/>
                <a:ahLst/>
                <a:cxnLst/>
                <a:rect r="r" b="b" t="t" l="l"/>
                <a:pathLst>
                  <a:path h="285416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157475"/>
                    </a:lnTo>
                    <a:cubicBezTo>
                      <a:pt x="812800" y="191407"/>
                      <a:pt x="799321" y="223949"/>
                      <a:pt x="775327" y="247943"/>
                    </a:cubicBezTo>
                    <a:cubicBezTo>
                      <a:pt x="751333" y="271937"/>
                      <a:pt x="718791" y="285416"/>
                      <a:pt x="684859" y="285416"/>
                    </a:cubicBezTo>
                    <a:lnTo>
                      <a:pt x="127941" y="285416"/>
                    </a:lnTo>
                    <a:cubicBezTo>
                      <a:pt x="94009" y="285416"/>
                      <a:pt x="61467" y="271937"/>
                      <a:pt x="37473" y="247943"/>
                    </a:cubicBezTo>
                    <a:cubicBezTo>
                      <a:pt x="13479" y="223949"/>
                      <a:pt x="0" y="191407"/>
                      <a:pt x="0" y="157475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AAD7D4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47625"/>
                <a:ext cx="812800" cy="33304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19"/>
                  </a:lnSpc>
                </a:pPr>
                <a:r>
                  <a:rPr lang="en-US" b="true" sz="2299">
                    <a:solidFill>
                      <a:srgbClr val="000000"/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Streaming processing</a:t>
                </a: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11168241" y="0"/>
              <a:ext cx="4114800" cy="1444919"/>
              <a:chOff x="0" y="0"/>
              <a:chExt cx="812800" cy="285416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285416"/>
              </a:xfrm>
              <a:custGeom>
                <a:avLst/>
                <a:gdLst/>
                <a:ahLst/>
                <a:cxnLst/>
                <a:rect r="r" b="b" t="t" l="l"/>
                <a:pathLst>
                  <a:path h="285416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157475"/>
                    </a:lnTo>
                    <a:cubicBezTo>
                      <a:pt x="812800" y="191407"/>
                      <a:pt x="799321" y="223949"/>
                      <a:pt x="775327" y="247943"/>
                    </a:cubicBezTo>
                    <a:cubicBezTo>
                      <a:pt x="751333" y="271937"/>
                      <a:pt x="718791" y="285416"/>
                      <a:pt x="684859" y="285416"/>
                    </a:cubicBezTo>
                    <a:lnTo>
                      <a:pt x="127941" y="285416"/>
                    </a:lnTo>
                    <a:cubicBezTo>
                      <a:pt x="94009" y="285416"/>
                      <a:pt x="61467" y="271937"/>
                      <a:pt x="37473" y="247943"/>
                    </a:cubicBezTo>
                    <a:cubicBezTo>
                      <a:pt x="13479" y="223949"/>
                      <a:pt x="0" y="191407"/>
                      <a:pt x="0" y="157475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AAD7D4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47625"/>
                <a:ext cx="812800" cy="33304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19"/>
                  </a:lnSpc>
                </a:pPr>
                <a:r>
                  <a:rPr lang="en-US" b="true" sz="2299">
                    <a:solidFill>
                      <a:srgbClr val="000000"/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Visualization</a:t>
                </a:r>
              </a:p>
            </p:txBody>
          </p:sp>
        </p:grpSp>
        <p:sp>
          <p:nvSpPr>
            <p:cNvPr name="AutoShape 16" id="16"/>
            <p:cNvSpPr/>
            <p:nvPr/>
          </p:nvSpPr>
          <p:spPr>
            <a:xfrm>
              <a:off x="4456265" y="722459"/>
              <a:ext cx="1298588" cy="0"/>
            </a:xfrm>
            <a:prstGeom prst="line">
              <a:avLst/>
            </a:prstGeom>
            <a:ln cap="flat" w="50800">
              <a:solidFill>
                <a:srgbClr val="000000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17" id="17"/>
            <p:cNvSpPr/>
            <p:nvPr/>
          </p:nvSpPr>
          <p:spPr>
            <a:xfrm flipH="true">
              <a:off x="9869653" y="722459"/>
              <a:ext cx="1298588" cy="0"/>
            </a:xfrm>
            <a:prstGeom prst="line">
              <a:avLst/>
            </a:prstGeom>
            <a:ln cap="flat" w="50800">
              <a:solidFill>
                <a:srgbClr val="000000"/>
              </a:solidFill>
              <a:prstDash val="solid"/>
              <a:headEnd type="triangle" len="med" w="lg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0">
              <a:off x="0" y="1017001"/>
              <a:ext cx="3290435" cy="1444919"/>
              <a:chOff x="0" y="0"/>
              <a:chExt cx="649962" cy="285416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49962" cy="285416"/>
              </a:xfrm>
              <a:custGeom>
                <a:avLst/>
                <a:gdLst/>
                <a:ahLst/>
                <a:cxnLst/>
                <a:rect r="r" b="b" t="t" l="l"/>
                <a:pathLst>
                  <a:path h="285416" w="649962">
                    <a:moveTo>
                      <a:pt x="142708" y="0"/>
                    </a:moveTo>
                    <a:lnTo>
                      <a:pt x="507254" y="0"/>
                    </a:lnTo>
                    <a:cubicBezTo>
                      <a:pt x="545103" y="0"/>
                      <a:pt x="581401" y="15035"/>
                      <a:pt x="608164" y="41798"/>
                    </a:cubicBezTo>
                    <a:cubicBezTo>
                      <a:pt x="634927" y="68561"/>
                      <a:pt x="649962" y="104859"/>
                      <a:pt x="649962" y="142708"/>
                    </a:cubicBezTo>
                    <a:lnTo>
                      <a:pt x="649962" y="142708"/>
                    </a:lnTo>
                    <a:cubicBezTo>
                      <a:pt x="649962" y="221523"/>
                      <a:pt x="586070" y="285416"/>
                      <a:pt x="507254" y="285416"/>
                    </a:cubicBezTo>
                    <a:lnTo>
                      <a:pt x="142708" y="285416"/>
                    </a:lnTo>
                    <a:cubicBezTo>
                      <a:pt x="63893" y="285416"/>
                      <a:pt x="0" y="221523"/>
                      <a:pt x="0" y="142708"/>
                    </a:cubicBezTo>
                    <a:lnTo>
                      <a:pt x="0" y="142708"/>
                    </a:lnTo>
                    <a:cubicBezTo>
                      <a:pt x="0" y="63893"/>
                      <a:pt x="63893" y="0"/>
                      <a:pt x="142708" y="0"/>
                    </a:cubicBezTo>
                    <a:close/>
                  </a:path>
                </a:pathLst>
              </a:custGeom>
              <a:solidFill>
                <a:srgbClr val="AAD7D4">
                  <a:alpha val="17647"/>
                </a:srgbClr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47625"/>
                <a:ext cx="649962" cy="33304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19"/>
                  </a:lnSpc>
                </a:pPr>
                <a:r>
                  <a:rPr lang="en-US" b="true" sz="2299">
                    <a:solidFill>
                      <a:srgbClr val="000000">
                        <a:alpha val="17647"/>
                      </a:srgbClr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API</a:t>
                </a: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0">
              <a:off x="4589023" y="1017001"/>
              <a:ext cx="4114800" cy="1444919"/>
              <a:chOff x="0" y="0"/>
              <a:chExt cx="812800" cy="285416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285416"/>
              </a:xfrm>
              <a:custGeom>
                <a:avLst/>
                <a:gdLst/>
                <a:ahLst/>
                <a:cxnLst/>
                <a:rect r="r" b="b" t="t" l="l"/>
                <a:pathLst>
                  <a:path h="285416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157475"/>
                    </a:lnTo>
                    <a:cubicBezTo>
                      <a:pt x="812800" y="191407"/>
                      <a:pt x="799321" y="223949"/>
                      <a:pt x="775327" y="247943"/>
                    </a:cubicBezTo>
                    <a:cubicBezTo>
                      <a:pt x="751333" y="271937"/>
                      <a:pt x="718791" y="285416"/>
                      <a:pt x="684859" y="285416"/>
                    </a:cubicBezTo>
                    <a:lnTo>
                      <a:pt x="127941" y="285416"/>
                    </a:lnTo>
                    <a:cubicBezTo>
                      <a:pt x="94009" y="285416"/>
                      <a:pt x="61467" y="271937"/>
                      <a:pt x="37473" y="247943"/>
                    </a:cubicBezTo>
                    <a:cubicBezTo>
                      <a:pt x="13479" y="223949"/>
                      <a:pt x="0" y="191407"/>
                      <a:pt x="0" y="157475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AAD7D4">
                  <a:alpha val="17647"/>
                </a:srgbClr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47625"/>
                <a:ext cx="812800" cy="33304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19"/>
                  </a:lnSpc>
                </a:pPr>
                <a:r>
                  <a:rPr lang="en-US" b="true" sz="2299">
                    <a:solidFill>
                      <a:srgbClr val="000000">
                        <a:alpha val="17647"/>
                      </a:srgbClr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Processing </a:t>
                </a:r>
              </a:p>
            </p:txBody>
          </p:sp>
        </p:grpSp>
        <p:grpSp>
          <p:nvGrpSpPr>
            <p:cNvPr name="Group 24" id="24"/>
            <p:cNvGrpSpPr/>
            <p:nvPr/>
          </p:nvGrpSpPr>
          <p:grpSpPr>
            <a:xfrm rot="0">
              <a:off x="10002411" y="1017001"/>
              <a:ext cx="4114800" cy="1444919"/>
              <a:chOff x="0" y="0"/>
              <a:chExt cx="812800" cy="285416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812800" cy="285416"/>
              </a:xfrm>
              <a:custGeom>
                <a:avLst/>
                <a:gdLst/>
                <a:ahLst/>
                <a:cxnLst/>
                <a:rect r="r" b="b" t="t" l="l"/>
                <a:pathLst>
                  <a:path h="285416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157475"/>
                    </a:lnTo>
                    <a:cubicBezTo>
                      <a:pt x="812800" y="191407"/>
                      <a:pt x="799321" y="223949"/>
                      <a:pt x="775327" y="247943"/>
                    </a:cubicBezTo>
                    <a:cubicBezTo>
                      <a:pt x="751333" y="271937"/>
                      <a:pt x="718791" y="285416"/>
                      <a:pt x="684859" y="285416"/>
                    </a:cubicBezTo>
                    <a:lnTo>
                      <a:pt x="127941" y="285416"/>
                    </a:lnTo>
                    <a:cubicBezTo>
                      <a:pt x="94009" y="285416"/>
                      <a:pt x="61467" y="271937"/>
                      <a:pt x="37473" y="247943"/>
                    </a:cubicBezTo>
                    <a:cubicBezTo>
                      <a:pt x="13479" y="223949"/>
                      <a:pt x="0" y="191407"/>
                      <a:pt x="0" y="157475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AAD7D4">
                  <a:alpha val="17647"/>
                </a:srgbClr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47625"/>
                <a:ext cx="812800" cy="33304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19"/>
                  </a:lnSpc>
                </a:pPr>
                <a:r>
                  <a:rPr lang="en-US" b="true" sz="2299">
                    <a:solidFill>
                      <a:srgbClr val="000000">
                        <a:alpha val="17647"/>
                      </a:srgbClr>
                    </a:solidFill>
                    <a:latin typeface="Open Sans Bold"/>
                    <a:ea typeface="Open Sans Bold"/>
                    <a:cs typeface="Open Sans Bold"/>
                    <a:sym typeface="Open Sans Bold"/>
                  </a:rPr>
                  <a:t>Dashboard </a:t>
                </a:r>
              </a:p>
            </p:txBody>
          </p:sp>
        </p:grpSp>
        <p:sp>
          <p:nvSpPr>
            <p:cNvPr name="AutoShape 27" id="27"/>
            <p:cNvSpPr/>
            <p:nvPr/>
          </p:nvSpPr>
          <p:spPr>
            <a:xfrm>
              <a:off x="3290435" y="1739461"/>
              <a:ext cx="1298588" cy="0"/>
            </a:xfrm>
            <a:prstGeom prst="line">
              <a:avLst/>
            </a:prstGeom>
            <a:ln cap="flat" w="50800">
              <a:solidFill>
                <a:srgbClr val="000000">
                  <a:alpha val="17647"/>
                </a:srgbClr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28" id="28"/>
            <p:cNvSpPr/>
            <p:nvPr/>
          </p:nvSpPr>
          <p:spPr>
            <a:xfrm flipH="true">
              <a:off x="8703823" y="1739461"/>
              <a:ext cx="1298588" cy="0"/>
            </a:xfrm>
            <a:prstGeom prst="line">
              <a:avLst/>
            </a:prstGeom>
            <a:ln cap="flat" w="50800">
              <a:solidFill>
                <a:srgbClr val="000000">
                  <a:alpha val="17647"/>
                </a:srgbClr>
              </a:solidFill>
              <a:prstDash val="solid"/>
              <a:headEnd type="triangle" len="med" w="lg"/>
              <a:tailEnd type="none" len="sm" w="sm"/>
            </a:ln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37283" y="4033596"/>
            <a:ext cx="15037256" cy="5647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51568" indent="-325784" lvl="1">
              <a:lnSpc>
                <a:spcPts val="407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17" spc="18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Real-Time Da</a:t>
            </a:r>
            <a:r>
              <a:rPr lang="en-US" b="true" sz="3017" spc="181" u="non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ta Ingestion</a:t>
            </a:r>
            <a:r>
              <a:rPr lang="en-US" sz="3017" spc="181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Fetch live cryptocurrency data from Binance API.</a:t>
            </a:r>
          </a:p>
          <a:p>
            <a:pPr algn="l" marL="651568" indent="-325784" lvl="1">
              <a:lnSpc>
                <a:spcPts val="407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17" spc="181" u="non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Stream Processing</a:t>
            </a:r>
            <a:r>
              <a:rPr lang="en-US" sz="3017" spc="181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Process continuous data efficiently with PySpark.</a:t>
            </a:r>
          </a:p>
          <a:p>
            <a:pPr algn="l" marL="651568" indent="-325784" lvl="1">
              <a:lnSpc>
                <a:spcPts val="407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17" spc="181" u="non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Compute Insights</a:t>
            </a:r>
            <a:r>
              <a:rPr lang="en-US" sz="3017" spc="181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Calculate moving averages, RSI, volatility, and other market metrics.</a:t>
            </a:r>
          </a:p>
          <a:p>
            <a:pPr algn="l" marL="651568" indent="-325784" lvl="1">
              <a:lnSpc>
                <a:spcPts val="407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17" spc="181" u="non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Interactive Dashboard</a:t>
            </a:r>
            <a:r>
              <a:rPr lang="en-US" sz="3017" spc="181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Auto-refreshing charts, price ranges, volume, sentiment, and performance tables.</a:t>
            </a:r>
          </a:p>
          <a:p>
            <a:pPr algn="l" marL="651568" indent="-325784" lvl="1">
              <a:lnSpc>
                <a:spcPts val="407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17" spc="181" u="non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Azure Databricks Integration</a:t>
            </a:r>
            <a:r>
              <a:rPr lang="en-US" sz="3017" spc="181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Scalable cloud-based computation for distributed processing.</a:t>
            </a:r>
          </a:p>
          <a:p>
            <a:pPr algn="l" marL="651568" indent="-325784" lvl="1">
              <a:lnSpc>
                <a:spcPts val="4074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17" spc="181" u="non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Efficiency &amp; Optimization</a:t>
            </a:r>
            <a:r>
              <a:rPr lang="en-US" sz="3017" spc="181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Vectorized operations and optimized plotting for high performance.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837283" y="2260853"/>
            <a:ext cx="10984319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Objectives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470822" y="2875975"/>
            <a:ext cx="11346355" cy="6382325"/>
          </a:xfrm>
          <a:custGeom>
            <a:avLst/>
            <a:gdLst/>
            <a:ahLst/>
            <a:cxnLst/>
            <a:rect r="r" b="b" t="t" l="l"/>
            <a:pathLst>
              <a:path h="6382325" w="11346355">
                <a:moveTo>
                  <a:pt x="0" y="0"/>
                </a:moveTo>
                <a:lnTo>
                  <a:pt x="11346356" y="0"/>
                </a:lnTo>
                <a:lnTo>
                  <a:pt x="11346356" y="6382325"/>
                </a:lnTo>
                <a:lnTo>
                  <a:pt x="0" y="63823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123950"/>
            <a:ext cx="12548691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Architecture Diagram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990457" y="2761677"/>
            <a:ext cx="11715384" cy="2561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4"/>
              </a:lnSpc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Provides tick-level data:</a:t>
            </a:r>
          </a:p>
          <a:p>
            <a:pPr algn="l" marL="651568" indent="-325784" lvl="1">
              <a:lnSpc>
                <a:spcPts val="4074"/>
              </a:lnSpc>
              <a:buFont typeface="Arial"/>
              <a:buChar char="•"/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Prices</a:t>
            </a:r>
          </a:p>
          <a:p>
            <a:pPr algn="l" marL="651568" indent="-325784" lvl="1">
              <a:lnSpc>
                <a:spcPts val="4074"/>
              </a:lnSpc>
              <a:buFont typeface="Arial"/>
              <a:buChar char="•"/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Volumes</a:t>
            </a:r>
          </a:p>
          <a:p>
            <a:pPr algn="l" marL="651568" indent="-325784" lvl="1">
              <a:lnSpc>
                <a:spcPts val="4074"/>
              </a:lnSpc>
              <a:buFont typeface="Arial"/>
              <a:buChar char="•"/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Order Book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12120237" y="2809302"/>
            <a:ext cx="3956792" cy="3958773"/>
            <a:chOff x="0" y="0"/>
            <a:chExt cx="5275722" cy="5278364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5275722" cy="5278364"/>
              <a:chOff x="0" y="0"/>
              <a:chExt cx="940054" cy="940525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40054" cy="940525"/>
              </a:xfrm>
              <a:custGeom>
                <a:avLst/>
                <a:gdLst/>
                <a:ahLst/>
                <a:cxnLst/>
                <a:rect r="r" b="b" t="t" l="l"/>
                <a:pathLst>
                  <a:path h="940525" w="940054">
                    <a:moveTo>
                      <a:pt x="0" y="0"/>
                    </a:moveTo>
                    <a:lnTo>
                      <a:pt x="940054" y="0"/>
                    </a:lnTo>
                    <a:lnTo>
                      <a:pt x="940054" y="940525"/>
                    </a:lnTo>
                    <a:lnTo>
                      <a:pt x="0" y="94052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38100"/>
                <a:ext cx="940054" cy="978625"/>
              </a:xfrm>
              <a:prstGeom prst="rect">
                <a:avLst/>
              </a:prstGeom>
            </p:spPr>
            <p:txBody>
              <a:bodyPr anchor="ctr" rtlCol="false" tIns="56315" lIns="56315" bIns="56315" rIns="56315"/>
              <a:lstStyle/>
              <a:p>
                <a:pPr algn="l">
                  <a:lnSpc>
                    <a:spcPts val="3080"/>
                  </a:lnSpc>
                </a:pPr>
                <a:r>
                  <a:rPr lang="en-US" sz="22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{ </a:t>
                </a:r>
              </a:p>
              <a:p>
                <a:pPr algn="l">
                  <a:lnSpc>
                    <a:spcPts val="3080"/>
                  </a:lnSpc>
                </a:pPr>
                <a:r>
                  <a:rPr lang="en-US" sz="22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"symbol": "BTCUSDT", </a:t>
                </a:r>
              </a:p>
              <a:p>
                <a:pPr algn="l">
                  <a:lnSpc>
                    <a:spcPts val="3080"/>
                  </a:lnSpc>
                </a:pPr>
                <a:r>
                  <a:rPr lang="en-US" sz="22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"price": "50123.45", </a:t>
                </a:r>
              </a:p>
              <a:p>
                <a:pPr algn="l">
                  <a:lnSpc>
                    <a:spcPts val="3080"/>
                  </a:lnSpc>
                </a:pPr>
                <a:r>
                  <a:rPr lang="en-US" sz="22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"volume": "12345.678" </a:t>
                </a:r>
              </a:p>
              <a:p>
                <a:pPr algn="l">
                  <a:lnSpc>
                    <a:spcPts val="3080"/>
                  </a:lnSpc>
                </a:pPr>
                <a:r>
                  <a:rPr lang="en-US" sz="22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}</a:t>
                </a:r>
              </a:p>
            </p:txBody>
          </p:sp>
        </p:grp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631417" cy="1331830"/>
            </a:xfrm>
            <a:custGeom>
              <a:avLst/>
              <a:gdLst/>
              <a:ahLst/>
              <a:cxnLst/>
              <a:rect r="r" b="b" t="t" l="l"/>
              <a:pathLst>
                <a:path h="1331830" w="1631417">
                  <a:moveTo>
                    <a:pt x="0" y="0"/>
                  </a:moveTo>
                  <a:lnTo>
                    <a:pt x="1631417" y="0"/>
                  </a:lnTo>
                  <a:lnTo>
                    <a:pt x="1631417" y="1331830"/>
                  </a:lnTo>
                  <a:lnTo>
                    <a:pt x="0" y="13318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9" id="9"/>
            <p:cNvGrpSpPr/>
            <p:nvPr/>
          </p:nvGrpSpPr>
          <p:grpSpPr>
            <a:xfrm rot="0">
              <a:off x="0" y="4092758"/>
              <a:ext cx="5275722" cy="1185606"/>
              <a:chOff x="0" y="0"/>
              <a:chExt cx="940054" cy="211257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940054" cy="211257"/>
              </a:xfrm>
              <a:custGeom>
                <a:avLst/>
                <a:gdLst/>
                <a:ahLst/>
                <a:cxnLst/>
                <a:rect r="r" b="b" t="t" l="l"/>
                <a:pathLst>
                  <a:path h="211257" w="940054">
                    <a:moveTo>
                      <a:pt x="0" y="0"/>
                    </a:moveTo>
                    <a:lnTo>
                      <a:pt x="940054" y="0"/>
                    </a:lnTo>
                    <a:lnTo>
                      <a:pt x="940054" y="211257"/>
                    </a:lnTo>
                    <a:lnTo>
                      <a:pt x="0" y="21125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940054" cy="249357"/>
              </a:xfrm>
              <a:prstGeom prst="rect">
                <a:avLst/>
              </a:prstGeom>
            </p:spPr>
            <p:txBody>
              <a:bodyPr anchor="ctr" rtlCol="false" tIns="56315" lIns="56315" bIns="56315" rIns="56315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</p:grpSp>
      <p:sp>
        <p:nvSpPr>
          <p:cNvPr name="Freeform 12" id="12"/>
          <p:cNvSpPr/>
          <p:nvPr/>
        </p:nvSpPr>
        <p:spPr>
          <a:xfrm flipH="false" flipV="false" rot="0">
            <a:off x="2108747" y="3961320"/>
            <a:ext cx="5233741" cy="3486980"/>
          </a:xfrm>
          <a:custGeom>
            <a:avLst/>
            <a:gdLst/>
            <a:ahLst/>
            <a:cxnLst/>
            <a:rect r="r" b="b" t="t" l="l"/>
            <a:pathLst>
              <a:path h="3486980" w="5233741">
                <a:moveTo>
                  <a:pt x="0" y="0"/>
                </a:moveTo>
                <a:lnTo>
                  <a:pt x="5233741" y="0"/>
                </a:lnTo>
                <a:lnTo>
                  <a:pt x="5233741" y="3486980"/>
                </a:lnTo>
                <a:lnTo>
                  <a:pt x="0" y="34869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028700" y="1123950"/>
            <a:ext cx="13830682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Data Source: Binance API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138860" y="7400675"/>
            <a:ext cx="12010281" cy="5044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4"/>
              </a:lnSpc>
              <a:spcBef>
                <a:spcPct val="0"/>
              </a:spcBef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binance_api_url = "https://api.binance.us/api/v3/ticker/24hr"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123950"/>
            <a:ext cx="10984319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Data Schema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575979" y="3655420"/>
            <a:ext cx="8212954" cy="5355781"/>
            <a:chOff x="0" y="0"/>
            <a:chExt cx="10950605" cy="7141041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10950605" cy="7141041"/>
              <a:chOff x="0" y="0"/>
              <a:chExt cx="1951233" cy="127242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1951233" cy="1272426"/>
              </a:xfrm>
              <a:custGeom>
                <a:avLst/>
                <a:gdLst/>
                <a:ahLst/>
                <a:cxnLst/>
                <a:rect r="r" b="b" t="t" l="l"/>
                <a:pathLst>
                  <a:path h="1272426" w="1951233">
                    <a:moveTo>
                      <a:pt x="0" y="0"/>
                    </a:moveTo>
                    <a:lnTo>
                      <a:pt x="1951233" y="0"/>
                    </a:lnTo>
                    <a:lnTo>
                      <a:pt x="1951233" y="1272426"/>
                    </a:lnTo>
                    <a:lnTo>
                      <a:pt x="0" y="127242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47625"/>
                <a:ext cx="1951233" cy="1320051"/>
              </a:xfrm>
              <a:prstGeom prst="rect">
                <a:avLst/>
              </a:prstGeom>
            </p:spPr>
            <p:txBody>
              <a:bodyPr anchor="ctr" rtlCol="false" tIns="56315" lIns="56315" bIns="56315" rIns="56315"/>
              <a:lstStyle/>
              <a:p>
                <a:pPr algn="l">
                  <a:lnSpc>
                    <a:spcPts val="3220"/>
                  </a:lnSpc>
                </a:pPr>
              </a:p>
              <a:p>
                <a:pPr algn="l">
                  <a:lnSpc>
                    <a:spcPts val="3220"/>
                  </a:lnSpc>
                </a:pPr>
              </a:p>
              <a:p>
                <a:pPr algn="l">
                  <a:lnSpc>
                    <a:spcPts val="3220"/>
                  </a:lnSpc>
                </a:pPr>
                <a:r>
                  <a:rPr lang="en-US" sz="23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{</a:t>
                </a:r>
              </a:p>
              <a:p>
                <a:pPr algn="l">
                  <a:lnSpc>
                    <a:spcPts val="3220"/>
                  </a:lnSpc>
                </a:pPr>
                <a:r>
                  <a:rPr lang="en-US" sz="23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 "symbol": "BTCUSDT",</a:t>
                </a:r>
              </a:p>
              <a:p>
                <a:pPr algn="l">
                  <a:lnSpc>
                    <a:spcPts val="3220"/>
                  </a:lnSpc>
                </a:pPr>
                <a:r>
                  <a:rPr lang="en-US" sz="23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 "price": "50123.45",</a:t>
                </a:r>
              </a:p>
              <a:p>
                <a:pPr algn="l">
                  <a:lnSpc>
                    <a:spcPts val="3220"/>
                  </a:lnSpc>
                </a:pPr>
                <a:r>
                  <a:rPr lang="en-US" sz="23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 "volume": "12345.678",</a:t>
                </a:r>
              </a:p>
              <a:p>
                <a:pPr algn="l">
                  <a:lnSpc>
                    <a:spcPts val="3220"/>
                  </a:lnSpc>
                </a:pPr>
                <a:r>
                  <a:rPr lang="en-US" sz="23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 "priceChange": "125.67",</a:t>
                </a:r>
              </a:p>
              <a:p>
                <a:pPr algn="l">
                  <a:lnSpc>
                    <a:spcPts val="3220"/>
                  </a:lnSpc>
                </a:pPr>
                <a:r>
                  <a:rPr lang="en-US" sz="23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 "priceChangePercent": "0.25",</a:t>
                </a:r>
              </a:p>
              <a:p>
                <a:pPr algn="l">
                  <a:lnSpc>
                    <a:spcPts val="3220"/>
                  </a:lnSpc>
                </a:pPr>
                <a:r>
                  <a:rPr lang="en-US" sz="23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 "highPrice": "50200.00",</a:t>
                </a:r>
              </a:p>
              <a:p>
                <a:pPr algn="l">
                  <a:lnSpc>
                    <a:spcPts val="3220"/>
                  </a:lnSpc>
                </a:pPr>
                <a:r>
                  <a:rPr lang="en-US" sz="23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 "lowPrice": "49900.50",</a:t>
                </a:r>
              </a:p>
              <a:p>
                <a:pPr algn="l">
                  <a:lnSpc>
                    <a:spcPts val="3220"/>
                  </a:lnSpc>
                </a:pPr>
                <a:r>
                  <a:rPr lang="en-US" sz="23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 "quoteVolume": "619382049.89",</a:t>
                </a:r>
              </a:p>
              <a:p>
                <a:pPr algn="l">
                  <a:lnSpc>
                    <a:spcPts val="3220"/>
                  </a:lnSpc>
                </a:pPr>
                <a:r>
                  <a:rPr lang="en-US" sz="23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    "timestamp": 1633034400000</a:t>
                </a:r>
              </a:p>
              <a:p>
                <a:pPr algn="l">
                  <a:lnSpc>
                    <a:spcPts val="3220"/>
                  </a:lnSpc>
                </a:pPr>
                <a:r>
                  <a:rPr lang="en-US" sz="2300">
                    <a:solidFill>
                      <a:srgbClr val="00BF63"/>
                    </a:solidFill>
                    <a:latin typeface="Open Sans Light"/>
                    <a:ea typeface="Open Sans Light"/>
                    <a:cs typeface="Open Sans Light"/>
                    <a:sym typeface="Open Sans Light"/>
                  </a:rPr>
                  <a:t>   }</a:t>
                </a:r>
              </a:p>
            </p:txBody>
          </p:sp>
        </p:grp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411029" cy="1151913"/>
            </a:xfrm>
            <a:custGeom>
              <a:avLst/>
              <a:gdLst/>
              <a:ahLst/>
              <a:cxnLst/>
              <a:rect r="r" b="b" t="t" l="l"/>
              <a:pathLst>
                <a:path h="1151913" w="1411029">
                  <a:moveTo>
                    <a:pt x="0" y="0"/>
                  </a:moveTo>
                  <a:lnTo>
                    <a:pt x="1411029" y="0"/>
                  </a:lnTo>
                  <a:lnTo>
                    <a:pt x="1411029" y="1151913"/>
                  </a:lnTo>
                  <a:lnTo>
                    <a:pt x="0" y="11519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3006363" y="8017944"/>
            <a:ext cx="5086015" cy="993257"/>
            <a:chOff x="0" y="0"/>
            <a:chExt cx="1208335" cy="23597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08335" cy="235978"/>
            </a:xfrm>
            <a:custGeom>
              <a:avLst/>
              <a:gdLst/>
              <a:ahLst/>
              <a:cxnLst/>
              <a:rect r="r" b="b" t="t" l="l"/>
              <a:pathLst>
                <a:path h="235978" w="1208335">
                  <a:moveTo>
                    <a:pt x="0" y="0"/>
                  </a:moveTo>
                  <a:lnTo>
                    <a:pt x="1208335" y="0"/>
                  </a:lnTo>
                  <a:lnTo>
                    <a:pt x="1208335" y="235978"/>
                  </a:lnTo>
                  <a:lnTo>
                    <a:pt x="0" y="2359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208335" cy="274078"/>
            </a:xfrm>
            <a:prstGeom prst="rect">
              <a:avLst/>
            </a:prstGeom>
          </p:spPr>
          <p:txBody>
            <a:bodyPr anchor="ctr" rtlCol="false" tIns="56315" lIns="56315" bIns="56315" rIns="56315"/>
            <a:lstStyle/>
            <a:p>
              <a:pPr algn="ctr">
                <a:lnSpc>
                  <a:spcPts val="266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2532399" y="3598270"/>
            <a:ext cx="4726901" cy="5415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symbol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STRING (Primary key)</a:t>
            </a:r>
          </a:p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price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DOUBLE</a:t>
            </a:r>
          </a:p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volume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DOUBLE</a:t>
            </a:r>
          </a:p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priceChange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DOUBLE</a:t>
            </a:r>
          </a:p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priceChangePercent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DOUBLE</a:t>
            </a:r>
          </a:p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highPrice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DOUBLE</a:t>
            </a:r>
          </a:p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lowPrice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DOUBLE</a:t>
            </a:r>
          </a:p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quoteVolume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DOUBLE</a:t>
            </a:r>
          </a:p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event_time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TIMESTAMP</a:t>
            </a:r>
          </a:p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processing_time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TIMESTAMP</a:t>
            </a:r>
          </a:p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date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DATE</a:t>
            </a:r>
          </a:p>
          <a:p>
            <a:pPr algn="l">
              <a:lnSpc>
                <a:spcPts val="3604"/>
              </a:lnSpc>
              <a:spcBef>
                <a:spcPct val="0"/>
              </a:spcBef>
            </a:pPr>
            <a:r>
              <a:rPr lang="en-US" b="true" sz="2574">
                <a:solidFill>
                  <a:srgbClr val="1C21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hour</a:t>
            </a:r>
            <a:r>
              <a:rPr lang="en-US" sz="2574">
                <a:solidFill>
                  <a:srgbClr val="1C212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 INT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807806" y="4588090"/>
            <a:ext cx="8867723" cy="5420396"/>
          </a:xfrm>
          <a:custGeom>
            <a:avLst/>
            <a:gdLst/>
            <a:ahLst/>
            <a:cxnLst/>
            <a:rect r="r" b="b" t="t" l="l"/>
            <a:pathLst>
              <a:path h="5420396" w="8867723">
                <a:moveTo>
                  <a:pt x="0" y="0"/>
                </a:moveTo>
                <a:lnTo>
                  <a:pt x="8867723" y="0"/>
                </a:lnTo>
                <a:lnTo>
                  <a:pt x="8867723" y="5420396"/>
                </a:lnTo>
                <a:lnTo>
                  <a:pt x="0" y="54203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719174" y="3196911"/>
            <a:ext cx="11715384" cy="2047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51568" indent="-325784" lvl="1">
              <a:lnSpc>
                <a:spcPts val="4074"/>
              </a:lnSpc>
              <a:buFont typeface="Arial"/>
              <a:buChar char="•"/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Stream data pulled continuously.</a:t>
            </a:r>
          </a:p>
          <a:p>
            <a:pPr algn="l" marL="651568" indent="-325784" lvl="1">
              <a:lnSpc>
                <a:spcPts val="4074"/>
              </a:lnSpc>
              <a:buFont typeface="Arial"/>
              <a:buChar char="•"/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Azure Datab</a:t>
            </a: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ricks handles updates at second/minute intervals.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1123950"/>
            <a:ext cx="13830682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Data Ingestion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536841" y="2306336"/>
            <a:ext cx="7557419" cy="7791177"/>
          </a:xfrm>
          <a:custGeom>
            <a:avLst/>
            <a:gdLst/>
            <a:ahLst/>
            <a:cxnLst/>
            <a:rect r="r" b="b" t="t" l="l"/>
            <a:pathLst>
              <a:path h="7791177" w="7557419">
                <a:moveTo>
                  <a:pt x="0" y="0"/>
                </a:moveTo>
                <a:lnTo>
                  <a:pt x="7557420" y="0"/>
                </a:lnTo>
                <a:lnTo>
                  <a:pt x="7557420" y="7791176"/>
                </a:lnTo>
                <a:lnTo>
                  <a:pt x="0" y="77911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034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3581571"/>
            <a:ext cx="8822626" cy="30762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4"/>
              </a:lnSpc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Cleans &amp; transforms raw tick data.</a:t>
            </a:r>
          </a:p>
          <a:p>
            <a:pPr algn="l">
              <a:lnSpc>
                <a:spcPts val="4074"/>
              </a:lnSpc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Computes:</a:t>
            </a:r>
          </a:p>
          <a:p>
            <a:pPr algn="l" marL="651568" indent="-325784" lvl="1">
              <a:lnSpc>
                <a:spcPts val="4074"/>
              </a:lnSpc>
              <a:buFont typeface="Arial"/>
              <a:buChar char="•"/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Mov</a:t>
            </a: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ing Averages</a:t>
            </a:r>
          </a:p>
          <a:p>
            <a:pPr algn="l" marL="651568" indent="-325784" lvl="1">
              <a:lnSpc>
                <a:spcPts val="4074"/>
              </a:lnSpc>
              <a:buFont typeface="Arial"/>
              <a:buChar char="•"/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Volatility Index</a:t>
            </a:r>
          </a:p>
          <a:p>
            <a:pPr algn="l" marL="651568" indent="-325784" lvl="1">
              <a:lnSpc>
                <a:spcPts val="4074"/>
              </a:lnSpc>
              <a:buFont typeface="Arial"/>
              <a:buChar char="•"/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% P</a:t>
            </a: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rice Changes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123950"/>
            <a:ext cx="13830682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Processing Layer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81905" y="852897"/>
            <a:ext cx="17924190" cy="8581206"/>
          </a:xfrm>
          <a:custGeom>
            <a:avLst/>
            <a:gdLst/>
            <a:ahLst/>
            <a:cxnLst/>
            <a:rect r="r" b="b" t="t" l="l"/>
            <a:pathLst>
              <a:path h="8581206" w="17924190">
                <a:moveTo>
                  <a:pt x="0" y="0"/>
                </a:moveTo>
                <a:lnTo>
                  <a:pt x="17924190" y="0"/>
                </a:lnTo>
                <a:lnTo>
                  <a:pt x="17924190" y="8581206"/>
                </a:lnTo>
                <a:lnTo>
                  <a:pt x="0" y="85812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761392" y="3390594"/>
            <a:ext cx="11715384" cy="3467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9"/>
              </a:lnSpc>
              <a:spcBef>
                <a:spcPct val="0"/>
              </a:spcBef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Dashboa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rds include: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Candlestick charts (price movement)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Line graphs (moving avera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g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es)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Volume bar charts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Sentiment pie chart</a:t>
            </a:r>
          </a:p>
          <a:p>
            <a:pPr algn="l">
              <a:lnSpc>
                <a:spcPts val="3939"/>
              </a:lnSpc>
              <a:spcBef>
                <a:spcPct val="0"/>
              </a:spcBef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Auto-refresh enabled.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123950"/>
            <a:ext cx="10984319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Visualization Layer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1028700"/>
            <a:ext cx="7148773" cy="3460791"/>
          </a:xfrm>
          <a:custGeom>
            <a:avLst/>
            <a:gdLst/>
            <a:ahLst/>
            <a:cxnLst/>
            <a:rect r="r" b="b" t="t" l="l"/>
            <a:pathLst>
              <a:path h="3460791" w="7148773">
                <a:moveTo>
                  <a:pt x="0" y="0"/>
                </a:moveTo>
                <a:lnTo>
                  <a:pt x="7148773" y="0"/>
                </a:lnTo>
                <a:lnTo>
                  <a:pt x="7148773" y="3460791"/>
                </a:lnTo>
                <a:lnTo>
                  <a:pt x="0" y="34607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23884" r="-92867" b="-201803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038240" y="1028700"/>
            <a:ext cx="7156332" cy="3460791"/>
          </a:xfrm>
          <a:custGeom>
            <a:avLst/>
            <a:gdLst/>
            <a:ahLst/>
            <a:cxnLst/>
            <a:rect r="r" b="b" t="t" l="l"/>
            <a:pathLst>
              <a:path h="3460791" w="7156332">
                <a:moveTo>
                  <a:pt x="0" y="0"/>
                </a:moveTo>
                <a:lnTo>
                  <a:pt x="7156332" y="0"/>
                </a:lnTo>
                <a:lnTo>
                  <a:pt x="7156332" y="3460791"/>
                </a:lnTo>
                <a:lnTo>
                  <a:pt x="0" y="34607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2663" t="-23884" r="0" b="-201803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5854929"/>
            <a:ext cx="7148773" cy="3357424"/>
          </a:xfrm>
          <a:custGeom>
            <a:avLst/>
            <a:gdLst/>
            <a:ahLst/>
            <a:cxnLst/>
            <a:rect r="r" b="b" t="t" l="l"/>
            <a:pathLst>
              <a:path h="3357424" w="7148773">
                <a:moveTo>
                  <a:pt x="0" y="0"/>
                </a:moveTo>
                <a:lnTo>
                  <a:pt x="7148773" y="0"/>
                </a:lnTo>
                <a:lnTo>
                  <a:pt x="7148773" y="3357424"/>
                </a:lnTo>
                <a:lnTo>
                  <a:pt x="0" y="33574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242" t="-227499" r="-88207" b="-923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973512" y="5854929"/>
            <a:ext cx="7285788" cy="3357424"/>
          </a:xfrm>
          <a:custGeom>
            <a:avLst/>
            <a:gdLst/>
            <a:ahLst/>
            <a:cxnLst/>
            <a:rect r="r" b="b" t="t" l="l"/>
            <a:pathLst>
              <a:path h="3357424" w="7285788">
                <a:moveTo>
                  <a:pt x="0" y="0"/>
                </a:moveTo>
                <a:lnTo>
                  <a:pt x="7285788" y="0"/>
                </a:lnTo>
                <a:lnTo>
                  <a:pt x="7285788" y="3357424"/>
                </a:lnTo>
                <a:lnTo>
                  <a:pt x="0" y="33574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1580" t="-249172" r="0" b="-8435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094453" y="3657364"/>
            <a:ext cx="1444769" cy="762116"/>
          </a:xfrm>
          <a:custGeom>
            <a:avLst/>
            <a:gdLst/>
            <a:ahLst/>
            <a:cxnLst/>
            <a:rect r="r" b="b" t="t" l="l"/>
            <a:pathLst>
              <a:path h="762116" w="1444769">
                <a:moveTo>
                  <a:pt x="0" y="0"/>
                </a:moveTo>
                <a:lnTo>
                  <a:pt x="1444769" y="0"/>
                </a:lnTo>
                <a:lnTo>
                  <a:pt x="1444769" y="762116"/>
                </a:lnTo>
                <a:lnTo>
                  <a:pt x="0" y="7621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782833" y="5143500"/>
            <a:ext cx="1232064" cy="1354637"/>
          </a:xfrm>
          <a:custGeom>
            <a:avLst/>
            <a:gdLst/>
            <a:ahLst/>
            <a:cxnLst/>
            <a:rect r="r" b="b" t="t" l="l"/>
            <a:pathLst>
              <a:path h="1354637" w="1232064">
                <a:moveTo>
                  <a:pt x="0" y="0"/>
                </a:moveTo>
                <a:lnTo>
                  <a:pt x="1232064" y="0"/>
                </a:lnTo>
                <a:lnTo>
                  <a:pt x="1232064" y="1354637"/>
                </a:lnTo>
                <a:lnTo>
                  <a:pt x="0" y="1354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5247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241215" y="6823436"/>
            <a:ext cx="853238" cy="1148341"/>
          </a:xfrm>
          <a:custGeom>
            <a:avLst/>
            <a:gdLst/>
            <a:ahLst/>
            <a:cxnLst/>
            <a:rect r="r" b="b" t="t" l="l"/>
            <a:pathLst>
              <a:path h="1148341" w="853238">
                <a:moveTo>
                  <a:pt x="0" y="0"/>
                </a:moveTo>
                <a:lnTo>
                  <a:pt x="853238" y="0"/>
                </a:lnTo>
                <a:lnTo>
                  <a:pt x="853238" y="1148340"/>
                </a:lnTo>
                <a:lnTo>
                  <a:pt x="0" y="11483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8569" t="0" r="-77785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219603" y="4000322"/>
            <a:ext cx="11795294" cy="4458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atabricks Workspace – streaming jobs.</a:t>
            </a:r>
          </a:p>
          <a:p>
            <a:pPr algn="l">
              <a:lnSpc>
                <a:spcPts val="3939"/>
              </a:lnSpc>
              <a:spcBef>
                <a:spcPct val="0"/>
              </a:spcBef>
            </a:pPr>
          </a:p>
          <a:p>
            <a:pPr algn="l">
              <a:lnSpc>
                <a:spcPts val="3939"/>
              </a:lnSpc>
              <a:spcBef>
                <a:spcPct val="0"/>
              </a:spcBef>
            </a:pP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Sto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rage (Delta Lake) – persistent storage</a:t>
            </a:r>
          </a:p>
          <a:p>
            <a:pPr algn="l">
              <a:lnSpc>
                <a:spcPts val="3939"/>
              </a:lnSpc>
              <a:spcBef>
                <a:spcPct val="0"/>
              </a:spcBef>
            </a:pPr>
          </a:p>
          <a:p>
            <a:pPr algn="l">
              <a:lnSpc>
                <a:spcPts val="3939"/>
              </a:lnSpc>
              <a:spcBef>
                <a:spcPct val="0"/>
              </a:spcBef>
            </a:pP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Azure Monitor – performance metrics.</a:t>
            </a:r>
          </a:p>
          <a:p>
            <a:pPr algn="l">
              <a:lnSpc>
                <a:spcPts val="3939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123950"/>
            <a:ext cx="10984319" cy="2152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Azure Resources Used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06160" y="5431510"/>
            <a:ext cx="3694237" cy="1495012"/>
          </a:xfrm>
          <a:custGeom>
            <a:avLst/>
            <a:gdLst/>
            <a:ahLst/>
            <a:cxnLst/>
            <a:rect r="r" b="b" t="t" l="l"/>
            <a:pathLst>
              <a:path h="1495012" w="3694237">
                <a:moveTo>
                  <a:pt x="0" y="0"/>
                </a:moveTo>
                <a:lnTo>
                  <a:pt x="3694237" y="0"/>
                </a:lnTo>
                <a:lnTo>
                  <a:pt x="3694237" y="1495011"/>
                </a:lnTo>
                <a:lnTo>
                  <a:pt x="0" y="14950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168429" y="4046083"/>
            <a:ext cx="3725377" cy="1241792"/>
          </a:xfrm>
          <a:custGeom>
            <a:avLst/>
            <a:gdLst/>
            <a:ahLst/>
            <a:cxnLst/>
            <a:rect r="r" b="b" t="t" l="l"/>
            <a:pathLst>
              <a:path h="1241792" w="3725377">
                <a:moveTo>
                  <a:pt x="0" y="0"/>
                </a:moveTo>
                <a:lnTo>
                  <a:pt x="3725377" y="0"/>
                </a:lnTo>
                <a:lnTo>
                  <a:pt x="3725377" y="1241792"/>
                </a:lnTo>
                <a:lnTo>
                  <a:pt x="0" y="1241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428442" y="2506878"/>
            <a:ext cx="1343911" cy="1219866"/>
          </a:xfrm>
          <a:custGeom>
            <a:avLst/>
            <a:gdLst/>
            <a:ahLst/>
            <a:cxnLst/>
            <a:rect r="r" b="b" t="t" l="l"/>
            <a:pathLst>
              <a:path h="1219866" w="1343911">
                <a:moveTo>
                  <a:pt x="0" y="0"/>
                </a:moveTo>
                <a:lnTo>
                  <a:pt x="1343911" y="0"/>
                </a:lnTo>
                <a:lnTo>
                  <a:pt x="1343911" y="1219866"/>
                </a:lnTo>
                <a:lnTo>
                  <a:pt x="0" y="12198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9024" t="0" r="-3387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083579" y="7069396"/>
            <a:ext cx="1084850" cy="1148443"/>
          </a:xfrm>
          <a:custGeom>
            <a:avLst/>
            <a:gdLst/>
            <a:ahLst/>
            <a:cxnLst/>
            <a:rect r="r" b="b" t="t" l="l"/>
            <a:pathLst>
              <a:path h="1148443" w="1084850">
                <a:moveTo>
                  <a:pt x="0" y="0"/>
                </a:moveTo>
                <a:lnTo>
                  <a:pt x="1084850" y="0"/>
                </a:lnTo>
                <a:lnTo>
                  <a:pt x="1084850" y="1148444"/>
                </a:lnTo>
                <a:lnTo>
                  <a:pt x="0" y="114844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4036" t="-39361" r="-41729" b="-36118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1535420" y="8580234"/>
            <a:ext cx="870740" cy="1074355"/>
          </a:xfrm>
          <a:custGeom>
            <a:avLst/>
            <a:gdLst/>
            <a:ahLst/>
            <a:cxnLst/>
            <a:rect r="r" b="b" t="t" l="l"/>
            <a:pathLst>
              <a:path h="1074355" w="870740">
                <a:moveTo>
                  <a:pt x="0" y="0"/>
                </a:moveTo>
                <a:lnTo>
                  <a:pt x="870740" y="0"/>
                </a:lnTo>
                <a:lnTo>
                  <a:pt x="870740" y="1074355"/>
                </a:lnTo>
                <a:lnTo>
                  <a:pt x="0" y="107435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66762" t="0" r="-67894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453045" y="4234005"/>
            <a:ext cx="11715384" cy="2972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Az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ure Databricks, PySpark, Spark SQL.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Matplotlib / Plotly.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Pandas.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Bin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ance API.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Delta Lake.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1123950"/>
            <a:ext cx="10984319" cy="2152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Tools &amp; Technologies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01622" y="-767350"/>
            <a:ext cx="22013892" cy="12354774"/>
          </a:xfrm>
          <a:custGeom>
            <a:avLst/>
            <a:gdLst/>
            <a:ahLst/>
            <a:cxnLst/>
            <a:rect r="r" b="b" t="t" l="l"/>
            <a:pathLst>
              <a:path h="12354774" w="22013892">
                <a:moveTo>
                  <a:pt x="0" y="0"/>
                </a:moveTo>
                <a:lnTo>
                  <a:pt x="22013891" y="0"/>
                </a:lnTo>
                <a:lnTo>
                  <a:pt x="22013891" y="12354775"/>
                </a:lnTo>
                <a:lnTo>
                  <a:pt x="0" y="12354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467" r="0" b="-946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AAD7D4">
                <a:alpha val="28627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025264" y="4230767"/>
            <a:ext cx="13066873" cy="1651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918"/>
              </a:lnSpc>
            </a:pPr>
            <a:r>
              <a:rPr lang="en-US" b="true" sz="12998" spc="-701">
                <a:solidFill>
                  <a:srgbClr val="1C21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IMPLEMENTATION 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94134" y="4152128"/>
            <a:ext cx="11715384" cy="2972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Dat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Ingestion → Binance API into Databricks.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Stream Processing → Py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Sp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ark transformations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Storage → Delta Lake for historical analysis.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Analytics → Moving averages, volume spikes, volatility.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Visualization → Real-time dashboard.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37283" y="2260853"/>
            <a:ext cx="10984319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How It Works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94134" y="4152128"/>
            <a:ext cx="11715384" cy="2972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Set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up Databricks workspace &amp; cluster.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Develop ingestion pipeline.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Process data with PySpark SQL.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Create v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isualizations.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Enable au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o-refresh &amp; monitoring.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37283" y="2260853"/>
            <a:ext cx="10984319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Execution Flow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94134" y="4142603"/>
            <a:ext cx="11715384" cy="1018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  <a:r>
              <a:rPr lang="en-US" sz="3017" spc="18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Create </a:t>
            </a:r>
            <a:r>
              <a:rPr lang="en-US" sz="3017" spc="181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account → Resource Group → Event Hub → Databricks Workspace.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837283" y="2260853"/>
            <a:ext cx="10984319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Azure Setup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94134" y="4152128"/>
            <a:ext cx="11715384" cy="1981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reate cluster.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stall Python libraries.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Create notebooks.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37283" y="2260853"/>
            <a:ext cx="10984319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Databricks Setup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94134" y="4152128"/>
            <a:ext cx="11715384" cy="1981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Fetch Bin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ance Data (Python).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Process with PySpark.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B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uild dashboard graphs.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37283" y="2260853"/>
            <a:ext cx="15286342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Data Fetching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101622" y="-767350"/>
            <a:ext cx="22013892" cy="12354774"/>
          </a:xfrm>
          <a:custGeom>
            <a:avLst/>
            <a:gdLst/>
            <a:ahLst/>
            <a:cxnLst/>
            <a:rect r="r" b="b" t="t" l="l"/>
            <a:pathLst>
              <a:path h="12354774" w="22013892">
                <a:moveTo>
                  <a:pt x="0" y="0"/>
                </a:moveTo>
                <a:lnTo>
                  <a:pt x="22013891" y="0"/>
                </a:lnTo>
                <a:lnTo>
                  <a:pt x="22013891" y="12354775"/>
                </a:lnTo>
                <a:lnTo>
                  <a:pt x="0" y="12354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467" r="0" b="-946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AAD7D4">
                <a:alpha val="28627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025264" y="3540205"/>
            <a:ext cx="13066873" cy="3032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918"/>
              </a:lnSpc>
            </a:pPr>
            <a:r>
              <a:rPr lang="en-US" b="true" sz="12998" spc="-701">
                <a:solidFill>
                  <a:srgbClr val="1C2120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RESULTS &amp; ANALYSIS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94134" y="4152128"/>
            <a:ext cx="11715384" cy="2477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Price mo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nitoring (color-coded).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Performance analysis (gainers/losers).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Volume analysis.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V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olatility &amp; sentiment tracking.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37283" y="2260853"/>
            <a:ext cx="15286342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 Results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94134" y="4152128"/>
            <a:ext cx="11715384" cy="39630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Azure e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nvironment setup.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PI integration.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PySpark processing.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Delta Lake storage.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Dashb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oard development.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Sp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ark SQL queries.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Automation.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37283" y="2260853"/>
            <a:ext cx="15286342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Tasks Performed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100476" y="1876565"/>
            <a:ext cx="10087048" cy="8191060"/>
          </a:xfrm>
          <a:custGeom>
            <a:avLst/>
            <a:gdLst/>
            <a:ahLst/>
            <a:cxnLst/>
            <a:rect r="r" b="b" t="t" l="l"/>
            <a:pathLst>
              <a:path h="8191060" w="10087048">
                <a:moveTo>
                  <a:pt x="0" y="0"/>
                </a:moveTo>
                <a:lnTo>
                  <a:pt x="10087048" y="0"/>
                </a:lnTo>
                <a:lnTo>
                  <a:pt x="10087048" y="8191060"/>
                </a:lnTo>
                <a:lnTo>
                  <a:pt x="0" y="81910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36" r="0" b="-336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46522" y="502308"/>
            <a:ext cx="10484055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Sample Dashboard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94134" y="4152128"/>
            <a:ext cx="11715384" cy="2972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Cluster auto-scaling.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Delta Lake caching.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API connect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ion pooling.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V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isualization incremental updates.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Cost optimization via auto-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ermination.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37283" y="2260853"/>
            <a:ext cx="15286342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Optimization Strategies 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94134" y="4152128"/>
            <a:ext cx="11715384" cy="2477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Achieved rea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l-time analytics dashboard.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Demonstrated Azure + Databricks + 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PySpark integrat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ion.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Sc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alable design, reliable architecture.</a:t>
            </a:r>
          </a:p>
          <a:p>
            <a:pPr algn="l" marL="629977" indent="-314989" lvl="1">
              <a:lnSpc>
                <a:spcPts val="3939"/>
              </a:lnSpc>
              <a:spcBef>
                <a:spcPct val="0"/>
              </a:spcBef>
              <a:buFont typeface="Arial"/>
              <a:buChar char="•"/>
            </a:pP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ovides actionable insights for crypto 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</a:t>
            </a:r>
            <a:r>
              <a:rPr lang="en-US" sz="2917" spc="175" u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rading.</a:t>
            </a:r>
          </a:p>
          <a:p>
            <a:pPr algn="l" marL="0" indent="0" lvl="0">
              <a:lnSpc>
                <a:spcPts val="4074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837283" y="2260853"/>
            <a:ext cx="15286342" cy="1148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35"/>
              </a:lnSpc>
            </a:pPr>
            <a:r>
              <a:rPr lang="en-US" sz="8180" b="true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Conclusion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AD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 l="0" t="0" r="0" b="-2000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182017" y="3400568"/>
            <a:ext cx="11923966" cy="28889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460"/>
              </a:lnSpc>
            </a:pPr>
            <a:r>
              <a:rPr lang="en-US" b="true" sz="12023">
                <a:solidFill>
                  <a:srgbClr val="1C2120"/>
                </a:solidFill>
                <a:latin typeface="Poppins Bold"/>
                <a:ea typeface="Poppins Bold"/>
                <a:cs typeface="Poppins Bold"/>
                <a:sym typeface="Poppins Bold"/>
              </a:rPr>
              <a:t>Thank you very much!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641335" y="7494389"/>
            <a:ext cx="6617965" cy="13352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5"/>
              </a:lnSpc>
            </a:pPr>
            <a:r>
              <a:rPr lang="en-US" sz="3445" spc="-68">
                <a:solidFill>
                  <a:srgbClr val="1C2120"/>
                </a:solidFill>
                <a:latin typeface="Poppins"/>
                <a:ea typeface="Poppins"/>
                <a:cs typeface="Poppins"/>
                <a:sym typeface="Poppins"/>
              </a:rPr>
              <a:t>PRESENTED BY :</a:t>
            </a:r>
          </a:p>
          <a:p>
            <a:pPr algn="just">
              <a:lnSpc>
                <a:spcPts val="3445"/>
              </a:lnSpc>
            </a:pPr>
          </a:p>
          <a:p>
            <a:pPr algn="just">
              <a:lnSpc>
                <a:spcPts val="3445"/>
              </a:lnSpc>
            </a:pPr>
            <a:r>
              <a:rPr lang="en-US" sz="3445" spc="-68">
                <a:solidFill>
                  <a:srgbClr val="1C2120"/>
                </a:solidFill>
                <a:latin typeface="Poppins"/>
                <a:ea typeface="Poppins"/>
                <a:cs typeface="Poppins"/>
                <a:sym typeface="Poppins"/>
              </a:rPr>
              <a:t>RUTHRAVARSHAN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DAGxYZJClqs</dc:identifier>
  <dcterms:modified xsi:type="dcterms:W3CDTF">2011-08-01T06:04:30Z</dcterms:modified>
  <cp:revision>1</cp:revision>
  <dc:title>Real-Time Analytics Dashboard</dc:title>
</cp:coreProperties>
</file>