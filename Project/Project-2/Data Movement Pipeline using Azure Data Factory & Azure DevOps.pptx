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Tenor Sans" charset="1" panose="02000000000000000000"/>
      <p:regular r:id="rId32"/>
    </p:embeddedFont>
    <p:embeddedFont>
      <p:font typeface="Poppins" charset="1" panose="00000500000000000000"/>
      <p:regular r:id="rId33"/>
    </p:embeddedFont>
    <p:embeddedFont>
      <p:font typeface="Poppins Bold" charset="1" panose="000008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7.png" Type="http://schemas.openxmlformats.org/officeDocument/2006/relationships/image"/><Relationship Id="rId5" Target="../media/image9.png" Type="http://schemas.openxmlformats.org/officeDocument/2006/relationships/image"/><Relationship Id="rId6" Target="../media/image13.pn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01622" y="-767350"/>
            <a:ext cx="22013892" cy="12354774"/>
          </a:xfrm>
          <a:custGeom>
            <a:avLst/>
            <a:gdLst/>
            <a:ahLst/>
            <a:cxnLst/>
            <a:rect r="r" b="b" t="t" l="l"/>
            <a:pathLst>
              <a:path h="12354774" w="22013892">
                <a:moveTo>
                  <a:pt x="0" y="0"/>
                </a:moveTo>
                <a:lnTo>
                  <a:pt x="22013891" y="0"/>
                </a:lnTo>
                <a:lnTo>
                  <a:pt x="22013891" y="12354775"/>
                </a:lnTo>
                <a:lnTo>
                  <a:pt x="0" y="12354775"/>
                </a:lnTo>
                <a:lnTo>
                  <a:pt x="0" y="0"/>
                </a:lnTo>
                <a:close/>
              </a:path>
            </a:pathLst>
          </a:custGeom>
          <a:blipFill>
            <a:blip r:embed="rId2"/>
            <a:stretch>
              <a:fillRect l="0" t="-9467" r="0" b="-9467"/>
            </a:stretch>
          </a:blipFill>
        </p:spPr>
      </p:sp>
      <p:grpSp>
        <p:nvGrpSpPr>
          <p:cNvPr name="Group 3" id="3"/>
          <p:cNvGrpSpPr/>
          <p:nvPr/>
        </p:nvGrpSpPr>
        <p:grpSpPr>
          <a:xfrm rot="0">
            <a:off x="-1793400" y="-712357"/>
            <a:ext cx="22453902" cy="11711713"/>
            <a:chOff x="0" y="0"/>
            <a:chExt cx="5913785" cy="3084566"/>
          </a:xfrm>
        </p:grpSpPr>
        <p:sp>
          <p:nvSpPr>
            <p:cNvPr name="Freeform 4" id="4"/>
            <p:cNvSpPr/>
            <p:nvPr/>
          </p:nvSpPr>
          <p:spPr>
            <a:xfrm flipH="false" flipV="false" rot="0">
              <a:off x="0" y="0"/>
              <a:ext cx="5913785" cy="3084567"/>
            </a:xfrm>
            <a:custGeom>
              <a:avLst/>
              <a:gdLst/>
              <a:ahLst/>
              <a:cxnLst/>
              <a:rect r="r" b="b" t="t" l="l"/>
              <a:pathLst>
                <a:path h="3084567" w="5913785">
                  <a:moveTo>
                    <a:pt x="0" y="0"/>
                  </a:moveTo>
                  <a:lnTo>
                    <a:pt x="5913785" y="0"/>
                  </a:lnTo>
                  <a:lnTo>
                    <a:pt x="5913785" y="3084567"/>
                  </a:lnTo>
                  <a:lnTo>
                    <a:pt x="0" y="3084567"/>
                  </a:lnTo>
                  <a:close/>
                </a:path>
              </a:pathLst>
            </a:custGeom>
            <a:solidFill>
              <a:srgbClr val="106861">
                <a:alpha val="28627"/>
              </a:srgbClr>
            </a:solidFill>
          </p:spPr>
        </p:sp>
        <p:sp>
          <p:nvSpPr>
            <p:cNvPr name="TextBox 5" id="5"/>
            <p:cNvSpPr txBox="true"/>
            <p:nvPr/>
          </p:nvSpPr>
          <p:spPr>
            <a:xfrm>
              <a:off x="0" y="-38100"/>
              <a:ext cx="5913785" cy="312266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489013" y="1982578"/>
            <a:ext cx="12832621" cy="5211322"/>
          </a:xfrm>
          <a:prstGeom prst="rect">
            <a:avLst/>
          </a:prstGeom>
        </p:spPr>
        <p:txBody>
          <a:bodyPr anchor="t" rtlCol="false" tIns="0" lIns="0" bIns="0" rIns="0">
            <a:spAutoFit/>
          </a:bodyPr>
          <a:lstStyle/>
          <a:p>
            <a:pPr algn="ctr">
              <a:lnSpc>
                <a:spcPts val="8066"/>
              </a:lnSpc>
            </a:pPr>
            <a:r>
              <a:rPr lang="en-US" sz="9603" spc="-518">
                <a:solidFill>
                  <a:srgbClr val="1C2120"/>
                </a:solidFill>
                <a:latin typeface="Tenor Sans"/>
                <a:ea typeface="Tenor Sans"/>
                <a:cs typeface="Tenor Sans"/>
                <a:sym typeface="Tenor Sans"/>
              </a:rPr>
              <a:t>DATA MOVEMENT PIPELINE USING AZURE DATA FACTORY &amp; AZURE DEVOPS</a:t>
            </a:r>
          </a:p>
        </p:txBody>
      </p:sp>
      <p:sp>
        <p:nvSpPr>
          <p:cNvPr name="TextBox 7" id="7"/>
          <p:cNvSpPr txBox="true"/>
          <p:nvPr/>
        </p:nvSpPr>
        <p:spPr>
          <a:xfrm rot="0">
            <a:off x="11014577" y="7633337"/>
            <a:ext cx="4307057" cy="906661"/>
          </a:xfrm>
          <a:prstGeom prst="rect">
            <a:avLst/>
          </a:prstGeom>
        </p:spPr>
        <p:txBody>
          <a:bodyPr anchor="t" rtlCol="false" tIns="0" lIns="0" bIns="0" rIns="0">
            <a:spAutoFit/>
          </a:bodyPr>
          <a:lstStyle/>
          <a:p>
            <a:pPr algn="l">
              <a:lnSpc>
                <a:spcPts val="3445"/>
              </a:lnSpc>
            </a:pPr>
            <a:r>
              <a:rPr lang="en-US" sz="3445" spc="-68">
                <a:solidFill>
                  <a:srgbClr val="1C2120"/>
                </a:solidFill>
                <a:latin typeface="Poppins"/>
                <a:ea typeface="Poppins"/>
                <a:cs typeface="Poppins"/>
                <a:sym typeface="Poppins"/>
              </a:rPr>
              <a:t>BY </a:t>
            </a:r>
          </a:p>
          <a:p>
            <a:pPr algn="l">
              <a:lnSpc>
                <a:spcPts val="3445"/>
              </a:lnSpc>
            </a:pPr>
            <a:r>
              <a:rPr lang="en-US" sz="3445" spc="-68">
                <a:solidFill>
                  <a:srgbClr val="1C2120"/>
                </a:solidFill>
                <a:latin typeface="Poppins"/>
                <a:ea typeface="Poppins"/>
                <a:cs typeface="Poppins"/>
                <a:sym typeface="Poppins"/>
              </a:rPr>
              <a:t>S </a:t>
            </a:r>
            <a:r>
              <a:rPr lang="en-US" sz="3445" spc="-68">
                <a:solidFill>
                  <a:srgbClr val="1C2120"/>
                </a:solidFill>
                <a:latin typeface="Poppins"/>
                <a:ea typeface="Poppins"/>
                <a:cs typeface="Poppins"/>
                <a:sym typeface="Poppins"/>
              </a:rPr>
              <a:t>RUTHRAVARSHAN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123894"/>
            <a:ext cx="8011990" cy="2152401"/>
          </a:xfrm>
          <a:prstGeom prst="rect">
            <a:avLst/>
          </a:prstGeom>
        </p:spPr>
        <p:txBody>
          <a:bodyPr anchor="t" rtlCol="false" tIns="0" lIns="0" bIns="0" rIns="0">
            <a:spAutoFit/>
          </a:bodyPr>
          <a:lstStyle/>
          <a:p>
            <a:pPr algn="l">
              <a:lnSpc>
                <a:spcPts val="7935"/>
              </a:lnSpc>
            </a:pPr>
            <a:r>
              <a:rPr lang="en-US" sz="8180" b="true">
                <a:solidFill>
                  <a:srgbClr val="1C2120"/>
                </a:solidFill>
                <a:latin typeface="Poppins Bold"/>
                <a:ea typeface="Poppins Bold"/>
                <a:cs typeface="Poppins Bold"/>
                <a:sym typeface="Poppins Bold"/>
              </a:rPr>
              <a:t>Project Statement</a:t>
            </a:r>
          </a:p>
        </p:txBody>
      </p:sp>
      <p:grpSp>
        <p:nvGrpSpPr>
          <p:cNvPr name="Group 3" id="3"/>
          <p:cNvGrpSpPr/>
          <p:nvPr/>
        </p:nvGrpSpPr>
        <p:grpSpPr>
          <a:xfrm rot="0">
            <a:off x="0" y="0"/>
            <a:ext cx="18288000" cy="4491629"/>
            <a:chOff x="0" y="0"/>
            <a:chExt cx="4816593" cy="1182980"/>
          </a:xfrm>
        </p:grpSpPr>
        <p:sp>
          <p:nvSpPr>
            <p:cNvPr name="Freeform 4" id="4"/>
            <p:cNvSpPr/>
            <p:nvPr/>
          </p:nvSpPr>
          <p:spPr>
            <a:xfrm flipH="false" flipV="false" rot="0">
              <a:off x="0" y="0"/>
              <a:ext cx="4816592" cy="1182980"/>
            </a:xfrm>
            <a:custGeom>
              <a:avLst/>
              <a:gdLst/>
              <a:ahLst/>
              <a:cxnLst/>
              <a:rect r="r" b="b" t="t" l="l"/>
              <a:pathLst>
                <a:path h="1182980" w="4816592">
                  <a:moveTo>
                    <a:pt x="0" y="0"/>
                  </a:moveTo>
                  <a:lnTo>
                    <a:pt x="4816592" y="0"/>
                  </a:lnTo>
                  <a:lnTo>
                    <a:pt x="4816592" y="1182980"/>
                  </a:lnTo>
                  <a:lnTo>
                    <a:pt x="0" y="1182980"/>
                  </a:lnTo>
                  <a:close/>
                </a:path>
              </a:pathLst>
            </a:custGeom>
            <a:solidFill>
              <a:srgbClr val="106861"/>
            </a:solidFill>
            <a:ln cap="sq">
              <a:noFill/>
              <a:prstDash val="solid"/>
              <a:miter/>
            </a:ln>
          </p:spPr>
        </p:sp>
        <p:sp>
          <p:nvSpPr>
            <p:cNvPr name="TextBox 5" id="5"/>
            <p:cNvSpPr txBox="true"/>
            <p:nvPr/>
          </p:nvSpPr>
          <p:spPr>
            <a:xfrm>
              <a:off x="0" y="-38100"/>
              <a:ext cx="4816593" cy="122108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6" id="6"/>
          <p:cNvSpPr/>
          <p:nvPr/>
        </p:nvSpPr>
        <p:spPr>
          <a:xfrm flipH="false" flipV="false" rot="0">
            <a:off x="0" y="0"/>
            <a:ext cx="18288000" cy="4491629"/>
          </a:xfrm>
          <a:custGeom>
            <a:avLst/>
            <a:gdLst/>
            <a:ahLst/>
            <a:cxnLst/>
            <a:rect r="r" b="b" t="t" l="l"/>
            <a:pathLst>
              <a:path h="4491629" w="18288000">
                <a:moveTo>
                  <a:pt x="0" y="0"/>
                </a:moveTo>
                <a:lnTo>
                  <a:pt x="18288000" y="0"/>
                </a:lnTo>
                <a:lnTo>
                  <a:pt x="18288000" y="4491629"/>
                </a:lnTo>
                <a:lnTo>
                  <a:pt x="0" y="4491629"/>
                </a:lnTo>
                <a:lnTo>
                  <a:pt x="0" y="0"/>
                </a:lnTo>
                <a:close/>
              </a:path>
            </a:pathLst>
          </a:custGeom>
          <a:blipFill>
            <a:blip r:embed="rId2">
              <a:alphaModFix amt="59000"/>
            </a:blip>
            <a:stretch>
              <a:fillRect l="0" t="-85634" r="0" b="-85634"/>
            </a:stretch>
          </a:blipFill>
          <a:ln cap="sq">
            <a:noFill/>
            <a:prstDash val="solid"/>
            <a:miter/>
          </a:ln>
        </p:spPr>
      </p:sp>
      <p:sp>
        <p:nvSpPr>
          <p:cNvPr name="TextBox 7" id="7"/>
          <p:cNvSpPr txBox="true"/>
          <p:nvPr/>
        </p:nvSpPr>
        <p:spPr>
          <a:xfrm rot="0">
            <a:off x="3558350" y="4169039"/>
            <a:ext cx="11150794" cy="2504777"/>
          </a:xfrm>
          <a:prstGeom prst="rect">
            <a:avLst/>
          </a:prstGeom>
        </p:spPr>
        <p:txBody>
          <a:bodyPr anchor="t" rtlCol="false" tIns="0" lIns="0" bIns="0" rIns="0">
            <a:spAutoFit/>
          </a:bodyPr>
          <a:lstStyle/>
          <a:p>
            <a:pPr algn="ctr">
              <a:lnSpc>
                <a:spcPts val="3950"/>
              </a:lnSpc>
            </a:pPr>
            <a:r>
              <a:rPr lang="en-US" sz="2469">
                <a:solidFill>
                  <a:srgbClr val="FFFFFF"/>
                </a:solidFill>
                <a:latin typeface="Poppins"/>
                <a:ea typeface="Poppins"/>
                <a:cs typeface="Poppins"/>
                <a:sym typeface="Poppins"/>
              </a:rPr>
              <a:t>Lorem ipsum dolor sit amet, consectetur adipiscing elit. Mauris porttitor nisi ut arcu sodales elementum. Fusce et sem ligula. Fusce venenatis vitae augue id sodales. Suspendisse non tincidunt lectus. Aliquam et lacus porta, finibus felis nec, pulvinar felis. In elementum massa ac consectetur semper. Mauris luctus eros diam, quis semper.</a:t>
            </a:r>
          </a:p>
        </p:txBody>
      </p:sp>
      <p:sp>
        <p:nvSpPr>
          <p:cNvPr name="TextBox 8" id="8"/>
          <p:cNvSpPr txBox="true"/>
          <p:nvPr/>
        </p:nvSpPr>
        <p:spPr>
          <a:xfrm rot="0">
            <a:off x="5679731" y="2712442"/>
            <a:ext cx="6928538" cy="1234938"/>
          </a:xfrm>
          <a:prstGeom prst="rect">
            <a:avLst/>
          </a:prstGeom>
        </p:spPr>
        <p:txBody>
          <a:bodyPr anchor="t" rtlCol="false" tIns="0" lIns="0" bIns="0" rIns="0">
            <a:spAutoFit/>
          </a:bodyPr>
          <a:lstStyle/>
          <a:p>
            <a:pPr algn="ctr" marL="0" indent="0" lvl="0">
              <a:lnSpc>
                <a:spcPts val="9582"/>
              </a:lnSpc>
              <a:spcBef>
                <a:spcPct val="0"/>
              </a:spcBef>
            </a:pPr>
            <a:r>
              <a:rPr lang="en-US" b="true" sz="6844" spc="-136">
                <a:solidFill>
                  <a:srgbClr val="FDFBFB"/>
                </a:solidFill>
                <a:latin typeface="Poppins Bold"/>
                <a:ea typeface="Poppins Bold"/>
                <a:cs typeface="Poppins Bold"/>
                <a:sym typeface="Poppins Bold"/>
              </a:rPr>
              <a:t>Introduction</a:t>
            </a:r>
          </a:p>
        </p:txBody>
      </p:sp>
      <p:grpSp>
        <p:nvGrpSpPr>
          <p:cNvPr name="Group 9" id="9"/>
          <p:cNvGrpSpPr/>
          <p:nvPr/>
        </p:nvGrpSpPr>
        <p:grpSpPr>
          <a:xfrm rot="0">
            <a:off x="16113923" y="9258300"/>
            <a:ext cx="327444" cy="32744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12" id="12"/>
          <p:cNvGrpSpPr/>
          <p:nvPr/>
        </p:nvGrpSpPr>
        <p:grpSpPr>
          <a:xfrm rot="0">
            <a:off x="15648108" y="9258300"/>
            <a:ext cx="327444" cy="32744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15" id="15"/>
          <p:cNvGrpSpPr/>
          <p:nvPr/>
        </p:nvGrpSpPr>
        <p:grpSpPr>
          <a:xfrm rot="0">
            <a:off x="15161723" y="9258300"/>
            <a:ext cx="327444" cy="32744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18" id="18"/>
          <p:cNvGrpSpPr/>
          <p:nvPr/>
        </p:nvGrpSpPr>
        <p:grpSpPr>
          <a:xfrm rot="0">
            <a:off x="0" y="0"/>
            <a:ext cx="18288000" cy="4491629"/>
            <a:chOff x="0" y="0"/>
            <a:chExt cx="4816593" cy="1182980"/>
          </a:xfrm>
        </p:grpSpPr>
        <p:sp>
          <p:nvSpPr>
            <p:cNvPr name="Freeform 19" id="19"/>
            <p:cNvSpPr/>
            <p:nvPr/>
          </p:nvSpPr>
          <p:spPr>
            <a:xfrm flipH="false" flipV="false" rot="0">
              <a:off x="0" y="0"/>
              <a:ext cx="4816592" cy="1182980"/>
            </a:xfrm>
            <a:custGeom>
              <a:avLst/>
              <a:gdLst/>
              <a:ahLst/>
              <a:cxnLst/>
              <a:rect r="r" b="b" t="t" l="l"/>
              <a:pathLst>
                <a:path h="1182980" w="4816592">
                  <a:moveTo>
                    <a:pt x="0" y="0"/>
                  </a:moveTo>
                  <a:lnTo>
                    <a:pt x="4816592" y="0"/>
                  </a:lnTo>
                  <a:lnTo>
                    <a:pt x="4816592" y="1182980"/>
                  </a:lnTo>
                  <a:lnTo>
                    <a:pt x="0" y="1182980"/>
                  </a:lnTo>
                  <a:close/>
                </a:path>
              </a:pathLst>
            </a:custGeom>
            <a:solidFill>
              <a:srgbClr val="106861"/>
            </a:solidFill>
            <a:ln cap="sq">
              <a:noFill/>
              <a:prstDash val="solid"/>
              <a:miter/>
            </a:ln>
          </p:spPr>
        </p:sp>
        <p:sp>
          <p:nvSpPr>
            <p:cNvPr name="TextBox 20" id="20"/>
            <p:cNvSpPr txBox="true"/>
            <p:nvPr/>
          </p:nvSpPr>
          <p:spPr>
            <a:xfrm>
              <a:off x="0" y="-38100"/>
              <a:ext cx="4816593" cy="122108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21" id="21"/>
          <p:cNvSpPr/>
          <p:nvPr/>
        </p:nvSpPr>
        <p:spPr>
          <a:xfrm flipH="false" flipV="false" rot="0">
            <a:off x="0" y="0"/>
            <a:ext cx="18288000" cy="4491629"/>
          </a:xfrm>
          <a:custGeom>
            <a:avLst/>
            <a:gdLst/>
            <a:ahLst/>
            <a:cxnLst/>
            <a:rect r="r" b="b" t="t" l="l"/>
            <a:pathLst>
              <a:path h="4491629" w="18288000">
                <a:moveTo>
                  <a:pt x="0" y="0"/>
                </a:moveTo>
                <a:lnTo>
                  <a:pt x="18288000" y="0"/>
                </a:lnTo>
                <a:lnTo>
                  <a:pt x="18288000" y="4491629"/>
                </a:lnTo>
                <a:lnTo>
                  <a:pt x="0" y="4491629"/>
                </a:lnTo>
                <a:lnTo>
                  <a:pt x="0" y="0"/>
                </a:lnTo>
                <a:close/>
              </a:path>
            </a:pathLst>
          </a:custGeom>
          <a:blipFill>
            <a:blip r:embed="rId2">
              <a:alphaModFix amt="59000"/>
            </a:blip>
            <a:stretch>
              <a:fillRect l="0" t="-85634" r="0" b="-85634"/>
            </a:stretch>
          </a:blipFill>
          <a:ln cap="sq">
            <a:noFill/>
            <a:prstDash val="solid"/>
            <a:miter/>
          </a:ln>
        </p:spPr>
      </p:sp>
      <p:sp>
        <p:nvSpPr>
          <p:cNvPr name="TextBox 22" id="22"/>
          <p:cNvSpPr txBox="true"/>
          <p:nvPr/>
        </p:nvSpPr>
        <p:spPr>
          <a:xfrm rot="0">
            <a:off x="5679731" y="2712442"/>
            <a:ext cx="6928538" cy="1234938"/>
          </a:xfrm>
          <a:prstGeom prst="rect">
            <a:avLst/>
          </a:prstGeom>
        </p:spPr>
        <p:txBody>
          <a:bodyPr anchor="t" rtlCol="false" tIns="0" lIns="0" bIns="0" rIns="0">
            <a:spAutoFit/>
          </a:bodyPr>
          <a:lstStyle/>
          <a:p>
            <a:pPr algn="ctr" marL="0" indent="0" lvl="0">
              <a:lnSpc>
                <a:spcPts val="9582"/>
              </a:lnSpc>
              <a:spcBef>
                <a:spcPct val="0"/>
              </a:spcBef>
            </a:pPr>
            <a:r>
              <a:rPr lang="en-US" b="true" sz="6844" spc="-136">
                <a:solidFill>
                  <a:srgbClr val="FDFBFB"/>
                </a:solidFill>
                <a:latin typeface="Poppins Bold"/>
                <a:ea typeface="Poppins Bold"/>
                <a:cs typeface="Poppins Bold"/>
                <a:sym typeface="Poppins Bold"/>
              </a:rPr>
              <a:t>Introduction</a:t>
            </a:r>
          </a:p>
        </p:txBody>
      </p:sp>
      <p:grpSp>
        <p:nvGrpSpPr>
          <p:cNvPr name="Group 23" id="23"/>
          <p:cNvGrpSpPr/>
          <p:nvPr/>
        </p:nvGrpSpPr>
        <p:grpSpPr>
          <a:xfrm rot="0">
            <a:off x="16113923" y="9258300"/>
            <a:ext cx="327444" cy="32744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26" id="26"/>
          <p:cNvGrpSpPr/>
          <p:nvPr/>
        </p:nvGrpSpPr>
        <p:grpSpPr>
          <a:xfrm rot="0">
            <a:off x="15648108" y="9258300"/>
            <a:ext cx="327444" cy="327444"/>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29" id="29"/>
          <p:cNvGrpSpPr/>
          <p:nvPr/>
        </p:nvGrpSpPr>
        <p:grpSpPr>
          <a:xfrm rot="0">
            <a:off x="15161723" y="9258300"/>
            <a:ext cx="327444" cy="32744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2" id="32"/>
          <p:cNvGrpSpPr/>
          <p:nvPr/>
        </p:nvGrpSpPr>
        <p:grpSpPr>
          <a:xfrm rot="0">
            <a:off x="0" y="0"/>
            <a:ext cx="18288000" cy="4491629"/>
            <a:chOff x="0" y="0"/>
            <a:chExt cx="4816593" cy="1182980"/>
          </a:xfrm>
        </p:grpSpPr>
        <p:sp>
          <p:nvSpPr>
            <p:cNvPr name="Freeform 33" id="33"/>
            <p:cNvSpPr/>
            <p:nvPr/>
          </p:nvSpPr>
          <p:spPr>
            <a:xfrm flipH="false" flipV="false" rot="0">
              <a:off x="0" y="0"/>
              <a:ext cx="4816592" cy="1182980"/>
            </a:xfrm>
            <a:custGeom>
              <a:avLst/>
              <a:gdLst/>
              <a:ahLst/>
              <a:cxnLst/>
              <a:rect r="r" b="b" t="t" l="l"/>
              <a:pathLst>
                <a:path h="1182980" w="4816592">
                  <a:moveTo>
                    <a:pt x="0" y="0"/>
                  </a:moveTo>
                  <a:lnTo>
                    <a:pt x="4816592" y="0"/>
                  </a:lnTo>
                  <a:lnTo>
                    <a:pt x="4816592" y="1182980"/>
                  </a:lnTo>
                  <a:lnTo>
                    <a:pt x="0" y="1182980"/>
                  </a:lnTo>
                  <a:close/>
                </a:path>
              </a:pathLst>
            </a:custGeom>
            <a:solidFill>
              <a:srgbClr val="106861"/>
            </a:solidFill>
            <a:ln cap="sq">
              <a:noFill/>
              <a:prstDash val="solid"/>
              <a:miter/>
            </a:ln>
          </p:spPr>
        </p:sp>
        <p:sp>
          <p:nvSpPr>
            <p:cNvPr name="TextBox 34" id="34"/>
            <p:cNvSpPr txBox="true"/>
            <p:nvPr/>
          </p:nvSpPr>
          <p:spPr>
            <a:xfrm>
              <a:off x="0" y="-38100"/>
              <a:ext cx="4816593" cy="1221080"/>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Freeform 35" id="35"/>
          <p:cNvSpPr/>
          <p:nvPr/>
        </p:nvSpPr>
        <p:spPr>
          <a:xfrm flipH="false" flipV="false" rot="0">
            <a:off x="0" y="14781"/>
            <a:ext cx="18288000" cy="4476848"/>
          </a:xfrm>
          <a:custGeom>
            <a:avLst/>
            <a:gdLst/>
            <a:ahLst/>
            <a:cxnLst/>
            <a:rect r="r" b="b" t="t" l="l"/>
            <a:pathLst>
              <a:path h="4476848" w="18288000">
                <a:moveTo>
                  <a:pt x="0" y="0"/>
                </a:moveTo>
                <a:lnTo>
                  <a:pt x="18288000" y="0"/>
                </a:lnTo>
                <a:lnTo>
                  <a:pt x="18288000" y="4476848"/>
                </a:lnTo>
                <a:lnTo>
                  <a:pt x="0" y="4476848"/>
                </a:lnTo>
                <a:lnTo>
                  <a:pt x="0" y="0"/>
                </a:lnTo>
                <a:close/>
              </a:path>
            </a:pathLst>
          </a:custGeom>
          <a:blipFill>
            <a:blip r:embed="rId3">
              <a:alphaModFix amt="70000"/>
            </a:blip>
            <a:stretch>
              <a:fillRect l="0" t="-132930" r="0" b="-39233"/>
            </a:stretch>
          </a:blipFill>
        </p:spPr>
      </p:sp>
      <p:grpSp>
        <p:nvGrpSpPr>
          <p:cNvPr name="Group 36" id="36"/>
          <p:cNvGrpSpPr/>
          <p:nvPr/>
        </p:nvGrpSpPr>
        <p:grpSpPr>
          <a:xfrm rot="0">
            <a:off x="16113923" y="9258300"/>
            <a:ext cx="327444" cy="327444"/>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39" id="39"/>
          <p:cNvGrpSpPr/>
          <p:nvPr/>
        </p:nvGrpSpPr>
        <p:grpSpPr>
          <a:xfrm rot="0">
            <a:off x="15648108" y="9258300"/>
            <a:ext cx="327444" cy="327444"/>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42" id="42"/>
          <p:cNvGrpSpPr/>
          <p:nvPr/>
        </p:nvGrpSpPr>
        <p:grpSpPr>
          <a:xfrm rot="0">
            <a:off x="15161723" y="9258300"/>
            <a:ext cx="327444" cy="327444"/>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sp>
        <p:sp>
          <p:nvSpPr>
            <p:cNvPr name="TextBox 44" id="44"/>
            <p:cNvSpPr txBox="true"/>
            <p:nvPr/>
          </p:nvSpPr>
          <p:spPr>
            <a:xfrm>
              <a:off x="76200" y="38100"/>
              <a:ext cx="660400" cy="698500"/>
            </a:xfrm>
            <a:prstGeom prst="rect">
              <a:avLst/>
            </a:prstGeom>
          </p:spPr>
          <p:txBody>
            <a:bodyPr anchor="ctr" rtlCol="false" tIns="50800" lIns="50800" bIns="50800" rIns="50800"/>
            <a:lstStyle/>
            <a:p>
              <a:pPr algn="ctr" marL="0" indent="0" lvl="0">
                <a:lnSpc>
                  <a:spcPts val="2859"/>
                </a:lnSpc>
                <a:spcBef>
                  <a:spcPct val="0"/>
                </a:spcBef>
              </a:pPr>
            </a:p>
          </p:txBody>
        </p:sp>
      </p:grpSp>
      <p:grpSp>
        <p:nvGrpSpPr>
          <p:cNvPr name="Group 45" id="45"/>
          <p:cNvGrpSpPr/>
          <p:nvPr/>
        </p:nvGrpSpPr>
        <p:grpSpPr>
          <a:xfrm rot="0">
            <a:off x="1913186" y="2417849"/>
            <a:ext cx="14255008" cy="5451302"/>
            <a:chOff x="0" y="0"/>
            <a:chExt cx="3754405" cy="1435734"/>
          </a:xfrm>
        </p:grpSpPr>
        <p:sp>
          <p:nvSpPr>
            <p:cNvPr name="Freeform 46" id="46"/>
            <p:cNvSpPr/>
            <p:nvPr/>
          </p:nvSpPr>
          <p:spPr>
            <a:xfrm flipH="false" flipV="false" rot="0">
              <a:off x="0" y="0"/>
              <a:ext cx="3754405" cy="1435734"/>
            </a:xfrm>
            <a:custGeom>
              <a:avLst/>
              <a:gdLst/>
              <a:ahLst/>
              <a:cxnLst/>
              <a:rect r="r" b="b" t="t" l="l"/>
              <a:pathLst>
                <a:path h="1435734" w="3754405">
                  <a:moveTo>
                    <a:pt x="13578" y="0"/>
                  </a:moveTo>
                  <a:lnTo>
                    <a:pt x="3740828" y="0"/>
                  </a:lnTo>
                  <a:cubicBezTo>
                    <a:pt x="3748327" y="0"/>
                    <a:pt x="3754405" y="6079"/>
                    <a:pt x="3754405" y="13578"/>
                  </a:cubicBezTo>
                  <a:lnTo>
                    <a:pt x="3754405" y="1422156"/>
                  </a:lnTo>
                  <a:cubicBezTo>
                    <a:pt x="3754405" y="1425757"/>
                    <a:pt x="3752975" y="1429211"/>
                    <a:pt x="3750428" y="1431757"/>
                  </a:cubicBezTo>
                  <a:cubicBezTo>
                    <a:pt x="3747882" y="1434303"/>
                    <a:pt x="3744429" y="1435734"/>
                    <a:pt x="3740828" y="1435734"/>
                  </a:cubicBezTo>
                  <a:lnTo>
                    <a:pt x="13578" y="1435734"/>
                  </a:lnTo>
                  <a:cubicBezTo>
                    <a:pt x="9977" y="1435734"/>
                    <a:pt x="6523" y="1434303"/>
                    <a:pt x="3977" y="1431757"/>
                  </a:cubicBezTo>
                  <a:cubicBezTo>
                    <a:pt x="1430" y="1429211"/>
                    <a:pt x="0" y="1425757"/>
                    <a:pt x="0" y="1422156"/>
                  </a:cubicBezTo>
                  <a:lnTo>
                    <a:pt x="0" y="13578"/>
                  </a:lnTo>
                  <a:cubicBezTo>
                    <a:pt x="0" y="9977"/>
                    <a:pt x="1430" y="6523"/>
                    <a:pt x="3977" y="3977"/>
                  </a:cubicBezTo>
                  <a:cubicBezTo>
                    <a:pt x="6523" y="1430"/>
                    <a:pt x="9977" y="0"/>
                    <a:pt x="13578" y="0"/>
                  </a:cubicBezTo>
                  <a:close/>
                </a:path>
              </a:pathLst>
            </a:custGeom>
            <a:solidFill>
              <a:srgbClr val="106861"/>
            </a:solidFill>
            <a:ln cap="rnd">
              <a:noFill/>
              <a:prstDash val="solid"/>
              <a:round/>
            </a:ln>
          </p:spPr>
        </p:sp>
        <p:sp>
          <p:nvSpPr>
            <p:cNvPr name="TextBox 47" id="47"/>
            <p:cNvSpPr txBox="true"/>
            <p:nvPr/>
          </p:nvSpPr>
          <p:spPr>
            <a:xfrm>
              <a:off x="0" y="-38100"/>
              <a:ext cx="3754405" cy="1473834"/>
            </a:xfrm>
            <a:prstGeom prst="rect">
              <a:avLst/>
            </a:prstGeom>
          </p:spPr>
          <p:txBody>
            <a:bodyPr anchor="ctr" rtlCol="false" tIns="50800" lIns="50800" bIns="50800" rIns="50800"/>
            <a:lstStyle/>
            <a:p>
              <a:pPr algn="ctr" marL="0" indent="0" lvl="0">
                <a:lnSpc>
                  <a:spcPts val="2859"/>
                </a:lnSpc>
                <a:spcBef>
                  <a:spcPct val="0"/>
                </a:spcBef>
              </a:pPr>
            </a:p>
          </p:txBody>
        </p:sp>
      </p:grpSp>
      <p:sp>
        <p:nvSpPr>
          <p:cNvPr name="TextBox 48" id="48"/>
          <p:cNvSpPr txBox="true"/>
          <p:nvPr/>
        </p:nvSpPr>
        <p:spPr>
          <a:xfrm rot="0">
            <a:off x="2532148" y="3996080"/>
            <a:ext cx="12957019" cy="3184525"/>
          </a:xfrm>
          <a:prstGeom prst="rect">
            <a:avLst/>
          </a:prstGeom>
        </p:spPr>
        <p:txBody>
          <a:bodyPr anchor="t" rtlCol="false" tIns="0" lIns="0" bIns="0" rIns="0">
            <a:spAutoFit/>
          </a:bodyPr>
          <a:lstStyle/>
          <a:p>
            <a:pPr algn="just">
              <a:lnSpc>
                <a:spcPts val="4249"/>
              </a:lnSpc>
            </a:pPr>
            <a:r>
              <a:rPr lang="en-US" sz="2499">
                <a:solidFill>
                  <a:srgbClr val="FFFFFF"/>
                </a:solidFill>
                <a:latin typeface="Poppins"/>
                <a:ea typeface="Poppins"/>
                <a:cs typeface="Poppins"/>
                <a:sym typeface="Poppins"/>
              </a:rPr>
              <a:t>This pr</a:t>
            </a:r>
            <a:r>
              <a:rPr lang="en-US" sz="2499">
                <a:solidFill>
                  <a:srgbClr val="FFFFFF"/>
                </a:solidFill>
                <a:latin typeface="Poppins"/>
                <a:ea typeface="Poppins"/>
                <a:cs typeface="Poppins"/>
                <a:sym typeface="Poppins"/>
              </a:rPr>
              <a:t>oject builds a data movement pipeline using Azure Data Factory (ADF) to transfer data from a simulated on-premises Azure SQL Database to Azure Synapse Analytics for analytics and reporting. It ensures efficient data ingestion, transformation, and loading within a cloud environment. Azure DevOps is used for version control and CI/CD, enabling automated updates and deployments, resulting in a scalable and maintainable data engineering solution.</a:t>
            </a:r>
          </a:p>
        </p:txBody>
      </p:sp>
      <p:sp>
        <p:nvSpPr>
          <p:cNvPr name="TextBox 49" id="49"/>
          <p:cNvSpPr txBox="true"/>
          <p:nvPr/>
        </p:nvSpPr>
        <p:spPr>
          <a:xfrm rot="0">
            <a:off x="5559862" y="2721967"/>
            <a:ext cx="7168277" cy="1177925"/>
          </a:xfrm>
          <a:prstGeom prst="rect">
            <a:avLst/>
          </a:prstGeom>
        </p:spPr>
        <p:txBody>
          <a:bodyPr anchor="t" rtlCol="false" tIns="0" lIns="0" bIns="0" rIns="0">
            <a:spAutoFit/>
          </a:bodyPr>
          <a:lstStyle/>
          <a:p>
            <a:pPr algn="ctr" marL="0" indent="0" lvl="0">
              <a:lnSpc>
                <a:spcPts val="9100"/>
              </a:lnSpc>
              <a:spcBef>
                <a:spcPct val="0"/>
              </a:spcBef>
            </a:pPr>
            <a:r>
              <a:rPr lang="en-US" sz="6500" spc="-130">
                <a:solidFill>
                  <a:srgbClr val="FDFBFB"/>
                </a:solidFill>
                <a:latin typeface="Poppins"/>
                <a:ea typeface="Poppins"/>
                <a:cs typeface="Poppins"/>
                <a:sym typeface="Poppins"/>
              </a:rPr>
              <a:t>Project Statement </a:t>
            </a:r>
          </a:p>
        </p:txBody>
      </p:sp>
    </p:spTree>
  </p:cSld>
  <p:clrMapOvr>
    <a:masterClrMapping/>
  </p:clrMapOvr>
  <p:transition spd="slow">
    <p:cover dir="l"/>
  </p:transition>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083134" y="1372970"/>
            <a:ext cx="6830714" cy="2372256"/>
            <a:chOff x="0" y="0"/>
            <a:chExt cx="2286638" cy="794132"/>
          </a:xfrm>
        </p:grpSpPr>
        <p:sp>
          <p:nvSpPr>
            <p:cNvPr name="Freeform 3" id="3"/>
            <p:cNvSpPr/>
            <p:nvPr/>
          </p:nvSpPr>
          <p:spPr>
            <a:xfrm flipH="false" flipV="false" rot="0">
              <a:off x="0" y="0"/>
              <a:ext cx="2286638" cy="794132"/>
            </a:xfrm>
            <a:custGeom>
              <a:avLst/>
              <a:gdLst/>
              <a:ahLst/>
              <a:cxnLst/>
              <a:rect r="r" b="b" t="t" l="l"/>
              <a:pathLst>
                <a:path h="794132" w="2286638">
                  <a:moveTo>
                    <a:pt x="22668" y="0"/>
                  </a:moveTo>
                  <a:lnTo>
                    <a:pt x="2263970" y="0"/>
                  </a:lnTo>
                  <a:cubicBezTo>
                    <a:pt x="2276489" y="0"/>
                    <a:pt x="2286638" y="10149"/>
                    <a:pt x="2286638" y="22668"/>
                  </a:cubicBezTo>
                  <a:lnTo>
                    <a:pt x="2286638" y="771464"/>
                  </a:lnTo>
                  <a:cubicBezTo>
                    <a:pt x="2286638" y="777476"/>
                    <a:pt x="2284250" y="783242"/>
                    <a:pt x="2279998" y="787493"/>
                  </a:cubicBezTo>
                  <a:cubicBezTo>
                    <a:pt x="2275747" y="791744"/>
                    <a:pt x="2269982" y="794132"/>
                    <a:pt x="2263970" y="794132"/>
                  </a:cubicBezTo>
                  <a:lnTo>
                    <a:pt x="22668" y="794132"/>
                  </a:lnTo>
                  <a:cubicBezTo>
                    <a:pt x="16656" y="794132"/>
                    <a:pt x="10890" y="791744"/>
                    <a:pt x="6639" y="787493"/>
                  </a:cubicBezTo>
                  <a:cubicBezTo>
                    <a:pt x="2388" y="783242"/>
                    <a:pt x="0" y="777476"/>
                    <a:pt x="0" y="771464"/>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name="TextBox 4" id="4"/>
            <p:cNvSpPr txBox="true"/>
            <p:nvPr/>
          </p:nvSpPr>
          <p:spPr>
            <a:xfrm>
              <a:off x="0" y="85725"/>
              <a:ext cx="2286638" cy="708407"/>
            </a:xfrm>
            <a:prstGeom prst="rect">
              <a:avLst/>
            </a:prstGeom>
          </p:spPr>
          <p:txBody>
            <a:bodyPr anchor="ctr" rtlCol="false" tIns="50800" lIns="50800" bIns="50800" rIns="50800"/>
            <a:lstStyle/>
            <a:p>
              <a:pPr algn="ctr">
                <a:lnSpc>
                  <a:spcPts val="1925"/>
                </a:lnSpc>
              </a:pPr>
            </a:p>
          </p:txBody>
        </p:sp>
      </p:grpSp>
      <p:grpSp>
        <p:nvGrpSpPr>
          <p:cNvPr name="Group 5" id="5"/>
          <p:cNvGrpSpPr/>
          <p:nvPr/>
        </p:nvGrpSpPr>
        <p:grpSpPr>
          <a:xfrm rot="0">
            <a:off x="10083134" y="4079914"/>
            <a:ext cx="6830714" cy="1787206"/>
            <a:chOff x="0" y="0"/>
            <a:chExt cx="2286638" cy="598282"/>
          </a:xfrm>
        </p:grpSpPr>
        <p:sp>
          <p:nvSpPr>
            <p:cNvPr name="Freeform 6" id="6"/>
            <p:cNvSpPr/>
            <p:nvPr/>
          </p:nvSpPr>
          <p:spPr>
            <a:xfrm flipH="false" flipV="false" rot="0">
              <a:off x="0" y="0"/>
              <a:ext cx="2286638" cy="598282"/>
            </a:xfrm>
            <a:custGeom>
              <a:avLst/>
              <a:gdLst/>
              <a:ahLst/>
              <a:cxnLst/>
              <a:rect r="r" b="b" t="t" l="l"/>
              <a:pathLst>
                <a:path h="598282" w="2286638">
                  <a:moveTo>
                    <a:pt x="22668" y="0"/>
                  </a:moveTo>
                  <a:lnTo>
                    <a:pt x="2263970" y="0"/>
                  </a:lnTo>
                  <a:cubicBezTo>
                    <a:pt x="2276489" y="0"/>
                    <a:pt x="2286638" y="10149"/>
                    <a:pt x="2286638" y="22668"/>
                  </a:cubicBezTo>
                  <a:lnTo>
                    <a:pt x="2286638" y="575614"/>
                  </a:lnTo>
                  <a:cubicBezTo>
                    <a:pt x="2286638" y="581626"/>
                    <a:pt x="2284250" y="587392"/>
                    <a:pt x="2279998" y="591643"/>
                  </a:cubicBezTo>
                  <a:cubicBezTo>
                    <a:pt x="2275747" y="595894"/>
                    <a:pt x="2269982" y="598282"/>
                    <a:pt x="2263970" y="598282"/>
                  </a:cubicBezTo>
                  <a:lnTo>
                    <a:pt x="22668" y="598282"/>
                  </a:lnTo>
                  <a:cubicBezTo>
                    <a:pt x="16656" y="598282"/>
                    <a:pt x="10890" y="595894"/>
                    <a:pt x="6639" y="591643"/>
                  </a:cubicBezTo>
                  <a:cubicBezTo>
                    <a:pt x="2388" y="587392"/>
                    <a:pt x="0" y="581626"/>
                    <a:pt x="0" y="575614"/>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name="TextBox 7" id="7"/>
            <p:cNvSpPr txBox="true"/>
            <p:nvPr/>
          </p:nvSpPr>
          <p:spPr>
            <a:xfrm>
              <a:off x="0" y="85725"/>
              <a:ext cx="2286638" cy="512557"/>
            </a:xfrm>
            <a:prstGeom prst="rect">
              <a:avLst/>
            </a:prstGeom>
          </p:spPr>
          <p:txBody>
            <a:bodyPr anchor="ctr" rtlCol="false" tIns="50800" lIns="50800" bIns="50800" rIns="50800"/>
            <a:lstStyle/>
            <a:p>
              <a:pPr algn="ctr">
                <a:lnSpc>
                  <a:spcPts val="1925"/>
                </a:lnSpc>
              </a:pPr>
            </a:p>
          </p:txBody>
        </p:sp>
      </p:grpSp>
      <p:grpSp>
        <p:nvGrpSpPr>
          <p:cNvPr name="Group 8" id="8"/>
          <p:cNvGrpSpPr/>
          <p:nvPr/>
        </p:nvGrpSpPr>
        <p:grpSpPr>
          <a:xfrm rot="0">
            <a:off x="10083134" y="6200495"/>
            <a:ext cx="6830714" cy="1884714"/>
            <a:chOff x="0" y="0"/>
            <a:chExt cx="2286638" cy="630924"/>
          </a:xfrm>
        </p:grpSpPr>
        <p:sp>
          <p:nvSpPr>
            <p:cNvPr name="Freeform 9" id="9"/>
            <p:cNvSpPr/>
            <p:nvPr/>
          </p:nvSpPr>
          <p:spPr>
            <a:xfrm flipH="false" flipV="false" rot="0">
              <a:off x="0" y="0"/>
              <a:ext cx="2286638" cy="630924"/>
            </a:xfrm>
            <a:custGeom>
              <a:avLst/>
              <a:gdLst/>
              <a:ahLst/>
              <a:cxnLst/>
              <a:rect r="r" b="b" t="t" l="l"/>
              <a:pathLst>
                <a:path h="630924" w="2286638">
                  <a:moveTo>
                    <a:pt x="22668" y="0"/>
                  </a:moveTo>
                  <a:lnTo>
                    <a:pt x="2263970" y="0"/>
                  </a:lnTo>
                  <a:cubicBezTo>
                    <a:pt x="2276489" y="0"/>
                    <a:pt x="2286638" y="10149"/>
                    <a:pt x="2286638" y="22668"/>
                  </a:cubicBezTo>
                  <a:lnTo>
                    <a:pt x="2286638" y="608256"/>
                  </a:lnTo>
                  <a:cubicBezTo>
                    <a:pt x="2286638" y="614268"/>
                    <a:pt x="2284250" y="620033"/>
                    <a:pt x="2279998" y="624284"/>
                  </a:cubicBezTo>
                  <a:cubicBezTo>
                    <a:pt x="2275747" y="628535"/>
                    <a:pt x="2269982" y="630924"/>
                    <a:pt x="2263970" y="630924"/>
                  </a:cubicBezTo>
                  <a:lnTo>
                    <a:pt x="22668" y="630924"/>
                  </a:lnTo>
                  <a:cubicBezTo>
                    <a:pt x="10149" y="630924"/>
                    <a:pt x="0" y="620775"/>
                    <a:pt x="0" y="608256"/>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name="TextBox 10" id="10"/>
            <p:cNvSpPr txBox="true"/>
            <p:nvPr/>
          </p:nvSpPr>
          <p:spPr>
            <a:xfrm>
              <a:off x="0" y="85725"/>
              <a:ext cx="2286638" cy="545199"/>
            </a:xfrm>
            <a:prstGeom prst="rect">
              <a:avLst/>
            </a:prstGeom>
          </p:spPr>
          <p:txBody>
            <a:bodyPr anchor="ctr" rtlCol="false" tIns="50800" lIns="50800" bIns="50800" rIns="50800"/>
            <a:lstStyle/>
            <a:p>
              <a:pPr algn="ctr">
                <a:lnSpc>
                  <a:spcPts val="1925"/>
                </a:lnSpc>
              </a:pPr>
            </a:p>
          </p:txBody>
        </p:sp>
      </p:grpSp>
      <p:grpSp>
        <p:nvGrpSpPr>
          <p:cNvPr name="Group 11" id="11"/>
          <p:cNvGrpSpPr/>
          <p:nvPr/>
        </p:nvGrpSpPr>
        <p:grpSpPr>
          <a:xfrm rot="0">
            <a:off x="-514350" y="4079914"/>
            <a:ext cx="8985356" cy="5178386"/>
            <a:chOff x="0" y="0"/>
            <a:chExt cx="2366514" cy="1363855"/>
          </a:xfrm>
        </p:grpSpPr>
        <p:sp>
          <p:nvSpPr>
            <p:cNvPr name="Freeform 12" id="12"/>
            <p:cNvSpPr/>
            <p:nvPr/>
          </p:nvSpPr>
          <p:spPr>
            <a:xfrm flipH="false" flipV="false" rot="0">
              <a:off x="0" y="0"/>
              <a:ext cx="2366514" cy="1363855"/>
            </a:xfrm>
            <a:custGeom>
              <a:avLst/>
              <a:gdLst/>
              <a:ahLst/>
              <a:cxnLst/>
              <a:rect r="r" b="b" t="t" l="l"/>
              <a:pathLst>
                <a:path h="1363855" w="2366514">
                  <a:moveTo>
                    <a:pt x="0" y="0"/>
                  </a:moveTo>
                  <a:lnTo>
                    <a:pt x="2366514" y="0"/>
                  </a:lnTo>
                  <a:lnTo>
                    <a:pt x="2366514" y="1363855"/>
                  </a:lnTo>
                  <a:lnTo>
                    <a:pt x="0" y="1363855"/>
                  </a:lnTo>
                  <a:close/>
                </a:path>
              </a:pathLst>
            </a:custGeom>
            <a:solidFill>
              <a:srgbClr val="106861"/>
            </a:solidFill>
          </p:spPr>
        </p:sp>
        <p:sp>
          <p:nvSpPr>
            <p:cNvPr name="TextBox 13" id="13"/>
            <p:cNvSpPr txBox="true"/>
            <p:nvPr/>
          </p:nvSpPr>
          <p:spPr>
            <a:xfrm>
              <a:off x="0" y="-38100"/>
              <a:ext cx="2366514" cy="1401955"/>
            </a:xfrm>
            <a:prstGeom prst="rect">
              <a:avLst/>
            </a:prstGeom>
          </p:spPr>
          <p:txBody>
            <a:bodyPr anchor="ctr" rtlCol="false" tIns="50800" lIns="50800" bIns="50800" rIns="50800"/>
            <a:lstStyle/>
            <a:p>
              <a:pPr algn="ctr">
                <a:lnSpc>
                  <a:spcPts val="2859"/>
                </a:lnSpc>
              </a:pPr>
            </a:p>
          </p:txBody>
        </p:sp>
      </p:grpSp>
      <p:sp>
        <p:nvSpPr>
          <p:cNvPr name="TextBox 14" id="14"/>
          <p:cNvSpPr txBox="true"/>
          <p:nvPr/>
        </p:nvSpPr>
        <p:spPr>
          <a:xfrm rot="0">
            <a:off x="1321225" y="1344395"/>
            <a:ext cx="4173977"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Project Overview</a:t>
            </a:r>
          </a:p>
        </p:txBody>
      </p:sp>
      <p:sp>
        <p:nvSpPr>
          <p:cNvPr name="TextBox 15" id="15"/>
          <p:cNvSpPr txBox="true"/>
          <p:nvPr/>
        </p:nvSpPr>
        <p:spPr>
          <a:xfrm rot="0">
            <a:off x="10695084" y="1428798"/>
            <a:ext cx="5606815" cy="2117725"/>
          </a:xfrm>
          <a:prstGeom prst="rect">
            <a:avLst/>
          </a:prstGeom>
        </p:spPr>
        <p:txBody>
          <a:bodyPr anchor="t" rtlCol="false" tIns="0" lIns="0" bIns="0" rIns="0">
            <a:spAutoFit/>
          </a:bodyPr>
          <a:lstStyle/>
          <a:p>
            <a:pPr algn="ctr" marL="0" indent="0" lvl="0">
              <a:lnSpc>
                <a:spcPts val="4249"/>
              </a:lnSpc>
            </a:pPr>
            <a:r>
              <a:rPr lang="en-US" sz="2499">
                <a:solidFill>
                  <a:srgbClr val="1C2120"/>
                </a:solidFill>
                <a:latin typeface="Poppins"/>
                <a:ea typeface="Poppins"/>
                <a:cs typeface="Poppins"/>
                <a:sym typeface="Poppins"/>
              </a:rPr>
              <a:t>Enabl</a:t>
            </a:r>
            <a:r>
              <a:rPr lang="en-US" sz="2499" u="none">
                <a:solidFill>
                  <a:srgbClr val="1C2120"/>
                </a:solidFill>
                <a:latin typeface="Poppins"/>
                <a:ea typeface="Poppins"/>
                <a:cs typeface="Poppins"/>
                <a:sym typeface="Poppins"/>
              </a:rPr>
              <a:t>es structured data movement from an on-prem environment to a cloud analytics platform for reporting and BI.</a:t>
            </a:r>
          </a:p>
        </p:txBody>
      </p:sp>
      <p:sp>
        <p:nvSpPr>
          <p:cNvPr name="TextBox 16" id="16"/>
          <p:cNvSpPr txBox="true"/>
          <p:nvPr/>
        </p:nvSpPr>
        <p:spPr>
          <a:xfrm rot="0">
            <a:off x="10695084" y="4375960"/>
            <a:ext cx="5606815" cy="1050925"/>
          </a:xfrm>
          <a:prstGeom prst="rect">
            <a:avLst/>
          </a:prstGeom>
        </p:spPr>
        <p:txBody>
          <a:bodyPr anchor="t" rtlCol="false" tIns="0" lIns="0" bIns="0" rIns="0">
            <a:spAutoFit/>
          </a:bodyPr>
          <a:lstStyle/>
          <a:p>
            <a:pPr algn="ctr" marL="0" indent="0" lvl="0">
              <a:lnSpc>
                <a:spcPts val="4249"/>
              </a:lnSpc>
            </a:pPr>
            <a:r>
              <a:rPr lang="en-US" sz="2499" spc="39">
                <a:solidFill>
                  <a:srgbClr val="1C2120"/>
                </a:solidFill>
                <a:latin typeface="Poppins"/>
                <a:ea typeface="Poppins"/>
                <a:cs typeface="Poppins"/>
                <a:sym typeface="Poppins"/>
              </a:rPr>
              <a:t>ADF</a:t>
            </a:r>
            <a:r>
              <a:rPr lang="en-US" sz="2499" spc="39" u="none">
                <a:solidFill>
                  <a:srgbClr val="1C2120"/>
                </a:solidFill>
                <a:latin typeface="Poppins"/>
                <a:ea typeface="Poppins"/>
                <a:cs typeface="Poppins"/>
                <a:sym typeface="Poppins"/>
              </a:rPr>
              <a:t> manages extraction, transformation, and loading (ETL).</a:t>
            </a:r>
          </a:p>
        </p:txBody>
      </p:sp>
      <p:sp>
        <p:nvSpPr>
          <p:cNvPr name="TextBox 17" id="17"/>
          <p:cNvSpPr txBox="true"/>
          <p:nvPr/>
        </p:nvSpPr>
        <p:spPr>
          <a:xfrm rot="0">
            <a:off x="10846810" y="6327876"/>
            <a:ext cx="5303363" cy="1496603"/>
          </a:xfrm>
          <a:prstGeom prst="rect">
            <a:avLst/>
          </a:prstGeom>
        </p:spPr>
        <p:txBody>
          <a:bodyPr anchor="t" rtlCol="false" tIns="0" lIns="0" bIns="0" rIns="0">
            <a:spAutoFit/>
          </a:bodyPr>
          <a:lstStyle/>
          <a:p>
            <a:pPr algn="ctr" marL="0" indent="0" lvl="0">
              <a:lnSpc>
                <a:spcPts val="4048"/>
              </a:lnSpc>
            </a:pPr>
            <a:r>
              <a:rPr lang="en-US" sz="2381" spc="38">
                <a:solidFill>
                  <a:srgbClr val="1C2120"/>
                </a:solidFill>
                <a:latin typeface="Poppins"/>
                <a:ea typeface="Poppins"/>
                <a:cs typeface="Poppins"/>
                <a:sym typeface="Poppins"/>
              </a:rPr>
              <a:t>D</a:t>
            </a:r>
            <a:r>
              <a:rPr lang="en-US" sz="2381" spc="38" u="none">
                <a:solidFill>
                  <a:srgbClr val="1C2120"/>
                </a:solidFill>
                <a:latin typeface="Poppins"/>
                <a:ea typeface="Poppins"/>
                <a:cs typeface="Poppins"/>
                <a:sym typeface="Poppins"/>
              </a:rPr>
              <a:t>evOps ensures code versioning, continuous integration, and automated deployments.</a:t>
            </a:r>
          </a:p>
        </p:txBody>
      </p:sp>
    </p:spTree>
  </p:cSld>
  <p:clrMapOvr>
    <a:masterClrMapping/>
  </p:clrMapOvr>
  <p:transition spd="slow">
    <p:cover dir="r"/>
  </p:transition>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670300"/>
            <a:ext cx="5660979" cy="101155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Prerequisites</a:t>
            </a:r>
          </a:p>
        </p:txBody>
      </p:sp>
      <p:grpSp>
        <p:nvGrpSpPr>
          <p:cNvPr name="Group 3" id="3"/>
          <p:cNvGrpSpPr/>
          <p:nvPr/>
        </p:nvGrpSpPr>
        <p:grpSpPr>
          <a:xfrm rot="0">
            <a:off x="-141035" y="4566799"/>
            <a:ext cx="20530640" cy="5199999"/>
            <a:chOff x="0" y="0"/>
            <a:chExt cx="6872801" cy="1740742"/>
          </a:xfrm>
        </p:grpSpPr>
        <p:sp>
          <p:nvSpPr>
            <p:cNvPr name="Freeform 4" id="4"/>
            <p:cNvSpPr/>
            <p:nvPr/>
          </p:nvSpPr>
          <p:spPr>
            <a:xfrm flipH="false" flipV="false" rot="0">
              <a:off x="0" y="0"/>
              <a:ext cx="6872801" cy="1740742"/>
            </a:xfrm>
            <a:custGeom>
              <a:avLst/>
              <a:gdLst/>
              <a:ahLst/>
              <a:cxnLst/>
              <a:rect r="r" b="b" t="t" l="l"/>
              <a:pathLst>
                <a:path h="1740742" w="6872801">
                  <a:moveTo>
                    <a:pt x="0" y="0"/>
                  </a:moveTo>
                  <a:lnTo>
                    <a:pt x="6872801" y="0"/>
                  </a:lnTo>
                  <a:lnTo>
                    <a:pt x="6872801" y="1740742"/>
                  </a:lnTo>
                  <a:lnTo>
                    <a:pt x="0" y="1740742"/>
                  </a:lnTo>
                  <a:close/>
                </a:path>
              </a:pathLst>
            </a:custGeom>
            <a:solidFill>
              <a:srgbClr val="AAD7D4"/>
            </a:solidFill>
            <a:ln cap="sq">
              <a:noFill/>
              <a:prstDash val="solid"/>
              <a:miter/>
            </a:ln>
          </p:spPr>
        </p:sp>
        <p:sp>
          <p:nvSpPr>
            <p:cNvPr name="TextBox 5" id="5"/>
            <p:cNvSpPr txBox="true"/>
            <p:nvPr/>
          </p:nvSpPr>
          <p:spPr>
            <a:xfrm>
              <a:off x="0" y="85725"/>
              <a:ext cx="6872801" cy="1655017"/>
            </a:xfrm>
            <a:prstGeom prst="rect">
              <a:avLst/>
            </a:prstGeom>
          </p:spPr>
          <p:txBody>
            <a:bodyPr anchor="ctr" rtlCol="false" tIns="50800" lIns="50800" bIns="50800" rIns="50800"/>
            <a:lstStyle/>
            <a:p>
              <a:pPr algn="ctr">
                <a:lnSpc>
                  <a:spcPts val="1925"/>
                </a:lnSpc>
              </a:pPr>
            </a:p>
          </p:txBody>
        </p:sp>
      </p:grpSp>
      <p:grpSp>
        <p:nvGrpSpPr>
          <p:cNvPr name="Group 6" id="6"/>
          <p:cNvGrpSpPr/>
          <p:nvPr/>
        </p:nvGrpSpPr>
        <p:grpSpPr>
          <a:xfrm rot="0">
            <a:off x="7486358" y="1698875"/>
            <a:ext cx="10439445" cy="4224691"/>
            <a:chOff x="0" y="0"/>
            <a:chExt cx="2749484" cy="1112676"/>
          </a:xfrm>
        </p:grpSpPr>
        <p:sp>
          <p:nvSpPr>
            <p:cNvPr name="Freeform 7" id="7"/>
            <p:cNvSpPr/>
            <p:nvPr/>
          </p:nvSpPr>
          <p:spPr>
            <a:xfrm flipH="false" flipV="false" rot="0">
              <a:off x="0" y="0"/>
              <a:ext cx="2749484" cy="1112676"/>
            </a:xfrm>
            <a:custGeom>
              <a:avLst/>
              <a:gdLst/>
              <a:ahLst/>
              <a:cxnLst/>
              <a:rect r="r" b="b" t="t" l="l"/>
              <a:pathLst>
                <a:path h="1112676" w="2749484">
                  <a:moveTo>
                    <a:pt x="22248" y="0"/>
                  </a:moveTo>
                  <a:lnTo>
                    <a:pt x="2727235" y="0"/>
                  </a:lnTo>
                  <a:cubicBezTo>
                    <a:pt x="2733136" y="0"/>
                    <a:pt x="2738795" y="2344"/>
                    <a:pt x="2742967" y="6516"/>
                  </a:cubicBezTo>
                  <a:cubicBezTo>
                    <a:pt x="2747139" y="10689"/>
                    <a:pt x="2749484" y="16348"/>
                    <a:pt x="2749484" y="22248"/>
                  </a:cubicBezTo>
                  <a:lnTo>
                    <a:pt x="2749484" y="1090428"/>
                  </a:lnTo>
                  <a:cubicBezTo>
                    <a:pt x="2749484" y="1102715"/>
                    <a:pt x="2739523" y="1112676"/>
                    <a:pt x="2727235" y="1112676"/>
                  </a:cubicBezTo>
                  <a:lnTo>
                    <a:pt x="22248" y="1112676"/>
                  </a:lnTo>
                  <a:cubicBezTo>
                    <a:pt x="9961" y="1112676"/>
                    <a:pt x="0" y="1102715"/>
                    <a:pt x="0" y="1090428"/>
                  </a:cubicBezTo>
                  <a:lnTo>
                    <a:pt x="0" y="22248"/>
                  </a:lnTo>
                  <a:cubicBezTo>
                    <a:pt x="0" y="9961"/>
                    <a:pt x="9961" y="0"/>
                    <a:pt x="22248" y="0"/>
                  </a:cubicBezTo>
                  <a:close/>
                </a:path>
              </a:pathLst>
            </a:custGeom>
            <a:solidFill>
              <a:srgbClr val="106861"/>
            </a:solidFill>
            <a:ln cap="rnd">
              <a:noFill/>
              <a:prstDash val="solid"/>
              <a:round/>
            </a:ln>
          </p:spPr>
        </p:sp>
        <p:sp>
          <p:nvSpPr>
            <p:cNvPr name="TextBox 8" id="8"/>
            <p:cNvSpPr txBox="true"/>
            <p:nvPr/>
          </p:nvSpPr>
          <p:spPr>
            <a:xfrm>
              <a:off x="0" y="-38100"/>
              <a:ext cx="2749484" cy="1150776"/>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8184018" y="2471371"/>
            <a:ext cx="9044124" cy="2470150"/>
          </a:xfrm>
          <a:prstGeom prst="rect">
            <a:avLst/>
          </a:prstGeom>
        </p:spPr>
        <p:txBody>
          <a:bodyPr anchor="t" rtlCol="false" tIns="0" lIns="0" bIns="0" rIns="0">
            <a:spAutoFit/>
          </a:bodyPr>
          <a:lstStyle/>
          <a:p>
            <a:pPr algn="l" marL="539749" indent="-269875" lvl="1">
              <a:lnSpc>
                <a:spcPts val="4999"/>
              </a:lnSpc>
              <a:buFont typeface="Arial"/>
              <a:buChar char="•"/>
            </a:pPr>
            <a:r>
              <a:rPr lang="en-US" sz="2499">
                <a:solidFill>
                  <a:srgbClr val="FDFBFB"/>
                </a:solidFill>
                <a:latin typeface="Poppins"/>
                <a:ea typeface="Poppins"/>
                <a:cs typeface="Poppins"/>
                <a:sym typeface="Poppins"/>
              </a:rPr>
              <a:t>Azure Subscripti</a:t>
            </a:r>
            <a:r>
              <a:rPr lang="en-US" sz="2499">
                <a:solidFill>
                  <a:srgbClr val="FDFBFB"/>
                </a:solidFill>
                <a:latin typeface="Poppins"/>
                <a:ea typeface="Poppins"/>
                <a:cs typeface="Poppins"/>
                <a:sym typeface="Poppins"/>
              </a:rPr>
              <a:t>on to create required services.</a:t>
            </a:r>
          </a:p>
          <a:p>
            <a:pPr algn="l" marL="539749" indent="-269875" lvl="1">
              <a:lnSpc>
                <a:spcPts val="4999"/>
              </a:lnSpc>
              <a:buFont typeface="Arial"/>
              <a:buChar char="•"/>
            </a:pPr>
            <a:r>
              <a:rPr lang="en-US" sz="2499">
                <a:solidFill>
                  <a:srgbClr val="FDFBFB"/>
                </a:solidFill>
                <a:latin typeface="Poppins"/>
                <a:ea typeface="Poppins"/>
                <a:cs typeface="Poppins"/>
                <a:sym typeface="Poppins"/>
              </a:rPr>
              <a:t>Azure DevOps account for source control and CI/CD.</a:t>
            </a:r>
          </a:p>
          <a:p>
            <a:pPr algn="l" marL="539749" indent="-269875" lvl="1">
              <a:lnSpc>
                <a:spcPts val="4999"/>
              </a:lnSpc>
              <a:buFont typeface="Arial"/>
              <a:buChar char="•"/>
            </a:pPr>
            <a:r>
              <a:rPr lang="en-US" sz="2499">
                <a:solidFill>
                  <a:srgbClr val="FDFBFB"/>
                </a:solidFill>
                <a:latin typeface="Poppins"/>
                <a:ea typeface="Poppins"/>
                <a:cs typeface="Poppins"/>
                <a:sym typeface="Poppins"/>
              </a:rPr>
              <a:t>Knowledge of SQL (for querying data), Pipelines (for workflow creation), and Git (for version control).</a:t>
            </a:r>
          </a:p>
        </p:txBody>
      </p:sp>
    </p:spTree>
  </p:cSld>
  <p:clrMapOvr>
    <a:masterClrMapping/>
  </p:clrMapOvr>
  <p:transition spd="slow">
    <p:cover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386495" y="1219505"/>
            <a:ext cx="990692" cy="990692"/>
          </a:xfrm>
          <a:custGeom>
            <a:avLst/>
            <a:gdLst/>
            <a:ahLst/>
            <a:cxnLst/>
            <a:rect r="r" b="b" t="t" l="l"/>
            <a:pathLst>
              <a:path h="990692" w="990692">
                <a:moveTo>
                  <a:pt x="0" y="0"/>
                </a:moveTo>
                <a:lnTo>
                  <a:pt x="990692" y="0"/>
                </a:lnTo>
                <a:lnTo>
                  <a:pt x="990692" y="990692"/>
                </a:lnTo>
                <a:lnTo>
                  <a:pt x="0" y="990692"/>
                </a:lnTo>
                <a:lnTo>
                  <a:pt x="0" y="0"/>
                </a:lnTo>
                <a:close/>
              </a:path>
            </a:pathLst>
          </a:custGeom>
          <a:blipFill>
            <a:blip r:embed="rId2"/>
            <a:stretch>
              <a:fillRect l="0" t="0" r="0" b="0"/>
            </a:stretch>
          </a:blipFill>
        </p:spPr>
      </p:sp>
      <p:sp>
        <p:nvSpPr>
          <p:cNvPr name="Freeform 3" id="3"/>
          <p:cNvSpPr/>
          <p:nvPr/>
        </p:nvSpPr>
        <p:spPr>
          <a:xfrm flipH="false" flipV="false" rot="0">
            <a:off x="7433815" y="4359861"/>
            <a:ext cx="943372" cy="943372"/>
          </a:xfrm>
          <a:custGeom>
            <a:avLst/>
            <a:gdLst/>
            <a:ahLst/>
            <a:cxnLst/>
            <a:rect r="r" b="b" t="t" l="l"/>
            <a:pathLst>
              <a:path h="943372" w="943372">
                <a:moveTo>
                  <a:pt x="0" y="0"/>
                </a:moveTo>
                <a:lnTo>
                  <a:pt x="943372" y="0"/>
                </a:lnTo>
                <a:lnTo>
                  <a:pt x="943372" y="943372"/>
                </a:lnTo>
                <a:lnTo>
                  <a:pt x="0" y="943372"/>
                </a:lnTo>
                <a:lnTo>
                  <a:pt x="0" y="0"/>
                </a:lnTo>
                <a:close/>
              </a:path>
            </a:pathLst>
          </a:custGeom>
          <a:blipFill>
            <a:blip r:embed="rId3"/>
            <a:stretch>
              <a:fillRect l="0" t="0" r="0" b="0"/>
            </a:stretch>
          </a:blipFill>
        </p:spPr>
      </p:sp>
      <p:sp>
        <p:nvSpPr>
          <p:cNvPr name="Freeform 4" id="4"/>
          <p:cNvSpPr/>
          <p:nvPr/>
        </p:nvSpPr>
        <p:spPr>
          <a:xfrm flipH="false" flipV="false" rot="0">
            <a:off x="7429648" y="5884258"/>
            <a:ext cx="947539" cy="947539"/>
          </a:xfrm>
          <a:custGeom>
            <a:avLst/>
            <a:gdLst/>
            <a:ahLst/>
            <a:cxnLst/>
            <a:rect r="r" b="b" t="t" l="l"/>
            <a:pathLst>
              <a:path h="947539" w="947539">
                <a:moveTo>
                  <a:pt x="0" y="0"/>
                </a:moveTo>
                <a:lnTo>
                  <a:pt x="947539" y="0"/>
                </a:lnTo>
                <a:lnTo>
                  <a:pt x="947539" y="947539"/>
                </a:lnTo>
                <a:lnTo>
                  <a:pt x="0" y="947539"/>
                </a:lnTo>
                <a:lnTo>
                  <a:pt x="0" y="0"/>
                </a:lnTo>
                <a:close/>
              </a:path>
            </a:pathLst>
          </a:custGeom>
          <a:blipFill>
            <a:blip r:embed="rId4"/>
            <a:stretch>
              <a:fillRect l="0" t="0" r="0" b="0"/>
            </a:stretch>
          </a:blipFill>
        </p:spPr>
      </p:sp>
      <p:sp>
        <p:nvSpPr>
          <p:cNvPr name="Freeform 5" id="5"/>
          <p:cNvSpPr/>
          <p:nvPr/>
        </p:nvSpPr>
        <p:spPr>
          <a:xfrm flipH="false" flipV="false" rot="0">
            <a:off x="7433815" y="7412822"/>
            <a:ext cx="990692" cy="990692"/>
          </a:xfrm>
          <a:custGeom>
            <a:avLst/>
            <a:gdLst/>
            <a:ahLst/>
            <a:cxnLst/>
            <a:rect r="r" b="b" t="t" l="l"/>
            <a:pathLst>
              <a:path h="990692" w="990692">
                <a:moveTo>
                  <a:pt x="0" y="0"/>
                </a:moveTo>
                <a:lnTo>
                  <a:pt x="990692" y="0"/>
                </a:lnTo>
                <a:lnTo>
                  <a:pt x="990692" y="990693"/>
                </a:lnTo>
                <a:lnTo>
                  <a:pt x="0" y="990693"/>
                </a:lnTo>
                <a:lnTo>
                  <a:pt x="0" y="0"/>
                </a:lnTo>
                <a:close/>
              </a:path>
            </a:pathLst>
          </a:custGeom>
          <a:blipFill>
            <a:blip r:embed="rId5"/>
            <a:stretch>
              <a:fillRect l="0" t="0" r="0" b="0"/>
            </a:stretch>
          </a:blipFill>
        </p:spPr>
      </p:sp>
      <p:sp>
        <p:nvSpPr>
          <p:cNvPr name="Freeform 6" id="6"/>
          <p:cNvSpPr/>
          <p:nvPr/>
        </p:nvSpPr>
        <p:spPr>
          <a:xfrm flipH="false" flipV="false" rot="0">
            <a:off x="7386495" y="2788144"/>
            <a:ext cx="990692" cy="990692"/>
          </a:xfrm>
          <a:custGeom>
            <a:avLst/>
            <a:gdLst/>
            <a:ahLst/>
            <a:cxnLst/>
            <a:rect r="r" b="b" t="t" l="l"/>
            <a:pathLst>
              <a:path h="990692" w="990692">
                <a:moveTo>
                  <a:pt x="0" y="0"/>
                </a:moveTo>
                <a:lnTo>
                  <a:pt x="990692" y="0"/>
                </a:lnTo>
                <a:lnTo>
                  <a:pt x="990692" y="990692"/>
                </a:lnTo>
                <a:lnTo>
                  <a:pt x="0" y="990692"/>
                </a:lnTo>
                <a:lnTo>
                  <a:pt x="0" y="0"/>
                </a:lnTo>
                <a:close/>
              </a:path>
            </a:pathLst>
          </a:custGeom>
          <a:blipFill>
            <a:blip r:embed="rId6"/>
            <a:stretch>
              <a:fillRect l="0" t="0" r="0" b="0"/>
            </a:stretch>
          </a:blipFill>
        </p:spPr>
      </p:sp>
      <p:sp>
        <p:nvSpPr>
          <p:cNvPr name="Freeform 7" id="7"/>
          <p:cNvSpPr/>
          <p:nvPr/>
        </p:nvSpPr>
        <p:spPr>
          <a:xfrm flipH="false" flipV="false" rot="0">
            <a:off x="6208867" y="7473842"/>
            <a:ext cx="929673" cy="929673"/>
          </a:xfrm>
          <a:custGeom>
            <a:avLst/>
            <a:gdLst/>
            <a:ahLst/>
            <a:cxnLst/>
            <a:rect r="r" b="b" t="t" l="l"/>
            <a:pathLst>
              <a:path h="929673" w="929673">
                <a:moveTo>
                  <a:pt x="0" y="0"/>
                </a:moveTo>
                <a:lnTo>
                  <a:pt x="929673" y="0"/>
                </a:lnTo>
                <a:lnTo>
                  <a:pt x="929673" y="929673"/>
                </a:lnTo>
                <a:lnTo>
                  <a:pt x="0" y="929673"/>
                </a:lnTo>
                <a:lnTo>
                  <a:pt x="0" y="0"/>
                </a:lnTo>
                <a:close/>
              </a:path>
            </a:pathLst>
          </a:custGeom>
          <a:blipFill>
            <a:blip r:embed="rId7"/>
            <a:stretch>
              <a:fillRect l="0" t="0" r="0" b="0"/>
            </a:stretch>
          </a:blipFill>
        </p:spPr>
      </p:sp>
      <p:sp>
        <p:nvSpPr>
          <p:cNvPr name="Freeform 8" id="8"/>
          <p:cNvSpPr/>
          <p:nvPr/>
        </p:nvSpPr>
        <p:spPr>
          <a:xfrm flipH="false" flipV="false" rot="0">
            <a:off x="4983920" y="7426521"/>
            <a:ext cx="929673" cy="929673"/>
          </a:xfrm>
          <a:custGeom>
            <a:avLst/>
            <a:gdLst/>
            <a:ahLst/>
            <a:cxnLst/>
            <a:rect r="r" b="b" t="t" l="l"/>
            <a:pathLst>
              <a:path h="929673" w="929673">
                <a:moveTo>
                  <a:pt x="0" y="0"/>
                </a:moveTo>
                <a:lnTo>
                  <a:pt x="929672" y="0"/>
                </a:lnTo>
                <a:lnTo>
                  <a:pt x="929672" y="929673"/>
                </a:lnTo>
                <a:lnTo>
                  <a:pt x="0" y="929673"/>
                </a:lnTo>
                <a:lnTo>
                  <a:pt x="0" y="0"/>
                </a:lnTo>
                <a:close/>
              </a:path>
            </a:pathLst>
          </a:custGeom>
          <a:blipFill>
            <a:blip r:embed="rId8"/>
            <a:stretch>
              <a:fillRect l="0" t="0" r="0" b="0"/>
            </a:stretch>
          </a:blipFill>
        </p:spPr>
      </p:sp>
      <p:sp>
        <p:nvSpPr>
          <p:cNvPr name="TextBox 9" id="9"/>
          <p:cNvSpPr txBox="true"/>
          <p:nvPr/>
        </p:nvSpPr>
        <p:spPr>
          <a:xfrm rot="0">
            <a:off x="1491865" y="1360898"/>
            <a:ext cx="4511619" cy="2513965"/>
          </a:xfrm>
          <a:prstGeom prst="rect">
            <a:avLst/>
          </a:prstGeom>
        </p:spPr>
        <p:txBody>
          <a:bodyPr anchor="t" rtlCol="false" tIns="0" lIns="0" bIns="0" rIns="0">
            <a:spAutoFit/>
          </a:bodyPr>
          <a:lstStyle/>
          <a:p>
            <a:pPr algn="l" marL="0" indent="0" lvl="1">
              <a:lnSpc>
                <a:spcPts val="6305"/>
              </a:lnSpc>
              <a:spcBef>
                <a:spcPct val="0"/>
              </a:spcBef>
            </a:pPr>
            <a:r>
              <a:rPr lang="en-US" b="true" sz="6500">
                <a:solidFill>
                  <a:srgbClr val="1C2120"/>
                </a:solidFill>
                <a:latin typeface="Poppins Bold"/>
                <a:ea typeface="Poppins Bold"/>
                <a:cs typeface="Poppins Bold"/>
                <a:sym typeface="Poppins Bold"/>
              </a:rPr>
              <a:t>Azure Resources Used</a:t>
            </a:r>
          </a:p>
        </p:txBody>
      </p:sp>
      <p:sp>
        <p:nvSpPr>
          <p:cNvPr name="TextBox 10" id="10"/>
          <p:cNvSpPr txBox="true"/>
          <p:nvPr/>
        </p:nvSpPr>
        <p:spPr>
          <a:xfrm rot="0">
            <a:off x="8900394" y="1398998"/>
            <a:ext cx="7606431" cy="733425"/>
          </a:xfrm>
          <a:prstGeom prst="rect">
            <a:avLst/>
          </a:prstGeom>
        </p:spPr>
        <p:txBody>
          <a:bodyPr anchor="t" rtlCol="false" tIns="0" lIns="0" bIns="0" rIns="0">
            <a:spAutoFit/>
          </a:bodyPr>
          <a:lstStyle/>
          <a:p>
            <a:pPr algn="l">
              <a:lnSpc>
                <a:spcPts val="2849"/>
              </a:lnSpc>
              <a:spcBef>
                <a:spcPct val="0"/>
              </a:spcBef>
            </a:pPr>
            <a:r>
              <a:rPr lang="en-US" sz="2499">
                <a:solidFill>
                  <a:srgbClr val="1C2120"/>
                </a:solidFill>
                <a:latin typeface="Poppins"/>
                <a:ea typeface="Poppins"/>
                <a:cs typeface="Poppins"/>
                <a:sym typeface="Poppins"/>
              </a:rPr>
              <a:t>Az</a:t>
            </a:r>
            <a:r>
              <a:rPr lang="en-US" sz="2499">
                <a:solidFill>
                  <a:srgbClr val="1C2120"/>
                </a:solidFill>
                <a:latin typeface="Poppins"/>
                <a:ea typeface="Poppins"/>
                <a:cs typeface="Poppins"/>
                <a:sym typeface="Poppins"/>
              </a:rPr>
              <a:t>ure Data Factory (ADF) → For orchestrating ETL pipelines and managing data movement.</a:t>
            </a:r>
          </a:p>
        </p:txBody>
      </p:sp>
      <p:sp>
        <p:nvSpPr>
          <p:cNvPr name="TextBox 11" id="11"/>
          <p:cNvSpPr txBox="true"/>
          <p:nvPr/>
        </p:nvSpPr>
        <p:spPr>
          <a:xfrm rot="0">
            <a:off x="8900394" y="2996536"/>
            <a:ext cx="7606431" cy="733425"/>
          </a:xfrm>
          <a:prstGeom prst="rect">
            <a:avLst/>
          </a:prstGeom>
        </p:spPr>
        <p:txBody>
          <a:bodyPr anchor="t" rtlCol="false" tIns="0" lIns="0" bIns="0" rIns="0">
            <a:spAutoFit/>
          </a:bodyPr>
          <a:lstStyle/>
          <a:p>
            <a:pPr algn="l">
              <a:lnSpc>
                <a:spcPts val="2849"/>
              </a:lnSpc>
              <a:spcBef>
                <a:spcPct val="0"/>
              </a:spcBef>
            </a:pPr>
            <a:r>
              <a:rPr lang="en-US" sz="2499">
                <a:solidFill>
                  <a:srgbClr val="1C2120"/>
                </a:solidFill>
                <a:latin typeface="Poppins"/>
                <a:ea typeface="Poppins"/>
                <a:cs typeface="Poppins"/>
                <a:sym typeface="Poppins"/>
              </a:rPr>
              <a:t>Az</a:t>
            </a:r>
            <a:r>
              <a:rPr lang="en-US" sz="2499">
                <a:solidFill>
                  <a:srgbClr val="1C2120"/>
                </a:solidFill>
                <a:latin typeface="Poppins"/>
                <a:ea typeface="Poppins"/>
                <a:cs typeface="Poppins"/>
                <a:sym typeface="Poppins"/>
              </a:rPr>
              <a:t>ure Repos (Git) → Source code repository for pipeline JSONs and configurations</a:t>
            </a:r>
          </a:p>
        </p:txBody>
      </p:sp>
      <p:sp>
        <p:nvSpPr>
          <p:cNvPr name="TextBox 12" id="12"/>
          <p:cNvSpPr txBox="true"/>
          <p:nvPr/>
        </p:nvSpPr>
        <p:spPr>
          <a:xfrm rot="0">
            <a:off x="8900394" y="4522109"/>
            <a:ext cx="7606431" cy="733425"/>
          </a:xfrm>
          <a:prstGeom prst="rect">
            <a:avLst/>
          </a:prstGeom>
        </p:spPr>
        <p:txBody>
          <a:bodyPr anchor="t" rtlCol="false" tIns="0" lIns="0" bIns="0" rIns="0">
            <a:spAutoFit/>
          </a:bodyPr>
          <a:lstStyle/>
          <a:p>
            <a:pPr algn="l">
              <a:lnSpc>
                <a:spcPts val="2849"/>
              </a:lnSpc>
              <a:spcBef>
                <a:spcPct val="0"/>
              </a:spcBef>
            </a:pPr>
            <a:r>
              <a:rPr lang="en-US" sz="2499">
                <a:solidFill>
                  <a:srgbClr val="1C2120"/>
                </a:solidFill>
                <a:latin typeface="Poppins"/>
                <a:ea typeface="Poppins"/>
                <a:cs typeface="Poppins"/>
                <a:sym typeface="Poppins"/>
              </a:rPr>
              <a:t>Az</a:t>
            </a:r>
            <a:r>
              <a:rPr lang="en-US" sz="2499">
                <a:solidFill>
                  <a:srgbClr val="1C2120"/>
                </a:solidFill>
                <a:latin typeface="Poppins"/>
                <a:ea typeface="Poppins"/>
                <a:cs typeface="Poppins"/>
                <a:sym typeface="Poppins"/>
              </a:rPr>
              <a:t>ure DevOps → For CI/CD pipelines, version control, and release management.</a:t>
            </a:r>
          </a:p>
        </p:txBody>
      </p:sp>
      <p:sp>
        <p:nvSpPr>
          <p:cNvPr name="TextBox 13" id="13"/>
          <p:cNvSpPr txBox="true"/>
          <p:nvPr/>
        </p:nvSpPr>
        <p:spPr>
          <a:xfrm rot="0">
            <a:off x="8900394" y="6020599"/>
            <a:ext cx="7606431" cy="733425"/>
          </a:xfrm>
          <a:prstGeom prst="rect">
            <a:avLst/>
          </a:prstGeom>
        </p:spPr>
        <p:txBody>
          <a:bodyPr anchor="t" rtlCol="false" tIns="0" lIns="0" bIns="0" rIns="0">
            <a:spAutoFit/>
          </a:bodyPr>
          <a:lstStyle/>
          <a:p>
            <a:pPr algn="l">
              <a:lnSpc>
                <a:spcPts val="2849"/>
              </a:lnSpc>
              <a:spcBef>
                <a:spcPct val="0"/>
              </a:spcBef>
            </a:pPr>
            <a:r>
              <a:rPr lang="en-US" sz="2499">
                <a:solidFill>
                  <a:srgbClr val="1C2120"/>
                </a:solidFill>
                <a:latin typeface="Poppins"/>
                <a:ea typeface="Poppins"/>
                <a:cs typeface="Poppins"/>
                <a:sym typeface="Poppins"/>
              </a:rPr>
              <a:t>Az</a:t>
            </a:r>
            <a:r>
              <a:rPr lang="en-US" sz="2499">
                <a:solidFill>
                  <a:srgbClr val="1C2120"/>
                </a:solidFill>
                <a:latin typeface="Poppins"/>
                <a:ea typeface="Poppins"/>
                <a:cs typeface="Poppins"/>
                <a:sym typeface="Poppins"/>
              </a:rPr>
              <a:t>ure Key Vault → Secure storage of secrets, keys, and connection strings.</a:t>
            </a:r>
          </a:p>
        </p:txBody>
      </p:sp>
      <p:sp>
        <p:nvSpPr>
          <p:cNvPr name="TextBox 14" id="14"/>
          <p:cNvSpPr txBox="true"/>
          <p:nvPr/>
        </p:nvSpPr>
        <p:spPr>
          <a:xfrm rot="0">
            <a:off x="8900394" y="7544996"/>
            <a:ext cx="7606431" cy="733425"/>
          </a:xfrm>
          <a:prstGeom prst="rect">
            <a:avLst/>
          </a:prstGeom>
        </p:spPr>
        <p:txBody>
          <a:bodyPr anchor="t" rtlCol="false" tIns="0" lIns="0" bIns="0" rIns="0">
            <a:spAutoFit/>
          </a:bodyPr>
          <a:lstStyle/>
          <a:p>
            <a:pPr algn="l">
              <a:lnSpc>
                <a:spcPts val="2849"/>
              </a:lnSpc>
              <a:spcBef>
                <a:spcPct val="0"/>
              </a:spcBef>
            </a:pPr>
            <a:r>
              <a:rPr lang="en-US" sz="2499">
                <a:solidFill>
                  <a:srgbClr val="1C2120"/>
                </a:solidFill>
                <a:latin typeface="Poppins"/>
                <a:ea typeface="Poppins"/>
                <a:cs typeface="Poppins"/>
                <a:sym typeface="Poppins"/>
              </a:rPr>
              <a:t>Az</a:t>
            </a:r>
            <a:r>
              <a:rPr lang="en-US" sz="2499">
                <a:solidFill>
                  <a:srgbClr val="1C2120"/>
                </a:solidFill>
                <a:latin typeface="Poppins"/>
                <a:ea typeface="Poppins"/>
                <a:cs typeface="Poppins"/>
                <a:sym typeface="Poppins"/>
              </a:rPr>
              <a:t>ure SQL Database, Synapse, Storage Account  → Data storage and transformation.</a:t>
            </a:r>
          </a:p>
        </p:txBody>
      </p:sp>
      <p:grpSp>
        <p:nvGrpSpPr>
          <p:cNvPr name="Group 15" id="15"/>
          <p:cNvGrpSpPr/>
          <p:nvPr/>
        </p:nvGrpSpPr>
        <p:grpSpPr>
          <a:xfrm rot="0">
            <a:off x="-141035" y="9127415"/>
            <a:ext cx="20530640" cy="1468205"/>
            <a:chOff x="0" y="0"/>
            <a:chExt cx="6872801" cy="491494"/>
          </a:xfrm>
        </p:grpSpPr>
        <p:sp>
          <p:nvSpPr>
            <p:cNvPr name="Freeform 16" id="16"/>
            <p:cNvSpPr/>
            <p:nvPr/>
          </p:nvSpPr>
          <p:spPr>
            <a:xfrm flipH="false" flipV="false" rot="0">
              <a:off x="0" y="0"/>
              <a:ext cx="6872801" cy="491494"/>
            </a:xfrm>
            <a:custGeom>
              <a:avLst/>
              <a:gdLst/>
              <a:ahLst/>
              <a:cxnLst/>
              <a:rect r="r" b="b" t="t" l="l"/>
              <a:pathLst>
                <a:path h="491494" w="6872801">
                  <a:moveTo>
                    <a:pt x="0" y="0"/>
                  </a:moveTo>
                  <a:lnTo>
                    <a:pt x="6872801" y="0"/>
                  </a:lnTo>
                  <a:lnTo>
                    <a:pt x="6872801" y="491494"/>
                  </a:lnTo>
                  <a:lnTo>
                    <a:pt x="0" y="491494"/>
                  </a:lnTo>
                  <a:close/>
                </a:path>
              </a:pathLst>
            </a:custGeom>
            <a:solidFill>
              <a:srgbClr val="AAD7D4"/>
            </a:solidFill>
            <a:ln cap="sq">
              <a:noFill/>
              <a:prstDash val="solid"/>
              <a:miter/>
            </a:ln>
          </p:spPr>
        </p:sp>
        <p:sp>
          <p:nvSpPr>
            <p:cNvPr name="TextBox 17" id="17"/>
            <p:cNvSpPr txBox="true"/>
            <p:nvPr/>
          </p:nvSpPr>
          <p:spPr>
            <a:xfrm>
              <a:off x="0" y="85725"/>
              <a:ext cx="6872801" cy="405769"/>
            </a:xfrm>
            <a:prstGeom prst="rect">
              <a:avLst/>
            </a:prstGeom>
          </p:spPr>
          <p:txBody>
            <a:bodyPr anchor="ctr" rtlCol="false" tIns="50800" lIns="50800" bIns="50800" rIns="50800"/>
            <a:lstStyle/>
            <a:p>
              <a:pPr algn="ctr">
                <a:lnSpc>
                  <a:spcPts val="1925"/>
                </a:lnSpc>
              </a:pPr>
            </a:p>
          </p:txBody>
        </p:sp>
      </p:grpSp>
    </p:spTree>
  </p:cSld>
  <p:clrMapOvr>
    <a:masterClrMapping/>
  </p:clrMapOvr>
  <p:transition spd="slow">
    <p:cover dir="u"/>
  </p:transition>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99340" y="1132858"/>
            <a:ext cx="4149600"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Resource Group</a:t>
            </a:r>
          </a:p>
        </p:txBody>
      </p:sp>
      <p:grpSp>
        <p:nvGrpSpPr>
          <p:cNvPr name="Group 3" id="3"/>
          <p:cNvGrpSpPr/>
          <p:nvPr/>
        </p:nvGrpSpPr>
        <p:grpSpPr>
          <a:xfrm rot="0">
            <a:off x="-141035" y="4566799"/>
            <a:ext cx="20530640" cy="5199999"/>
            <a:chOff x="0" y="0"/>
            <a:chExt cx="6872801" cy="1740742"/>
          </a:xfrm>
        </p:grpSpPr>
        <p:sp>
          <p:nvSpPr>
            <p:cNvPr name="Freeform 4" id="4"/>
            <p:cNvSpPr/>
            <p:nvPr/>
          </p:nvSpPr>
          <p:spPr>
            <a:xfrm flipH="false" flipV="false" rot="0">
              <a:off x="0" y="0"/>
              <a:ext cx="6872801" cy="1740742"/>
            </a:xfrm>
            <a:custGeom>
              <a:avLst/>
              <a:gdLst/>
              <a:ahLst/>
              <a:cxnLst/>
              <a:rect r="r" b="b" t="t" l="l"/>
              <a:pathLst>
                <a:path h="1740742" w="6872801">
                  <a:moveTo>
                    <a:pt x="0" y="0"/>
                  </a:moveTo>
                  <a:lnTo>
                    <a:pt x="6872801" y="0"/>
                  </a:lnTo>
                  <a:lnTo>
                    <a:pt x="6872801" y="1740742"/>
                  </a:lnTo>
                  <a:lnTo>
                    <a:pt x="0" y="1740742"/>
                  </a:lnTo>
                  <a:close/>
                </a:path>
              </a:pathLst>
            </a:custGeom>
            <a:solidFill>
              <a:srgbClr val="AAD7D4"/>
            </a:solidFill>
            <a:ln cap="sq">
              <a:noFill/>
              <a:prstDash val="solid"/>
              <a:miter/>
            </a:ln>
          </p:spPr>
        </p:sp>
        <p:sp>
          <p:nvSpPr>
            <p:cNvPr name="TextBox 5" id="5"/>
            <p:cNvSpPr txBox="true"/>
            <p:nvPr/>
          </p:nvSpPr>
          <p:spPr>
            <a:xfrm>
              <a:off x="0" y="85725"/>
              <a:ext cx="6872801" cy="1655017"/>
            </a:xfrm>
            <a:prstGeom prst="rect">
              <a:avLst/>
            </a:prstGeom>
          </p:spPr>
          <p:txBody>
            <a:bodyPr anchor="ctr" rtlCol="false" tIns="50800" lIns="50800" bIns="50800" rIns="50800"/>
            <a:lstStyle/>
            <a:p>
              <a:pPr algn="ctr">
                <a:lnSpc>
                  <a:spcPts val="1925"/>
                </a:lnSpc>
              </a:pPr>
            </a:p>
          </p:txBody>
        </p:sp>
      </p:grpSp>
      <p:grpSp>
        <p:nvGrpSpPr>
          <p:cNvPr name="Group 6" id="6"/>
          <p:cNvGrpSpPr/>
          <p:nvPr/>
        </p:nvGrpSpPr>
        <p:grpSpPr>
          <a:xfrm rot="0">
            <a:off x="6145618" y="1394698"/>
            <a:ext cx="10195674" cy="3748802"/>
            <a:chOff x="0" y="0"/>
            <a:chExt cx="2685281" cy="987339"/>
          </a:xfrm>
        </p:grpSpPr>
        <p:sp>
          <p:nvSpPr>
            <p:cNvPr name="Freeform 7" id="7"/>
            <p:cNvSpPr/>
            <p:nvPr/>
          </p:nvSpPr>
          <p:spPr>
            <a:xfrm flipH="false" flipV="false" rot="0">
              <a:off x="0" y="0"/>
              <a:ext cx="2685280" cy="987339"/>
            </a:xfrm>
            <a:custGeom>
              <a:avLst/>
              <a:gdLst/>
              <a:ahLst/>
              <a:cxnLst/>
              <a:rect r="r" b="b" t="t" l="l"/>
              <a:pathLst>
                <a:path h="987339" w="2685280">
                  <a:moveTo>
                    <a:pt x="22780" y="0"/>
                  </a:moveTo>
                  <a:lnTo>
                    <a:pt x="2662500" y="0"/>
                  </a:lnTo>
                  <a:cubicBezTo>
                    <a:pt x="2668542" y="0"/>
                    <a:pt x="2674336" y="2400"/>
                    <a:pt x="2678608" y="6672"/>
                  </a:cubicBezTo>
                  <a:cubicBezTo>
                    <a:pt x="2682880" y="10944"/>
                    <a:pt x="2685280" y="16738"/>
                    <a:pt x="2685280" y="22780"/>
                  </a:cubicBezTo>
                  <a:lnTo>
                    <a:pt x="2685280" y="964559"/>
                  </a:lnTo>
                  <a:cubicBezTo>
                    <a:pt x="2685280" y="970600"/>
                    <a:pt x="2682880" y="976394"/>
                    <a:pt x="2678608" y="980667"/>
                  </a:cubicBezTo>
                  <a:cubicBezTo>
                    <a:pt x="2674336" y="984939"/>
                    <a:pt x="2668542" y="987339"/>
                    <a:pt x="2662500" y="987339"/>
                  </a:cubicBezTo>
                  <a:lnTo>
                    <a:pt x="22780" y="987339"/>
                  </a:lnTo>
                  <a:cubicBezTo>
                    <a:pt x="16738" y="987339"/>
                    <a:pt x="10944" y="984939"/>
                    <a:pt x="6672" y="980667"/>
                  </a:cubicBezTo>
                  <a:cubicBezTo>
                    <a:pt x="2400" y="976394"/>
                    <a:pt x="0" y="970600"/>
                    <a:pt x="0" y="964559"/>
                  </a:cubicBezTo>
                  <a:lnTo>
                    <a:pt x="0" y="22780"/>
                  </a:lnTo>
                  <a:cubicBezTo>
                    <a:pt x="0" y="16738"/>
                    <a:pt x="2400" y="10944"/>
                    <a:pt x="6672" y="6672"/>
                  </a:cubicBezTo>
                  <a:cubicBezTo>
                    <a:pt x="10944" y="2400"/>
                    <a:pt x="16738" y="0"/>
                    <a:pt x="22780" y="0"/>
                  </a:cubicBezTo>
                  <a:close/>
                </a:path>
              </a:pathLst>
            </a:custGeom>
            <a:solidFill>
              <a:srgbClr val="106861"/>
            </a:solidFill>
          </p:spPr>
        </p:sp>
        <p:sp>
          <p:nvSpPr>
            <p:cNvPr name="TextBox 8" id="8"/>
            <p:cNvSpPr txBox="true"/>
            <p:nvPr/>
          </p:nvSpPr>
          <p:spPr>
            <a:xfrm>
              <a:off x="0" y="-38100"/>
              <a:ext cx="2685281" cy="1025439"/>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6863619" y="1900573"/>
            <a:ext cx="8320884" cy="2476500"/>
          </a:xfrm>
          <a:prstGeom prst="rect">
            <a:avLst/>
          </a:prstGeom>
        </p:spPr>
        <p:txBody>
          <a:bodyPr anchor="t" rtlCol="false" tIns="0" lIns="0" bIns="0" rIns="0">
            <a:spAutoFit/>
          </a:bodyPr>
          <a:lstStyle/>
          <a:p>
            <a:pPr algn="l" marL="539749" indent="-269875" lvl="1">
              <a:lnSpc>
                <a:spcPts val="5024"/>
              </a:lnSpc>
              <a:buFont typeface="Arial"/>
              <a:buChar char="•"/>
            </a:pPr>
            <a:r>
              <a:rPr lang="en-US" sz="2499">
                <a:solidFill>
                  <a:srgbClr val="FDFBFB"/>
                </a:solidFill>
                <a:latin typeface="Poppins"/>
                <a:ea typeface="Poppins"/>
                <a:cs typeface="Poppins"/>
                <a:sym typeface="Poppins"/>
              </a:rPr>
              <a:t>C</a:t>
            </a:r>
            <a:r>
              <a:rPr lang="en-US" sz="2499">
                <a:solidFill>
                  <a:srgbClr val="FDFBFB"/>
                </a:solidFill>
                <a:latin typeface="Poppins"/>
                <a:ea typeface="Poppins"/>
                <a:cs typeface="Poppins"/>
                <a:sym typeface="Poppins"/>
              </a:rPr>
              <a:t>reated a resource group rg-hexaver-adf-sy</a:t>
            </a:r>
            <a:r>
              <a:rPr lang="en-US" sz="2499">
                <a:solidFill>
                  <a:srgbClr val="FDFBFB"/>
                </a:solidFill>
                <a:latin typeface="Poppins"/>
                <a:ea typeface="Poppins"/>
                <a:cs typeface="Poppins"/>
                <a:sym typeface="Poppins"/>
              </a:rPr>
              <a:t>napse-dev to logically organize resources.</a:t>
            </a:r>
          </a:p>
          <a:p>
            <a:pPr algn="l" marL="539749" indent="-269875" lvl="1">
              <a:lnSpc>
                <a:spcPts val="5024"/>
              </a:lnSpc>
              <a:buFont typeface="Arial"/>
              <a:buChar char="•"/>
            </a:pPr>
            <a:r>
              <a:rPr lang="en-US" sz="2499">
                <a:solidFill>
                  <a:srgbClr val="FDFBFB"/>
                </a:solidFill>
                <a:latin typeface="Poppins"/>
                <a:ea typeface="Poppins"/>
                <a:cs typeface="Poppins"/>
                <a:sym typeface="Poppins"/>
              </a:rPr>
              <a:t>H</a:t>
            </a:r>
            <a:r>
              <a:rPr lang="en-US" sz="2499">
                <a:solidFill>
                  <a:srgbClr val="FDFBFB"/>
                </a:solidFill>
                <a:latin typeface="Poppins"/>
                <a:ea typeface="Poppins"/>
                <a:cs typeface="Poppins"/>
                <a:sym typeface="Poppins"/>
              </a:rPr>
              <a:t>elps in centralized management, monitoring, and cost tracking.</a:t>
            </a:r>
          </a:p>
        </p:txBody>
      </p:sp>
    </p:spTree>
  </p:cSld>
  <p:clrMapOvr>
    <a:masterClrMapping/>
  </p:clrMapOvr>
  <p:transition spd="slow">
    <p:cover dir="d"/>
  </p:transition>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479764"/>
            <a:ext cx="4710273" cy="101155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ADLS Gen2</a:t>
            </a:r>
          </a:p>
        </p:txBody>
      </p:sp>
      <p:grpSp>
        <p:nvGrpSpPr>
          <p:cNvPr name="Group 3" id="3"/>
          <p:cNvGrpSpPr/>
          <p:nvPr/>
        </p:nvGrpSpPr>
        <p:grpSpPr>
          <a:xfrm rot="0">
            <a:off x="7096324" y="1508339"/>
            <a:ext cx="9805641" cy="3398267"/>
            <a:chOff x="0" y="0"/>
            <a:chExt cx="2582556" cy="895017"/>
          </a:xfrm>
        </p:grpSpPr>
        <p:sp>
          <p:nvSpPr>
            <p:cNvPr name="Freeform 4" id="4"/>
            <p:cNvSpPr/>
            <p:nvPr/>
          </p:nvSpPr>
          <p:spPr>
            <a:xfrm flipH="false" flipV="false" rot="0">
              <a:off x="0" y="0"/>
              <a:ext cx="2582556" cy="895017"/>
            </a:xfrm>
            <a:custGeom>
              <a:avLst/>
              <a:gdLst/>
              <a:ahLst/>
              <a:cxnLst/>
              <a:rect r="r" b="b" t="t" l="l"/>
              <a:pathLst>
                <a:path h="895017" w="2582556">
                  <a:moveTo>
                    <a:pt x="23686" y="0"/>
                  </a:moveTo>
                  <a:lnTo>
                    <a:pt x="2558870" y="0"/>
                  </a:lnTo>
                  <a:cubicBezTo>
                    <a:pt x="2565152" y="0"/>
                    <a:pt x="2571176" y="2495"/>
                    <a:pt x="2575618" y="6938"/>
                  </a:cubicBezTo>
                  <a:cubicBezTo>
                    <a:pt x="2580060" y="11380"/>
                    <a:pt x="2582556" y="17404"/>
                    <a:pt x="2582556" y="23686"/>
                  </a:cubicBezTo>
                  <a:lnTo>
                    <a:pt x="2582556" y="871331"/>
                  </a:lnTo>
                  <a:cubicBezTo>
                    <a:pt x="2582556" y="877613"/>
                    <a:pt x="2580060" y="883637"/>
                    <a:pt x="2575618" y="888079"/>
                  </a:cubicBezTo>
                  <a:cubicBezTo>
                    <a:pt x="2571176" y="892521"/>
                    <a:pt x="2565152" y="895017"/>
                    <a:pt x="2558870" y="895017"/>
                  </a:cubicBezTo>
                  <a:lnTo>
                    <a:pt x="23686" y="895017"/>
                  </a:lnTo>
                  <a:cubicBezTo>
                    <a:pt x="17404" y="895017"/>
                    <a:pt x="11380" y="892521"/>
                    <a:pt x="6938" y="888079"/>
                  </a:cubicBezTo>
                  <a:cubicBezTo>
                    <a:pt x="2495" y="883637"/>
                    <a:pt x="0" y="877613"/>
                    <a:pt x="0" y="871331"/>
                  </a:cubicBezTo>
                  <a:lnTo>
                    <a:pt x="0" y="23686"/>
                  </a:lnTo>
                  <a:cubicBezTo>
                    <a:pt x="0" y="17404"/>
                    <a:pt x="2495" y="11380"/>
                    <a:pt x="6938" y="6938"/>
                  </a:cubicBezTo>
                  <a:cubicBezTo>
                    <a:pt x="11380" y="2495"/>
                    <a:pt x="17404" y="0"/>
                    <a:pt x="23686" y="0"/>
                  </a:cubicBezTo>
                  <a:close/>
                </a:path>
              </a:pathLst>
            </a:custGeom>
            <a:solidFill>
              <a:srgbClr val="106861"/>
            </a:solidFill>
          </p:spPr>
        </p:sp>
        <p:sp>
          <p:nvSpPr>
            <p:cNvPr name="TextBox 5" id="5"/>
            <p:cNvSpPr txBox="true"/>
            <p:nvPr/>
          </p:nvSpPr>
          <p:spPr>
            <a:xfrm>
              <a:off x="0" y="-38100"/>
              <a:ext cx="2582556" cy="933117"/>
            </a:xfrm>
            <a:prstGeom prst="rect">
              <a:avLst/>
            </a:prstGeom>
          </p:spPr>
          <p:txBody>
            <a:bodyPr anchor="ctr" rtlCol="false" tIns="50800" lIns="50800" bIns="50800" rIns="50800"/>
            <a:lstStyle/>
            <a:p>
              <a:pPr algn="ctr">
                <a:lnSpc>
                  <a:spcPts val="2859"/>
                </a:lnSpc>
              </a:pPr>
            </a:p>
          </p:txBody>
        </p:sp>
      </p:grpSp>
      <p:sp>
        <p:nvSpPr>
          <p:cNvPr name="TextBox 6" id="6"/>
          <p:cNvSpPr txBox="true"/>
          <p:nvPr/>
        </p:nvSpPr>
        <p:spPr>
          <a:xfrm rot="0">
            <a:off x="7741194" y="2031542"/>
            <a:ext cx="8515900" cy="21177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Provisioned </a:t>
            </a:r>
            <a:r>
              <a:rPr lang="en-US" sz="2499">
                <a:solidFill>
                  <a:srgbClr val="FDFBFB"/>
                </a:solidFill>
                <a:latin typeface="Poppins"/>
                <a:ea typeface="Poppins"/>
                <a:cs typeface="Poppins"/>
                <a:sym typeface="Poppins"/>
              </a:rPr>
              <a:t>Azure Data</a:t>
            </a:r>
            <a:r>
              <a:rPr lang="en-US" sz="2499">
                <a:solidFill>
                  <a:srgbClr val="FDFBFB"/>
                </a:solidFill>
                <a:latin typeface="Poppins"/>
                <a:ea typeface="Poppins"/>
                <a:cs typeface="Poppins"/>
                <a:sym typeface="Poppins"/>
              </a:rPr>
              <a:t> Lake Storage Gen2 with raw and curated containers.</a:t>
            </a:r>
          </a:p>
          <a:p>
            <a:pPr algn="l" marL="539749" indent="-269875" lvl="1">
              <a:lnSpc>
                <a:spcPts val="4249"/>
              </a:lnSpc>
              <a:buFont typeface="Arial"/>
              <a:buChar char="•"/>
            </a:pPr>
            <a:r>
              <a:rPr lang="en-US" sz="2499">
                <a:solidFill>
                  <a:srgbClr val="FDFBFB"/>
                </a:solidFill>
                <a:latin typeface="Poppins"/>
                <a:ea typeface="Poppins"/>
                <a:cs typeface="Poppins"/>
                <a:sym typeface="Poppins"/>
              </a:rPr>
              <a:t>Hierarchical namespace enabled to optimize data management and analytics performance.</a:t>
            </a:r>
          </a:p>
        </p:txBody>
      </p:sp>
      <p:grpSp>
        <p:nvGrpSpPr>
          <p:cNvPr name="Group 7" id="7"/>
          <p:cNvGrpSpPr/>
          <p:nvPr/>
        </p:nvGrpSpPr>
        <p:grpSpPr>
          <a:xfrm rot="0">
            <a:off x="-835969" y="6492589"/>
            <a:ext cx="20530640" cy="4103030"/>
            <a:chOff x="0" y="0"/>
            <a:chExt cx="6872801" cy="1373523"/>
          </a:xfrm>
        </p:grpSpPr>
        <p:sp>
          <p:nvSpPr>
            <p:cNvPr name="Freeform 8" id="8"/>
            <p:cNvSpPr/>
            <p:nvPr/>
          </p:nvSpPr>
          <p:spPr>
            <a:xfrm flipH="false" flipV="false" rot="0">
              <a:off x="0" y="0"/>
              <a:ext cx="6872801" cy="1373523"/>
            </a:xfrm>
            <a:custGeom>
              <a:avLst/>
              <a:gdLst/>
              <a:ahLst/>
              <a:cxnLst/>
              <a:rect r="r" b="b" t="t" l="l"/>
              <a:pathLst>
                <a:path h="1373523" w="6872801">
                  <a:moveTo>
                    <a:pt x="0" y="0"/>
                  </a:moveTo>
                  <a:lnTo>
                    <a:pt x="6872801" y="0"/>
                  </a:lnTo>
                  <a:lnTo>
                    <a:pt x="6872801" y="1373523"/>
                  </a:lnTo>
                  <a:lnTo>
                    <a:pt x="0" y="1373523"/>
                  </a:lnTo>
                  <a:close/>
                </a:path>
              </a:pathLst>
            </a:custGeom>
            <a:solidFill>
              <a:srgbClr val="AAD7D4"/>
            </a:solidFill>
            <a:ln cap="sq">
              <a:noFill/>
              <a:prstDash val="solid"/>
              <a:miter/>
            </a:ln>
          </p:spPr>
        </p:sp>
        <p:sp>
          <p:nvSpPr>
            <p:cNvPr name="TextBox 9" id="9"/>
            <p:cNvSpPr txBox="true"/>
            <p:nvPr/>
          </p:nvSpPr>
          <p:spPr>
            <a:xfrm>
              <a:off x="0" y="85725"/>
              <a:ext cx="6872801" cy="1287798"/>
            </a:xfrm>
            <a:prstGeom prst="rect">
              <a:avLst/>
            </a:prstGeom>
          </p:spPr>
          <p:txBody>
            <a:bodyPr anchor="ctr" rtlCol="false" tIns="50800" lIns="50800" bIns="50800" rIns="50800"/>
            <a:lstStyle/>
            <a:p>
              <a:pPr algn="ctr">
                <a:lnSpc>
                  <a:spcPts val="1925"/>
                </a:lnSpc>
              </a:pPr>
            </a:p>
          </p:txBody>
        </p:sp>
      </p:grpSp>
    </p:spTree>
  </p:cSld>
  <p:clrMapOvr>
    <a:masterClrMapping/>
  </p:clrMapOvr>
  <p:transition spd="slow">
    <p:cover dir="lu"/>
  </p:transition>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68920" y="1028700"/>
            <a:ext cx="20530640" cy="5199999"/>
            <a:chOff x="0" y="0"/>
            <a:chExt cx="6872801" cy="1740742"/>
          </a:xfrm>
        </p:grpSpPr>
        <p:sp>
          <p:nvSpPr>
            <p:cNvPr name="Freeform 3" id="3"/>
            <p:cNvSpPr/>
            <p:nvPr/>
          </p:nvSpPr>
          <p:spPr>
            <a:xfrm flipH="false" flipV="false" rot="0">
              <a:off x="0" y="0"/>
              <a:ext cx="6872801" cy="1740742"/>
            </a:xfrm>
            <a:custGeom>
              <a:avLst/>
              <a:gdLst/>
              <a:ahLst/>
              <a:cxnLst/>
              <a:rect r="r" b="b" t="t" l="l"/>
              <a:pathLst>
                <a:path h="1740742" w="6872801">
                  <a:moveTo>
                    <a:pt x="0" y="0"/>
                  </a:moveTo>
                  <a:lnTo>
                    <a:pt x="6872801" y="0"/>
                  </a:lnTo>
                  <a:lnTo>
                    <a:pt x="6872801" y="1740742"/>
                  </a:lnTo>
                  <a:lnTo>
                    <a:pt x="0" y="1740742"/>
                  </a:lnTo>
                  <a:close/>
                </a:path>
              </a:pathLst>
            </a:custGeom>
            <a:solidFill>
              <a:srgbClr val="AAD7D4"/>
            </a:solidFill>
            <a:ln cap="sq">
              <a:noFill/>
              <a:prstDash val="solid"/>
              <a:miter/>
            </a:ln>
          </p:spPr>
        </p:sp>
        <p:sp>
          <p:nvSpPr>
            <p:cNvPr name="TextBox 4" id="4"/>
            <p:cNvSpPr txBox="true"/>
            <p:nvPr/>
          </p:nvSpPr>
          <p:spPr>
            <a:xfrm>
              <a:off x="0" y="85725"/>
              <a:ext cx="6872801" cy="1655017"/>
            </a:xfrm>
            <a:prstGeom prst="rect">
              <a:avLst/>
            </a:prstGeom>
          </p:spPr>
          <p:txBody>
            <a:bodyPr anchor="ctr" rtlCol="false" tIns="50800" lIns="50800" bIns="50800" rIns="50800"/>
            <a:lstStyle/>
            <a:p>
              <a:pPr algn="ctr">
                <a:lnSpc>
                  <a:spcPts val="1925"/>
                </a:lnSpc>
              </a:pPr>
            </a:p>
          </p:txBody>
        </p:sp>
      </p:grpSp>
      <p:sp>
        <p:nvSpPr>
          <p:cNvPr name="TextBox 5" id="5"/>
          <p:cNvSpPr txBox="true"/>
          <p:nvPr/>
        </p:nvSpPr>
        <p:spPr>
          <a:xfrm rot="0">
            <a:off x="1491865" y="1842199"/>
            <a:ext cx="4125223"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Synapse Analytics</a:t>
            </a:r>
          </a:p>
        </p:txBody>
      </p:sp>
      <p:grpSp>
        <p:nvGrpSpPr>
          <p:cNvPr name="Group 6" id="6"/>
          <p:cNvGrpSpPr/>
          <p:nvPr/>
        </p:nvGrpSpPr>
        <p:grpSpPr>
          <a:xfrm rot="0">
            <a:off x="7321856" y="4811917"/>
            <a:ext cx="8781803" cy="3129966"/>
            <a:chOff x="0" y="0"/>
            <a:chExt cx="2312903" cy="824353"/>
          </a:xfrm>
        </p:grpSpPr>
        <p:sp>
          <p:nvSpPr>
            <p:cNvPr name="Freeform 7" id="7"/>
            <p:cNvSpPr/>
            <p:nvPr/>
          </p:nvSpPr>
          <p:spPr>
            <a:xfrm flipH="false" flipV="false" rot="0">
              <a:off x="0" y="0"/>
              <a:ext cx="2312903" cy="824353"/>
            </a:xfrm>
            <a:custGeom>
              <a:avLst/>
              <a:gdLst/>
              <a:ahLst/>
              <a:cxnLst/>
              <a:rect r="r" b="b" t="t" l="l"/>
              <a:pathLst>
                <a:path h="824353" w="2312903">
                  <a:moveTo>
                    <a:pt x="26448" y="0"/>
                  </a:moveTo>
                  <a:lnTo>
                    <a:pt x="2286455" y="0"/>
                  </a:lnTo>
                  <a:cubicBezTo>
                    <a:pt x="2293470" y="0"/>
                    <a:pt x="2300197" y="2786"/>
                    <a:pt x="2305157" y="7746"/>
                  </a:cubicBezTo>
                  <a:cubicBezTo>
                    <a:pt x="2310116" y="12706"/>
                    <a:pt x="2312903" y="19433"/>
                    <a:pt x="2312903" y="26448"/>
                  </a:cubicBezTo>
                  <a:lnTo>
                    <a:pt x="2312903" y="797906"/>
                  </a:lnTo>
                  <a:cubicBezTo>
                    <a:pt x="2312903" y="804920"/>
                    <a:pt x="2310116" y="811647"/>
                    <a:pt x="2305157" y="816607"/>
                  </a:cubicBezTo>
                  <a:cubicBezTo>
                    <a:pt x="2300197" y="821567"/>
                    <a:pt x="2293470" y="824353"/>
                    <a:pt x="2286455" y="824353"/>
                  </a:cubicBezTo>
                  <a:lnTo>
                    <a:pt x="26448" y="824353"/>
                  </a:lnTo>
                  <a:cubicBezTo>
                    <a:pt x="19433" y="824353"/>
                    <a:pt x="12706" y="821567"/>
                    <a:pt x="7746" y="816607"/>
                  </a:cubicBezTo>
                  <a:cubicBezTo>
                    <a:pt x="2786" y="811647"/>
                    <a:pt x="0" y="804920"/>
                    <a:pt x="0" y="797906"/>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name="TextBox 8" id="8"/>
            <p:cNvSpPr txBox="true"/>
            <p:nvPr/>
          </p:nvSpPr>
          <p:spPr>
            <a:xfrm>
              <a:off x="0" y="-38100"/>
              <a:ext cx="2312903" cy="862453"/>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7869217" y="5246600"/>
            <a:ext cx="7687079" cy="21177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C</a:t>
            </a:r>
            <a:r>
              <a:rPr lang="en-US" sz="2499">
                <a:solidFill>
                  <a:srgbClr val="FDFBFB"/>
                </a:solidFill>
                <a:latin typeface="Poppins"/>
                <a:ea typeface="Poppins"/>
                <a:cs typeface="Poppins"/>
                <a:sym typeface="Poppins"/>
              </a:rPr>
              <a:t>reated an Azure Synapse Workspace linked with ADLS.</a:t>
            </a:r>
          </a:p>
          <a:p>
            <a:pPr algn="l" marL="539749" indent="-269875" lvl="1">
              <a:lnSpc>
                <a:spcPts val="4249"/>
              </a:lnSpc>
              <a:buFont typeface="Arial"/>
              <a:buChar char="•"/>
            </a:pPr>
            <a:r>
              <a:rPr lang="en-US" sz="2499">
                <a:solidFill>
                  <a:srgbClr val="FDFBFB"/>
                </a:solidFill>
                <a:latin typeface="Poppins"/>
                <a:ea typeface="Poppins"/>
                <a:cs typeface="Poppins"/>
                <a:sym typeface="Poppins"/>
              </a:rPr>
              <a:t>Us</a:t>
            </a:r>
            <a:r>
              <a:rPr lang="en-US" sz="2499">
                <a:solidFill>
                  <a:srgbClr val="FDFBFB"/>
                </a:solidFill>
                <a:latin typeface="Poppins"/>
                <a:ea typeface="Poppins"/>
                <a:cs typeface="Poppins"/>
                <a:sym typeface="Poppins"/>
              </a:rPr>
              <a:t>ed for querying, analyzing, and validating ingested data.</a:t>
            </a:r>
          </a:p>
        </p:txBody>
      </p:sp>
    </p:spTree>
  </p:cSld>
  <p:clrMapOvr>
    <a:masterClrMapping/>
  </p:clrMapOvr>
  <p:transition spd="slow">
    <p:cover dir="ru"/>
  </p:transition>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60013" y="1525296"/>
            <a:ext cx="4344616"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Azure SQL Database</a:t>
            </a:r>
          </a:p>
        </p:txBody>
      </p:sp>
      <p:grpSp>
        <p:nvGrpSpPr>
          <p:cNvPr name="Group 3" id="3"/>
          <p:cNvGrpSpPr/>
          <p:nvPr/>
        </p:nvGrpSpPr>
        <p:grpSpPr>
          <a:xfrm rot="0">
            <a:off x="7911834" y="1836311"/>
            <a:ext cx="8781803" cy="3511116"/>
            <a:chOff x="0" y="0"/>
            <a:chExt cx="2312903" cy="924738"/>
          </a:xfrm>
        </p:grpSpPr>
        <p:sp>
          <p:nvSpPr>
            <p:cNvPr name="Freeform 4" id="4"/>
            <p:cNvSpPr/>
            <p:nvPr/>
          </p:nvSpPr>
          <p:spPr>
            <a:xfrm flipH="false" flipV="false" rot="0">
              <a:off x="0" y="0"/>
              <a:ext cx="2312903" cy="924738"/>
            </a:xfrm>
            <a:custGeom>
              <a:avLst/>
              <a:gdLst/>
              <a:ahLst/>
              <a:cxnLst/>
              <a:rect r="r" b="b" t="t" l="l"/>
              <a:pathLst>
                <a:path h="924738" w="2312903">
                  <a:moveTo>
                    <a:pt x="26448" y="0"/>
                  </a:moveTo>
                  <a:lnTo>
                    <a:pt x="2286455" y="0"/>
                  </a:lnTo>
                  <a:cubicBezTo>
                    <a:pt x="2293470" y="0"/>
                    <a:pt x="2300197" y="2786"/>
                    <a:pt x="2305157" y="7746"/>
                  </a:cubicBezTo>
                  <a:cubicBezTo>
                    <a:pt x="2310116" y="12706"/>
                    <a:pt x="2312903" y="19433"/>
                    <a:pt x="2312903" y="26448"/>
                  </a:cubicBezTo>
                  <a:lnTo>
                    <a:pt x="2312903" y="898291"/>
                  </a:lnTo>
                  <a:cubicBezTo>
                    <a:pt x="2312903" y="905305"/>
                    <a:pt x="2310116" y="912032"/>
                    <a:pt x="2305157" y="916992"/>
                  </a:cubicBezTo>
                  <a:cubicBezTo>
                    <a:pt x="2300197" y="921952"/>
                    <a:pt x="2293470" y="924738"/>
                    <a:pt x="2286455" y="924738"/>
                  </a:cubicBezTo>
                  <a:lnTo>
                    <a:pt x="26448" y="924738"/>
                  </a:lnTo>
                  <a:cubicBezTo>
                    <a:pt x="19433" y="924738"/>
                    <a:pt x="12706" y="921952"/>
                    <a:pt x="7746" y="916992"/>
                  </a:cubicBezTo>
                  <a:cubicBezTo>
                    <a:pt x="2786" y="912032"/>
                    <a:pt x="0" y="905305"/>
                    <a:pt x="0" y="898291"/>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name="TextBox 5" id="5"/>
            <p:cNvSpPr txBox="true"/>
            <p:nvPr/>
          </p:nvSpPr>
          <p:spPr>
            <a:xfrm>
              <a:off x="0" y="-38100"/>
              <a:ext cx="2312903" cy="962838"/>
            </a:xfrm>
            <a:prstGeom prst="rect">
              <a:avLst/>
            </a:prstGeom>
          </p:spPr>
          <p:txBody>
            <a:bodyPr anchor="ctr" rtlCol="false" tIns="50800" lIns="50800" bIns="50800" rIns="50800"/>
            <a:lstStyle/>
            <a:p>
              <a:pPr algn="ctr">
                <a:lnSpc>
                  <a:spcPts val="2859"/>
                </a:lnSpc>
              </a:pPr>
            </a:p>
          </p:txBody>
        </p:sp>
      </p:grpSp>
      <p:sp>
        <p:nvSpPr>
          <p:cNvPr name="TextBox 6" id="6"/>
          <p:cNvSpPr txBox="true"/>
          <p:nvPr/>
        </p:nvSpPr>
        <p:spPr>
          <a:xfrm rot="0">
            <a:off x="8702967" y="2369211"/>
            <a:ext cx="7199537" cy="21177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Configured an </a:t>
            </a:r>
            <a:r>
              <a:rPr lang="en-US" sz="2499">
                <a:solidFill>
                  <a:srgbClr val="FDFBFB"/>
                </a:solidFill>
                <a:latin typeface="Poppins"/>
                <a:ea typeface="Poppins"/>
                <a:cs typeface="Poppins"/>
                <a:sym typeface="Poppins"/>
              </a:rPr>
              <a:t>Azure SQL Database</a:t>
            </a:r>
            <a:r>
              <a:rPr lang="en-US" sz="2499">
                <a:solidFill>
                  <a:srgbClr val="FDFBFB"/>
                </a:solidFill>
                <a:latin typeface="Poppins"/>
                <a:ea typeface="Poppins"/>
                <a:cs typeface="Poppins"/>
                <a:sym typeface="Poppins"/>
              </a:rPr>
              <a:t> to act as on-premises data source.</a:t>
            </a:r>
          </a:p>
          <a:p>
            <a:pPr algn="l" marL="539749" indent="-269875" lvl="1">
              <a:lnSpc>
                <a:spcPts val="4249"/>
              </a:lnSpc>
              <a:buFont typeface="Arial"/>
              <a:buChar char="•"/>
            </a:pPr>
            <a:r>
              <a:rPr lang="en-US" sz="2499">
                <a:solidFill>
                  <a:srgbClr val="FDFBFB"/>
                </a:solidFill>
                <a:latin typeface="Poppins"/>
                <a:ea typeface="Poppins"/>
                <a:cs typeface="Poppins"/>
                <a:sym typeface="Poppins"/>
              </a:rPr>
              <a:t>H</a:t>
            </a:r>
            <a:r>
              <a:rPr lang="en-US" sz="2499">
                <a:solidFill>
                  <a:srgbClr val="FDFBFB"/>
                </a:solidFill>
                <a:latin typeface="Poppins"/>
                <a:ea typeface="Poppins"/>
                <a:cs typeface="Poppins"/>
                <a:sym typeface="Poppins"/>
              </a:rPr>
              <a:t>olds structured data to be transferred through the pipeline.</a:t>
            </a:r>
          </a:p>
        </p:txBody>
      </p:sp>
      <p:grpSp>
        <p:nvGrpSpPr>
          <p:cNvPr name="Group 7" id="7"/>
          <p:cNvGrpSpPr/>
          <p:nvPr/>
        </p:nvGrpSpPr>
        <p:grpSpPr>
          <a:xfrm rot="0">
            <a:off x="-835969" y="6492589"/>
            <a:ext cx="20530640" cy="4103030"/>
            <a:chOff x="0" y="0"/>
            <a:chExt cx="6872801" cy="1373523"/>
          </a:xfrm>
        </p:grpSpPr>
        <p:sp>
          <p:nvSpPr>
            <p:cNvPr name="Freeform 8" id="8"/>
            <p:cNvSpPr/>
            <p:nvPr/>
          </p:nvSpPr>
          <p:spPr>
            <a:xfrm flipH="false" flipV="false" rot="0">
              <a:off x="0" y="0"/>
              <a:ext cx="6872801" cy="1373523"/>
            </a:xfrm>
            <a:custGeom>
              <a:avLst/>
              <a:gdLst/>
              <a:ahLst/>
              <a:cxnLst/>
              <a:rect r="r" b="b" t="t" l="l"/>
              <a:pathLst>
                <a:path h="1373523" w="6872801">
                  <a:moveTo>
                    <a:pt x="0" y="0"/>
                  </a:moveTo>
                  <a:lnTo>
                    <a:pt x="6872801" y="0"/>
                  </a:lnTo>
                  <a:lnTo>
                    <a:pt x="6872801" y="1373523"/>
                  </a:lnTo>
                  <a:lnTo>
                    <a:pt x="0" y="1373523"/>
                  </a:lnTo>
                  <a:close/>
                </a:path>
              </a:pathLst>
            </a:custGeom>
            <a:solidFill>
              <a:srgbClr val="AAD7D4"/>
            </a:solidFill>
            <a:ln cap="sq">
              <a:noFill/>
              <a:prstDash val="solid"/>
              <a:miter/>
            </a:ln>
          </p:spPr>
        </p:sp>
        <p:sp>
          <p:nvSpPr>
            <p:cNvPr name="TextBox 9" id="9"/>
            <p:cNvSpPr txBox="true"/>
            <p:nvPr/>
          </p:nvSpPr>
          <p:spPr>
            <a:xfrm>
              <a:off x="0" y="85725"/>
              <a:ext cx="6872801" cy="1287798"/>
            </a:xfrm>
            <a:prstGeom prst="rect">
              <a:avLst/>
            </a:prstGeom>
          </p:spPr>
          <p:txBody>
            <a:bodyPr anchor="ctr" rtlCol="false" tIns="50800" lIns="50800" bIns="50800" rIns="50800"/>
            <a:lstStyle/>
            <a:p>
              <a:pPr algn="ctr">
                <a:lnSpc>
                  <a:spcPts val="1925"/>
                </a:lnSpc>
              </a:pPr>
            </a:p>
          </p:txBody>
        </p:sp>
      </p:grpSp>
    </p:spTree>
  </p:cSld>
  <p:clrMapOvr>
    <a:masterClrMapping/>
  </p:clrMapOvr>
  <p:transition spd="slow">
    <p:cover dir="rd"/>
  </p:transition>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968920" y="1028700"/>
            <a:ext cx="20530640" cy="5199999"/>
            <a:chOff x="0" y="0"/>
            <a:chExt cx="6872801" cy="1740742"/>
          </a:xfrm>
        </p:grpSpPr>
        <p:sp>
          <p:nvSpPr>
            <p:cNvPr name="Freeform 3" id="3"/>
            <p:cNvSpPr/>
            <p:nvPr/>
          </p:nvSpPr>
          <p:spPr>
            <a:xfrm flipH="false" flipV="false" rot="0">
              <a:off x="0" y="0"/>
              <a:ext cx="6872801" cy="1740742"/>
            </a:xfrm>
            <a:custGeom>
              <a:avLst/>
              <a:gdLst/>
              <a:ahLst/>
              <a:cxnLst/>
              <a:rect r="r" b="b" t="t" l="l"/>
              <a:pathLst>
                <a:path h="1740742" w="6872801">
                  <a:moveTo>
                    <a:pt x="0" y="0"/>
                  </a:moveTo>
                  <a:lnTo>
                    <a:pt x="6872801" y="0"/>
                  </a:lnTo>
                  <a:lnTo>
                    <a:pt x="6872801" y="1740742"/>
                  </a:lnTo>
                  <a:lnTo>
                    <a:pt x="0" y="1740742"/>
                  </a:lnTo>
                  <a:close/>
                </a:path>
              </a:pathLst>
            </a:custGeom>
            <a:solidFill>
              <a:srgbClr val="AAD7D4"/>
            </a:solidFill>
            <a:ln cap="sq">
              <a:noFill/>
              <a:prstDash val="solid"/>
              <a:miter/>
            </a:ln>
          </p:spPr>
        </p:sp>
        <p:sp>
          <p:nvSpPr>
            <p:cNvPr name="TextBox 4" id="4"/>
            <p:cNvSpPr txBox="true"/>
            <p:nvPr/>
          </p:nvSpPr>
          <p:spPr>
            <a:xfrm>
              <a:off x="0" y="85725"/>
              <a:ext cx="6872801" cy="1655017"/>
            </a:xfrm>
            <a:prstGeom prst="rect">
              <a:avLst/>
            </a:prstGeom>
          </p:spPr>
          <p:txBody>
            <a:bodyPr anchor="ctr" rtlCol="false" tIns="50800" lIns="50800" bIns="50800" rIns="50800"/>
            <a:lstStyle/>
            <a:p>
              <a:pPr algn="ctr">
                <a:lnSpc>
                  <a:spcPts val="1925"/>
                </a:lnSpc>
              </a:pPr>
            </a:p>
          </p:txBody>
        </p:sp>
      </p:grpSp>
      <p:sp>
        <p:nvSpPr>
          <p:cNvPr name="TextBox 5" id="5"/>
          <p:cNvSpPr txBox="true"/>
          <p:nvPr/>
        </p:nvSpPr>
        <p:spPr>
          <a:xfrm rot="0">
            <a:off x="1735636" y="1862690"/>
            <a:ext cx="4734650"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Azure Data Factory</a:t>
            </a:r>
          </a:p>
        </p:txBody>
      </p:sp>
      <p:grpSp>
        <p:nvGrpSpPr>
          <p:cNvPr name="Group 6" id="6"/>
          <p:cNvGrpSpPr/>
          <p:nvPr/>
        </p:nvGrpSpPr>
        <p:grpSpPr>
          <a:xfrm rot="0">
            <a:off x="8022654" y="4217148"/>
            <a:ext cx="8781803" cy="3494729"/>
            <a:chOff x="0" y="0"/>
            <a:chExt cx="2312903" cy="920422"/>
          </a:xfrm>
        </p:grpSpPr>
        <p:sp>
          <p:nvSpPr>
            <p:cNvPr name="Freeform 7" id="7"/>
            <p:cNvSpPr/>
            <p:nvPr/>
          </p:nvSpPr>
          <p:spPr>
            <a:xfrm flipH="false" flipV="false" rot="0">
              <a:off x="0" y="0"/>
              <a:ext cx="2312903" cy="920422"/>
            </a:xfrm>
            <a:custGeom>
              <a:avLst/>
              <a:gdLst/>
              <a:ahLst/>
              <a:cxnLst/>
              <a:rect r="r" b="b" t="t" l="l"/>
              <a:pathLst>
                <a:path h="920422" w="2312903">
                  <a:moveTo>
                    <a:pt x="26448" y="0"/>
                  </a:moveTo>
                  <a:lnTo>
                    <a:pt x="2286455" y="0"/>
                  </a:lnTo>
                  <a:cubicBezTo>
                    <a:pt x="2293470" y="0"/>
                    <a:pt x="2300197" y="2786"/>
                    <a:pt x="2305157" y="7746"/>
                  </a:cubicBezTo>
                  <a:cubicBezTo>
                    <a:pt x="2310116" y="12706"/>
                    <a:pt x="2312903" y="19433"/>
                    <a:pt x="2312903" y="26448"/>
                  </a:cubicBezTo>
                  <a:lnTo>
                    <a:pt x="2312903" y="893975"/>
                  </a:lnTo>
                  <a:cubicBezTo>
                    <a:pt x="2312903" y="900989"/>
                    <a:pt x="2310116" y="907716"/>
                    <a:pt x="2305157" y="912676"/>
                  </a:cubicBezTo>
                  <a:cubicBezTo>
                    <a:pt x="2300197" y="917636"/>
                    <a:pt x="2293470" y="920422"/>
                    <a:pt x="2286455" y="920422"/>
                  </a:cubicBezTo>
                  <a:lnTo>
                    <a:pt x="26448" y="920422"/>
                  </a:lnTo>
                  <a:cubicBezTo>
                    <a:pt x="19433" y="920422"/>
                    <a:pt x="12706" y="917636"/>
                    <a:pt x="7746" y="912676"/>
                  </a:cubicBezTo>
                  <a:cubicBezTo>
                    <a:pt x="2786" y="907716"/>
                    <a:pt x="0" y="900989"/>
                    <a:pt x="0" y="893975"/>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name="TextBox 8" id="8"/>
            <p:cNvSpPr txBox="true"/>
            <p:nvPr/>
          </p:nvSpPr>
          <p:spPr>
            <a:xfrm>
              <a:off x="0" y="-38100"/>
              <a:ext cx="2312903" cy="958522"/>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8874729" y="4834212"/>
            <a:ext cx="6955767" cy="21177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ADF instance depl</a:t>
            </a:r>
            <a:r>
              <a:rPr lang="en-US" sz="2499">
                <a:solidFill>
                  <a:srgbClr val="FDFBFB"/>
                </a:solidFill>
                <a:latin typeface="Poppins"/>
                <a:ea typeface="Poppins"/>
                <a:cs typeface="Poppins"/>
                <a:sym typeface="Poppins"/>
              </a:rPr>
              <a:t>oyed to design, orchestrate, and execute the pipeline.</a:t>
            </a:r>
          </a:p>
          <a:p>
            <a:pPr algn="l" marL="539749" indent="-269875" lvl="1">
              <a:lnSpc>
                <a:spcPts val="4249"/>
              </a:lnSpc>
              <a:buFont typeface="Arial"/>
              <a:buChar char="•"/>
            </a:pPr>
            <a:r>
              <a:rPr lang="en-US" sz="2499">
                <a:solidFill>
                  <a:srgbClr val="FDFBFB"/>
                </a:solidFill>
                <a:latin typeface="Poppins"/>
                <a:ea typeface="Poppins"/>
                <a:cs typeface="Poppins"/>
                <a:sym typeface="Poppins"/>
              </a:rPr>
              <a:t>P</a:t>
            </a:r>
            <a:r>
              <a:rPr lang="en-US" sz="2499">
                <a:solidFill>
                  <a:srgbClr val="FDFBFB"/>
                </a:solidFill>
                <a:latin typeface="Poppins"/>
                <a:ea typeface="Poppins"/>
                <a:cs typeface="Poppins"/>
                <a:sym typeface="Poppins"/>
              </a:rPr>
              <a:t>rovides monitoring and debugging features for workflow reliability.</a:t>
            </a:r>
          </a:p>
        </p:txBody>
      </p:sp>
    </p:spTree>
  </p:cSld>
  <p:clrMapOvr>
    <a:masterClrMapping/>
  </p:clrMapOvr>
  <p:transition spd="slow">
    <p:cover dir="ld"/>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08767" y="1870136"/>
            <a:ext cx="5970116" cy="101155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Azure DevOps</a:t>
            </a:r>
          </a:p>
        </p:txBody>
      </p:sp>
      <p:grpSp>
        <p:nvGrpSpPr>
          <p:cNvPr name="Group 3" id="3"/>
          <p:cNvGrpSpPr/>
          <p:nvPr/>
        </p:nvGrpSpPr>
        <p:grpSpPr>
          <a:xfrm rot="0">
            <a:off x="-835969" y="6492589"/>
            <a:ext cx="20530640" cy="4103030"/>
            <a:chOff x="0" y="0"/>
            <a:chExt cx="6872801" cy="1373523"/>
          </a:xfrm>
        </p:grpSpPr>
        <p:sp>
          <p:nvSpPr>
            <p:cNvPr name="Freeform 4" id="4"/>
            <p:cNvSpPr/>
            <p:nvPr/>
          </p:nvSpPr>
          <p:spPr>
            <a:xfrm flipH="false" flipV="false" rot="0">
              <a:off x="0" y="0"/>
              <a:ext cx="6872801" cy="1373523"/>
            </a:xfrm>
            <a:custGeom>
              <a:avLst/>
              <a:gdLst/>
              <a:ahLst/>
              <a:cxnLst/>
              <a:rect r="r" b="b" t="t" l="l"/>
              <a:pathLst>
                <a:path h="1373523" w="6872801">
                  <a:moveTo>
                    <a:pt x="0" y="0"/>
                  </a:moveTo>
                  <a:lnTo>
                    <a:pt x="6872801" y="0"/>
                  </a:lnTo>
                  <a:lnTo>
                    <a:pt x="6872801" y="1373523"/>
                  </a:lnTo>
                  <a:lnTo>
                    <a:pt x="0" y="1373523"/>
                  </a:lnTo>
                  <a:close/>
                </a:path>
              </a:pathLst>
            </a:custGeom>
            <a:solidFill>
              <a:srgbClr val="AAD7D4"/>
            </a:solidFill>
            <a:ln cap="sq">
              <a:noFill/>
              <a:prstDash val="solid"/>
              <a:miter/>
            </a:ln>
          </p:spPr>
        </p:sp>
        <p:sp>
          <p:nvSpPr>
            <p:cNvPr name="TextBox 5" id="5"/>
            <p:cNvSpPr txBox="true"/>
            <p:nvPr/>
          </p:nvSpPr>
          <p:spPr>
            <a:xfrm>
              <a:off x="0" y="85725"/>
              <a:ext cx="6872801" cy="1287798"/>
            </a:xfrm>
            <a:prstGeom prst="rect">
              <a:avLst/>
            </a:prstGeom>
          </p:spPr>
          <p:txBody>
            <a:bodyPr anchor="ctr" rtlCol="false" tIns="50800" lIns="50800" bIns="50800" rIns="50800"/>
            <a:lstStyle/>
            <a:p>
              <a:pPr algn="ctr">
                <a:lnSpc>
                  <a:spcPts val="1925"/>
                </a:lnSpc>
              </a:pPr>
            </a:p>
          </p:txBody>
        </p:sp>
      </p:grpSp>
      <p:grpSp>
        <p:nvGrpSpPr>
          <p:cNvPr name="Group 6" id="6"/>
          <p:cNvGrpSpPr/>
          <p:nvPr/>
        </p:nvGrpSpPr>
        <p:grpSpPr>
          <a:xfrm rot="0">
            <a:off x="9144000" y="5143500"/>
            <a:ext cx="8115300" cy="3018603"/>
            <a:chOff x="0" y="0"/>
            <a:chExt cx="2137363" cy="795023"/>
          </a:xfrm>
        </p:grpSpPr>
        <p:sp>
          <p:nvSpPr>
            <p:cNvPr name="Freeform 7" id="7"/>
            <p:cNvSpPr/>
            <p:nvPr/>
          </p:nvSpPr>
          <p:spPr>
            <a:xfrm flipH="false" flipV="false" rot="0">
              <a:off x="0" y="0"/>
              <a:ext cx="2137363" cy="795023"/>
            </a:xfrm>
            <a:custGeom>
              <a:avLst/>
              <a:gdLst/>
              <a:ahLst/>
              <a:cxnLst/>
              <a:rect r="r" b="b" t="t" l="l"/>
              <a:pathLst>
                <a:path h="795023" w="2137363">
                  <a:moveTo>
                    <a:pt x="28620" y="0"/>
                  </a:moveTo>
                  <a:lnTo>
                    <a:pt x="2108743" y="0"/>
                  </a:lnTo>
                  <a:cubicBezTo>
                    <a:pt x="2116334" y="0"/>
                    <a:pt x="2123613" y="3015"/>
                    <a:pt x="2128981" y="8383"/>
                  </a:cubicBezTo>
                  <a:cubicBezTo>
                    <a:pt x="2134348" y="13750"/>
                    <a:pt x="2137363" y="21029"/>
                    <a:pt x="2137363" y="28620"/>
                  </a:cubicBezTo>
                  <a:lnTo>
                    <a:pt x="2137363" y="766403"/>
                  </a:lnTo>
                  <a:cubicBezTo>
                    <a:pt x="2137363" y="782209"/>
                    <a:pt x="2124549" y="795023"/>
                    <a:pt x="2108743" y="795023"/>
                  </a:cubicBezTo>
                  <a:lnTo>
                    <a:pt x="28620" y="795023"/>
                  </a:lnTo>
                  <a:cubicBezTo>
                    <a:pt x="12813" y="795023"/>
                    <a:pt x="0" y="782209"/>
                    <a:pt x="0" y="766403"/>
                  </a:cubicBezTo>
                  <a:lnTo>
                    <a:pt x="0" y="28620"/>
                  </a:lnTo>
                  <a:cubicBezTo>
                    <a:pt x="0" y="12813"/>
                    <a:pt x="12813" y="0"/>
                    <a:pt x="28620" y="0"/>
                  </a:cubicBezTo>
                  <a:close/>
                </a:path>
              </a:pathLst>
            </a:custGeom>
            <a:solidFill>
              <a:srgbClr val="106861"/>
            </a:solidFill>
          </p:spPr>
        </p:sp>
        <p:sp>
          <p:nvSpPr>
            <p:cNvPr name="TextBox 8" id="8"/>
            <p:cNvSpPr txBox="true"/>
            <p:nvPr/>
          </p:nvSpPr>
          <p:spPr>
            <a:xfrm>
              <a:off x="0" y="-38100"/>
              <a:ext cx="2137363" cy="833123"/>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9729050" y="5522501"/>
            <a:ext cx="6224454" cy="21177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O</a:t>
            </a:r>
            <a:r>
              <a:rPr lang="en-US" sz="2499">
                <a:solidFill>
                  <a:srgbClr val="FDFBFB"/>
                </a:solidFill>
                <a:latin typeface="Poppins"/>
                <a:ea typeface="Poppins"/>
                <a:cs typeface="Poppins"/>
                <a:sym typeface="Poppins"/>
              </a:rPr>
              <a:t>rganizati</a:t>
            </a:r>
            <a:r>
              <a:rPr lang="en-US" sz="2499">
                <a:solidFill>
                  <a:srgbClr val="FDFBFB"/>
                </a:solidFill>
                <a:latin typeface="Poppins"/>
                <a:ea typeface="Poppins"/>
                <a:cs typeface="Poppins"/>
                <a:sym typeface="Poppins"/>
              </a:rPr>
              <a:t>on, project, and repository set up.</a:t>
            </a:r>
          </a:p>
          <a:p>
            <a:pPr algn="l" marL="539749" indent="-269875" lvl="1">
              <a:lnSpc>
                <a:spcPts val="4249"/>
              </a:lnSpc>
              <a:buFont typeface="Arial"/>
              <a:buChar char="•"/>
            </a:pPr>
            <a:r>
              <a:rPr lang="en-US" sz="2499">
                <a:solidFill>
                  <a:srgbClr val="FDFBFB"/>
                </a:solidFill>
                <a:latin typeface="Poppins"/>
                <a:ea typeface="Poppins"/>
                <a:cs typeface="Poppins"/>
                <a:sym typeface="Poppins"/>
              </a:rPr>
              <a:t>R</a:t>
            </a:r>
            <a:r>
              <a:rPr lang="en-US" sz="2499">
                <a:solidFill>
                  <a:srgbClr val="FDFBFB"/>
                </a:solidFill>
                <a:latin typeface="Poppins"/>
                <a:ea typeface="Poppins"/>
                <a:cs typeface="Poppins"/>
                <a:sym typeface="Poppins"/>
              </a:rPr>
              <a:t>epository initialized with README and linked to ADF for Git integration</a:t>
            </a:r>
          </a:p>
        </p:txBody>
      </p:sp>
      <p:sp>
        <p:nvSpPr>
          <p:cNvPr name="Freeform 10" id="10"/>
          <p:cNvSpPr/>
          <p:nvPr/>
        </p:nvSpPr>
        <p:spPr>
          <a:xfrm flipH="false" flipV="false" rot="0">
            <a:off x="16184396" y="1028700"/>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083134" y="1616740"/>
            <a:ext cx="6830714" cy="1286711"/>
            <a:chOff x="0" y="0"/>
            <a:chExt cx="2286638" cy="430737"/>
          </a:xfrm>
        </p:grpSpPr>
        <p:sp>
          <p:nvSpPr>
            <p:cNvPr name="Freeform 3" id="3"/>
            <p:cNvSpPr/>
            <p:nvPr/>
          </p:nvSpPr>
          <p:spPr>
            <a:xfrm flipH="false" flipV="false" rot="0">
              <a:off x="0" y="0"/>
              <a:ext cx="2286638" cy="430737"/>
            </a:xfrm>
            <a:custGeom>
              <a:avLst/>
              <a:gdLst/>
              <a:ahLst/>
              <a:cxnLst/>
              <a:rect r="r" b="b" t="t" l="l"/>
              <a:pathLst>
                <a:path h="430737" w="2286638">
                  <a:moveTo>
                    <a:pt x="22668" y="0"/>
                  </a:moveTo>
                  <a:lnTo>
                    <a:pt x="2263970" y="0"/>
                  </a:lnTo>
                  <a:cubicBezTo>
                    <a:pt x="2276489" y="0"/>
                    <a:pt x="2286638" y="10149"/>
                    <a:pt x="2286638" y="22668"/>
                  </a:cubicBezTo>
                  <a:lnTo>
                    <a:pt x="2286638" y="408069"/>
                  </a:lnTo>
                  <a:cubicBezTo>
                    <a:pt x="2286638" y="414081"/>
                    <a:pt x="2284250" y="419847"/>
                    <a:pt x="2279998" y="424098"/>
                  </a:cubicBezTo>
                  <a:cubicBezTo>
                    <a:pt x="2275747" y="428349"/>
                    <a:pt x="2269982" y="430737"/>
                    <a:pt x="2263970" y="430737"/>
                  </a:cubicBezTo>
                  <a:lnTo>
                    <a:pt x="22668" y="430737"/>
                  </a:lnTo>
                  <a:cubicBezTo>
                    <a:pt x="16656" y="430737"/>
                    <a:pt x="10890" y="428349"/>
                    <a:pt x="6639" y="424098"/>
                  </a:cubicBezTo>
                  <a:cubicBezTo>
                    <a:pt x="2388" y="419847"/>
                    <a:pt x="0" y="414081"/>
                    <a:pt x="0" y="408069"/>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name="TextBox 4" id="4"/>
            <p:cNvSpPr txBox="true"/>
            <p:nvPr/>
          </p:nvSpPr>
          <p:spPr>
            <a:xfrm>
              <a:off x="0" y="85725"/>
              <a:ext cx="2286638" cy="345012"/>
            </a:xfrm>
            <a:prstGeom prst="rect">
              <a:avLst/>
            </a:prstGeom>
          </p:spPr>
          <p:txBody>
            <a:bodyPr anchor="ctr" rtlCol="false" tIns="50800" lIns="50800" bIns="50800" rIns="50800"/>
            <a:lstStyle/>
            <a:p>
              <a:pPr algn="ctr">
                <a:lnSpc>
                  <a:spcPts val="1925"/>
                </a:lnSpc>
              </a:pPr>
            </a:p>
          </p:txBody>
        </p:sp>
      </p:grpSp>
      <p:grpSp>
        <p:nvGrpSpPr>
          <p:cNvPr name="Group 5" id="5"/>
          <p:cNvGrpSpPr/>
          <p:nvPr/>
        </p:nvGrpSpPr>
        <p:grpSpPr>
          <a:xfrm rot="0">
            <a:off x="10083134" y="3486722"/>
            <a:ext cx="6830714" cy="1207312"/>
            <a:chOff x="0" y="0"/>
            <a:chExt cx="2286638" cy="404158"/>
          </a:xfrm>
        </p:grpSpPr>
        <p:sp>
          <p:nvSpPr>
            <p:cNvPr name="Freeform 6" id="6"/>
            <p:cNvSpPr/>
            <p:nvPr/>
          </p:nvSpPr>
          <p:spPr>
            <a:xfrm flipH="false" flipV="false" rot="0">
              <a:off x="0" y="0"/>
              <a:ext cx="2286638" cy="404158"/>
            </a:xfrm>
            <a:custGeom>
              <a:avLst/>
              <a:gdLst/>
              <a:ahLst/>
              <a:cxnLst/>
              <a:rect r="r" b="b" t="t" l="l"/>
              <a:pathLst>
                <a:path h="404158" w="2286638">
                  <a:moveTo>
                    <a:pt x="22668" y="0"/>
                  </a:moveTo>
                  <a:lnTo>
                    <a:pt x="2263970" y="0"/>
                  </a:lnTo>
                  <a:cubicBezTo>
                    <a:pt x="2276489" y="0"/>
                    <a:pt x="2286638" y="10149"/>
                    <a:pt x="2286638" y="22668"/>
                  </a:cubicBezTo>
                  <a:lnTo>
                    <a:pt x="2286638" y="381490"/>
                  </a:lnTo>
                  <a:cubicBezTo>
                    <a:pt x="2286638" y="387502"/>
                    <a:pt x="2284250" y="393267"/>
                    <a:pt x="2279998" y="397518"/>
                  </a:cubicBezTo>
                  <a:cubicBezTo>
                    <a:pt x="2275747" y="401769"/>
                    <a:pt x="2269982" y="404158"/>
                    <a:pt x="2263970" y="404158"/>
                  </a:cubicBezTo>
                  <a:lnTo>
                    <a:pt x="22668" y="404158"/>
                  </a:lnTo>
                  <a:cubicBezTo>
                    <a:pt x="16656" y="404158"/>
                    <a:pt x="10890" y="401769"/>
                    <a:pt x="6639" y="397518"/>
                  </a:cubicBezTo>
                  <a:cubicBezTo>
                    <a:pt x="2388" y="393267"/>
                    <a:pt x="0" y="387502"/>
                    <a:pt x="0" y="381490"/>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name="TextBox 7" id="7"/>
            <p:cNvSpPr txBox="true"/>
            <p:nvPr/>
          </p:nvSpPr>
          <p:spPr>
            <a:xfrm>
              <a:off x="0" y="85725"/>
              <a:ext cx="2286638" cy="318433"/>
            </a:xfrm>
            <a:prstGeom prst="rect">
              <a:avLst/>
            </a:prstGeom>
          </p:spPr>
          <p:txBody>
            <a:bodyPr anchor="ctr" rtlCol="false" tIns="50800" lIns="50800" bIns="50800" rIns="50800"/>
            <a:lstStyle/>
            <a:p>
              <a:pPr algn="ctr">
                <a:lnSpc>
                  <a:spcPts val="1925"/>
                </a:lnSpc>
              </a:pPr>
            </a:p>
          </p:txBody>
        </p:sp>
      </p:grpSp>
      <p:grpSp>
        <p:nvGrpSpPr>
          <p:cNvPr name="Group 8" id="8"/>
          <p:cNvGrpSpPr/>
          <p:nvPr/>
        </p:nvGrpSpPr>
        <p:grpSpPr>
          <a:xfrm rot="0">
            <a:off x="10083134" y="5277305"/>
            <a:ext cx="6830714" cy="1481118"/>
            <a:chOff x="0" y="0"/>
            <a:chExt cx="2286638" cy="495816"/>
          </a:xfrm>
        </p:grpSpPr>
        <p:sp>
          <p:nvSpPr>
            <p:cNvPr name="Freeform 9" id="9"/>
            <p:cNvSpPr/>
            <p:nvPr/>
          </p:nvSpPr>
          <p:spPr>
            <a:xfrm flipH="false" flipV="false" rot="0">
              <a:off x="0" y="0"/>
              <a:ext cx="2286638" cy="495816"/>
            </a:xfrm>
            <a:custGeom>
              <a:avLst/>
              <a:gdLst/>
              <a:ahLst/>
              <a:cxnLst/>
              <a:rect r="r" b="b" t="t" l="l"/>
              <a:pathLst>
                <a:path h="495816" w="2286638">
                  <a:moveTo>
                    <a:pt x="22668" y="0"/>
                  </a:moveTo>
                  <a:lnTo>
                    <a:pt x="2263970" y="0"/>
                  </a:lnTo>
                  <a:cubicBezTo>
                    <a:pt x="2276489" y="0"/>
                    <a:pt x="2286638" y="10149"/>
                    <a:pt x="2286638" y="22668"/>
                  </a:cubicBezTo>
                  <a:lnTo>
                    <a:pt x="2286638" y="473148"/>
                  </a:lnTo>
                  <a:cubicBezTo>
                    <a:pt x="2286638" y="479160"/>
                    <a:pt x="2284250" y="484926"/>
                    <a:pt x="2279998" y="489177"/>
                  </a:cubicBezTo>
                  <a:cubicBezTo>
                    <a:pt x="2275747" y="493428"/>
                    <a:pt x="2269982" y="495816"/>
                    <a:pt x="2263970" y="495816"/>
                  </a:cubicBezTo>
                  <a:lnTo>
                    <a:pt x="22668" y="495816"/>
                  </a:lnTo>
                  <a:cubicBezTo>
                    <a:pt x="16656" y="495816"/>
                    <a:pt x="10890" y="493428"/>
                    <a:pt x="6639" y="489177"/>
                  </a:cubicBezTo>
                  <a:cubicBezTo>
                    <a:pt x="2388" y="484926"/>
                    <a:pt x="0" y="479160"/>
                    <a:pt x="0" y="473148"/>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name="TextBox 10" id="10"/>
            <p:cNvSpPr txBox="true"/>
            <p:nvPr/>
          </p:nvSpPr>
          <p:spPr>
            <a:xfrm>
              <a:off x="0" y="85725"/>
              <a:ext cx="2286638" cy="410091"/>
            </a:xfrm>
            <a:prstGeom prst="rect">
              <a:avLst/>
            </a:prstGeom>
          </p:spPr>
          <p:txBody>
            <a:bodyPr anchor="ctr" rtlCol="false" tIns="50800" lIns="50800" bIns="50800" rIns="50800"/>
            <a:lstStyle/>
            <a:p>
              <a:pPr algn="ctr">
                <a:lnSpc>
                  <a:spcPts val="1925"/>
                </a:lnSpc>
              </a:pPr>
            </a:p>
          </p:txBody>
        </p:sp>
      </p:grpSp>
      <p:grpSp>
        <p:nvGrpSpPr>
          <p:cNvPr name="Group 11" id="11"/>
          <p:cNvGrpSpPr/>
          <p:nvPr/>
        </p:nvGrpSpPr>
        <p:grpSpPr>
          <a:xfrm rot="0">
            <a:off x="10083134" y="7339447"/>
            <a:ext cx="6830714" cy="1481118"/>
            <a:chOff x="0" y="0"/>
            <a:chExt cx="2286638" cy="495816"/>
          </a:xfrm>
        </p:grpSpPr>
        <p:sp>
          <p:nvSpPr>
            <p:cNvPr name="Freeform 12" id="12"/>
            <p:cNvSpPr/>
            <p:nvPr/>
          </p:nvSpPr>
          <p:spPr>
            <a:xfrm flipH="false" flipV="false" rot="0">
              <a:off x="0" y="0"/>
              <a:ext cx="2286638" cy="495816"/>
            </a:xfrm>
            <a:custGeom>
              <a:avLst/>
              <a:gdLst/>
              <a:ahLst/>
              <a:cxnLst/>
              <a:rect r="r" b="b" t="t" l="l"/>
              <a:pathLst>
                <a:path h="495816" w="2286638">
                  <a:moveTo>
                    <a:pt x="22668" y="0"/>
                  </a:moveTo>
                  <a:lnTo>
                    <a:pt x="2263970" y="0"/>
                  </a:lnTo>
                  <a:cubicBezTo>
                    <a:pt x="2276489" y="0"/>
                    <a:pt x="2286638" y="10149"/>
                    <a:pt x="2286638" y="22668"/>
                  </a:cubicBezTo>
                  <a:lnTo>
                    <a:pt x="2286638" y="473148"/>
                  </a:lnTo>
                  <a:cubicBezTo>
                    <a:pt x="2286638" y="479160"/>
                    <a:pt x="2284250" y="484926"/>
                    <a:pt x="2279998" y="489177"/>
                  </a:cubicBezTo>
                  <a:cubicBezTo>
                    <a:pt x="2275747" y="493428"/>
                    <a:pt x="2269982" y="495816"/>
                    <a:pt x="2263970" y="495816"/>
                  </a:cubicBezTo>
                  <a:lnTo>
                    <a:pt x="22668" y="495816"/>
                  </a:lnTo>
                  <a:cubicBezTo>
                    <a:pt x="16656" y="495816"/>
                    <a:pt x="10890" y="493428"/>
                    <a:pt x="6639" y="489177"/>
                  </a:cubicBezTo>
                  <a:cubicBezTo>
                    <a:pt x="2388" y="484926"/>
                    <a:pt x="0" y="479160"/>
                    <a:pt x="0" y="473148"/>
                  </a:cubicBezTo>
                  <a:lnTo>
                    <a:pt x="0" y="22668"/>
                  </a:lnTo>
                  <a:cubicBezTo>
                    <a:pt x="0" y="16656"/>
                    <a:pt x="2388" y="10890"/>
                    <a:pt x="6639" y="6639"/>
                  </a:cubicBezTo>
                  <a:cubicBezTo>
                    <a:pt x="10890" y="2388"/>
                    <a:pt x="16656" y="0"/>
                    <a:pt x="22668" y="0"/>
                  </a:cubicBezTo>
                  <a:close/>
                </a:path>
              </a:pathLst>
            </a:custGeom>
            <a:solidFill>
              <a:srgbClr val="AAD7D4"/>
            </a:solidFill>
            <a:ln w="38100" cap="sq">
              <a:solidFill>
                <a:srgbClr val="000000"/>
              </a:solidFill>
              <a:prstDash val="solid"/>
              <a:miter/>
            </a:ln>
          </p:spPr>
        </p:sp>
        <p:sp>
          <p:nvSpPr>
            <p:cNvPr name="TextBox 13" id="13"/>
            <p:cNvSpPr txBox="true"/>
            <p:nvPr/>
          </p:nvSpPr>
          <p:spPr>
            <a:xfrm>
              <a:off x="0" y="85725"/>
              <a:ext cx="2286638" cy="410091"/>
            </a:xfrm>
            <a:prstGeom prst="rect">
              <a:avLst/>
            </a:prstGeom>
          </p:spPr>
          <p:txBody>
            <a:bodyPr anchor="ctr" rtlCol="false" tIns="50800" lIns="50800" bIns="50800" rIns="50800"/>
            <a:lstStyle/>
            <a:p>
              <a:pPr algn="ctr">
                <a:lnSpc>
                  <a:spcPts val="1925"/>
                </a:lnSpc>
              </a:pPr>
            </a:p>
          </p:txBody>
        </p:sp>
      </p:grpSp>
      <p:sp>
        <p:nvSpPr>
          <p:cNvPr name="Freeform 14" id="14"/>
          <p:cNvSpPr/>
          <p:nvPr/>
        </p:nvSpPr>
        <p:spPr>
          <a:xfrm flipH="false" flipV="false" rot="0">
            <a:off x="1028700" y="8162697"/>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784390" y="1815418"/>
            <a:ext cx="4539633"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Project Objectives</a:t>
            </a:r>
          </a:p>
        </p:txBody>
      </p:sp>
      <p:sp>
        <p:nvSpPr>
          <p:cNvPr name="TextBox 16" id="16"/>
          <p:cNvSpPr txBox="true"/>
          <p:nvPr/>
        </p:nvSpPr>
        <p:spPr>
          <a:xfrm rot="0">
            <a:off x="10506761" y="1824466"/>
            <a:ext cx="5795137" cy="873780"/>
          </a:xfrm>
          <a:prstGeom prst="rect">
            <a:avLst/>
          </a:prstGeom>
        </p:spPr>
        <p:txBody>
          <a:bodyPr anchor="t" rtlCol="false" tIns="0" lIns="0" bIns="0" rIns="0">
            <a:spAutoFit/>
          </a:bodyPr>
          <a:lstStyle/>
          <a:p>
            <a:pPr algn="ctr" marL="0" indent="0" lvl="0">
              <a:lnSpc>
                <a:spcPts val="3480"/>
              </a:lnSpc>
            </a:pPr>
            <a:r>
              <a:rPr lang="en-US" sz="2384">
                <a:solidFill>
                  <a:srgbClr val="1C2120"/>
                </a:solidFill>
                <a:latin typeface="Poppins"/>
                <a:ea typeface="Poppins"/>
                <a:cs typeface="Poppins"/>
                <a:sym typeface="Poppins"/>
              </a:rPr>
              <a:t>Establi</a:t>
            </a:r>
            <a:r>
              <a:rPr lang="en-US" sz="2384" u="none">
                <a:solidFill>
                  <a:srgbClr val="1C2120"/>
                </a:solidFill>
                <a:latin typeface="Poppins"/>
                <a:ea typeface="Poppins"/>
                <a:cs typeface="Poppins"/>
                <a:sym typeface="Poppins"/>
              </a:rPr>
              <a:t>sh a pipeline to move data efficiently.</a:t>
            </a:r>
          </a:p>
        </p:txBody>
      </p:sp>
      <p:sp>
        <p:nvSpPr>
          <p:cNvPr name="TextBox 17" id="17"/>
          <p:cNvSpPr txBox="true"/>
          <p:nvPr/>
        </p:nvSpPr>
        <p:spPr>
          <a:xfrm rot="0">
            <a:off x="10695084" y="3846348"/>
            <a:ext cx="5777455" cy="421386"/>
          </a:xfrm>
          <a:prstGeom prst="rect">
            <a:avLst/>
          </a:prstGeom>
        </p:spPr>
        <p:txBody>
          <a:bodyPr anchor="t" rtlCol="false" tIns="0" lIns="0" bIns="0" rIns="0">
            <a:spAutoFit/>
          </a:bodyPr>
          <a:lstStyle/>
          <a:p>
            <a:pPr algn="ctr" marL="0" indent="0" lvl="0">
              <a:lnSpc>
                <a:spcPts val="3212"/>
              </a:lnSpc>
              <a:spcBef>
                <a:spcPct val="0"/>
              </a:spcBef>
            </a:pPr>
            <a:r>
              <a:rPr lang="en-US" sz="2379" spc="38">
                <a:solidFill>
                  <a:srgbClr val="1C2120"/>
                </a:solidFill>
                <a:latin typeface="Poppins"/>
                <a:ea typeface="Poppins"/>
                <a:cs typeface="Poppins"/>
                <a:sym typeface="Poppins"/>
              </a:rPr>
              <a:t>Auto</a:t>
            </a:r>
            <a:r>
              <a:rPr lang="en-US" sz="2379" spc="38" u="none">
                <a:solidFill>
                  <a:srgbClr val="1C2120"/>
                </a:solidFill>
                <a:latin typeface="Poppins"/>
                <a:ea typeface="Poppins"/>
                <a:cs typeface="Poppins"/>
                <a:sym typeface="Poppins"/>
              </a:rPr>
              <a:t>mate pipeline execution via ADF.</a:t>
            </a:r>
          </a:p>
        </p:txBody>
      </p:sp>
      <p:sp>
        <p:nvSpPr>
          <p:cNvPr name="TextBox 18" id="18"/>
          <p:cNvSpPr txBox="true"/>
          <p:nvPr/>
        </p:nvSpPr>
        <p:spPr>
          <a:xfrm rot="0">
            <a:off x="10695084" y="5583347"/>
            <a:ext cx="5606815" cy="811883"/>
          </a:xfrm>
          <a:prstGeom prst="rect">
            <a:avLst/>
          </a:prstGeom>
        </p:spPr>
        <p:txBody>
          <a:bodyPr anchor="t" rtlCol="false" tIns="0" lIns="0" bIns="0" rIns="0">
            <a:spAutoFit/>
          </a:bodyPr>
          <a:lstStyle/>
          <a:p>
            <a:pPr algn="ctr" marL="0" indent="0" lvl="0">
              <a:lnSpc>
                <a:spcPts val="3214"/>
              </a:lnSpc>
              <a:spcBef>
                <a:spcPct val="0"/>
              </a:spcBef>
            </a:pPr>
            <a:r>
              <a:rPr lang="en-US" sz="2381" spc="38">
                <a:solidFill>
                  <a:srgbClr val="1C2120"/>
                </a:solidFill>
                <a:latin typeface="Poppins"/>
                <a:ea typeface="Poppins"/>
                <a:cs typeface="Poppins"/>
                <a:sym typeface="Poppins"/>
              </a:rPr>
              <a:t>Im</a:t>
            </a:r>
            <a:r>
              <a:rPr lang="en-US" sz="2381" spc="38" u="none">
                <a:solidFill>
                  <a:srgbClr val="1C2120"/>
                </a:solidFill>
                <a:latin typeface="Poppins"/>
                <a:ea typeface="Poppins"/>
                <a:cs typeface="Poppins"/>
                <a:sym typeface="Poppins"/>
              </a:rPr>
              <a:t>plement version control through Azure DevOps.</a:t>
            </a:r>
          </a:p>
        </p:txBody>
      </p:sp>
      <p:sp>
        <p:nvSpPr>
          <p:cNvPr name="TextBox 19" id="19"/>
          <p:cNvSpPr txBox="true"/>
          <p:nvPr/>
        </p:nvSpPr>
        <p:spPr>
          <a:xfrm rot="0">
            <a:off x="10695084" y="7607232"/>
            <a:ext cx="5606815" cy="811883"/>
          </a:xfrm>
          <a:prstGeom prst="rect">
            <a:avLst/>
          </a:prstGeom>
        </p:spPr>
        <p:txBody>
          <a:bodyPr anchor="t" rtlCol="false" tIns="0" lIns="0" bIns="0" rIns="0">
            <a:spAutoFit/>
          </a:bodyPr>
          <a:lstStyle/>
          <a:p>
            <a:pPr algn="ctr" marL="0" indent="0" lvl="0">
              <a:lnSpc>
                <a:spcPts val="3214"/>
              </a:lnSpc>
              <a:spcBef>
                <a:spcPct val="0"/>
              </a:spcBef>
            </a:pPr>
            <a:r>
              <a:rPr lang="en-US" sz="2381" spc="38">
                <a:solidFill>
                  <a:srgbClr val="1C2120"/>
                </a:solidFill>
                <a:latin typeface="Poppins"/>
                <a:ea typeface="Poppins"/>
                <a:cs typeface="Poppins"/>
                <a:sym typeface="Poppins"/>
              </a:rPr>
              <a:t>Pre</a:t>
            </a:r>
            <a:r>
              <a:rPr lang="en-US" sz="2381" spc="38" u="none">
                <a:solidFill>
                  <a:srgbClr val="1C2120"/>
                </a:solidFill>
                <a:latin typeface="Poppins"/>
                <a:ea typeface="Poppins"/>
                <a:cs typeface="Poppins"/>
                <a:sym typeface="Poppins"/>
              </a:rPr>
              <a:t>pare CI/CD framework for future deployments.</a:t>
            </a:r>
          </a:p>
        </p:txBody>
      </p:sp>
    </p:spTree>
  </p:cSld>
  <p:clrMapOvr>
    <a:masterClrMapping/>
  </p:clrMapOvr>
  <p:transition spd="slow">
    <p:cover dir="r"/>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379871" y="3007670"/>
            <a:ext cx="877120" cy="877120"/>
          </a:xfrm>
          <a:custGeom>
            <a:avLst/>
            <a:gdLst/>
            <a:ahLst/>
            <a:cxnLst/>
            <a:rect r="r" b="b" t="t" l="l"/>
            <a:pathLst>
              <a:path h="877120" w="877120">
                <a:moveTo>
                  <a:pt x="0" y="0"/>
                </a:moveTo>
                <a:lnTo>
                  <a:pt x="877121" y="0"/>
                </a:lnTo>
                <a:lnTo>
                  <a:pt x="877121" y="877121"/>
                </a:lnTo>
                <a:lnTo>
                  <a:pt x="0" y="877121"/>
                </a:lnTo>
                <a:lnTo>
                  <a:pt x="0" y="0"/>
                </a:lnTo>
                <a:close/>
              </a:path>
            </a:pathLst>
          </a:custGeom>
          <a:blipFill>
            <a:blip r:embed="rId2"/>
            <a:stretch>
              <a:fillRect l="0" t="0" r="0" b="0"/>
            </a:stretch>
          </a:blipFill>
        </p:spPr>
      </p:sp>
      <p:sp>
        <p:nvSpPr>
          <p:cNvPr name="Freeform 3" id="3"/>
          <p:cNvSpPr/>
          <p:nvPr/>
        </p:nvSpPr>
        <p:spPr>
          <a:xfrm flipH="false" flipV="false" rot="0">
            <a:off x="8342912" y="4522966"/>
            <a:ext cx="886222" cy="886222"/>
          </a:xfrm>
          <a:custGeom>
            <a:avLst/>
            <a:gdLst/>
            <a:ahLst/>
            <a:cxnLst/>
            <a:rect r="r" b="b" t="t" l="l"/>
            <a:pathLst>
              <a:path h="886222" w="886222">
                <a:moveTo>
                  <a:pt x="0" y="0"/>
                </a:moveTo>
                <a:lnTo>
                  <a:pt x="886221" y="0"/>
                </a:lnTo>
                <a:lnTo>
                  <a:pt x="886221" y="886221"/>
                </a:lnTo>
                <a:lnTo>
                  <a:pt x="0" y="886221"/>
                </a:lnTo>
                <a:lnTo>
                  <a:pt x="0" y="0"/>
                </a:lnTo>
                <a:close/>
              </a:path>
            </a:pathLst>
          </a:custGeom>
          <a:blipFill>
            <a:blip r:embed="rId3"/>
            <a:stretch>
              <a:fillRect l="0" t="0" r="0" b="0"/>
            </a:stretch>
          </a:blipFill>
        </p:spPr>
      </p:sp>
      <p:sp>
        <p:nvSpPr>
          <p:cNvPr name="Freeform 4" id="4"/>
          <p:cNvSpPr/>
          <p:nvPr/>
        </p:nvSpPr>
        <p:spPr>
          <a:xfrm flipH="false" flipV="false" rot="0">
            <a:off x="8290676" y="6047362"/>
            <a:ext cx="990692" cy="990692"/>
          </a:xfrm>
          <a:custGeom>
            <a:avLst/>
            <a:gdLst/>
            <a:ahLst/>
            <a:cxnLst/>
            <a:rect r="r" b="b" t="t" l="l"/>
            <a:pathLst>
              <a:path h="990692" w="990692">
                <a:moveTo>
                  <a:pt x="0" y="0"/>
                </a:moveTo>
                <a:lnTo>
                  <a:pt x="990693" y="0"/>
                </a:lnTo>
                <a:lnTo>
                  <a:pt x="990693" y="990693"/>
                </a:lnTo>
                <a:lnTo>
                  <a:pt x="0" y="990693"/>
                </a:lnTo>
                <a:lnTo>
                  <a:pt x="0" y="0"/>
                </a:lnTo>
                <a:close/>
              </a:path>
            </a:pathLst>
          </a:custGeom>
          <a:blipFill>
            <a:blip r:embed="rId4"/>
            <a:stretch>
              <a:fillRect l="0" t="0" r="0" b="0"/>
            </a:stretch>
          </a:blipFill>
        </p:spPr>
      </p:sp>
      <p:sp>
        <p:nvSpPr>
          <p:cNvPr name="Freeform 5" id="5"/>
          <p:cNvSpPr/>
          <p:nvPr/>
        </p:nvSpPr>
        <p:spPr>
          <a:xfrm flipH="false" flipV="false" rot="0">
            <a:off x="7092856" y="6108382"/>
            <a:ext cx="929673" cy="929673"/>
          </a:xfrm>
          <a:custGeom>
            <a:avLst/>
            <a:gdLst/>
            <a:ahLst/>
            <a:cxnLst/>
            <a:rect r="r" b="b" t="t" l="l"/>
            <a:pathLst>
              <a:path h="929673" w="929673">
                <a:moveTo>
                  <a:pt x="0" y="0"/>
                </a:moveTo>
                <a:lnTo>
                  <a:pt x="929672" y="0"/>
                </a:lnTo>
                <a:lnTo>
                  <a:pt x="929672" y="929673"/>
                </a:lnTo>
                <a:lnTo>
                  <a:pt x="0" y="929673"/>
                </a:lnTo>
                <a:lnTo>
                  <a:pt x="0" y="0"/>
                </a:lnTo>
                <a:close/>
              </a:path>
            </a:pathLst>
          </a:custGeom>
          <a:blipFill>
            <a:blip r:embed="rId5"/>
            <a:stretch>
              <a:fillRect l="0" t="0" r="0" b="0"/>
            </a:stretch>
          </a:blipFill>
        </p:spPr>
      </p:sp>
      <p:sp>
        <p:nvSpPr>
          <p:cNvPr name="Freeform 6" id="6"/>
          <p:cNvSpPr/>
          <p:nvPr/>
        </p:nvSpPr>
        <p:spPr>
          <a:xfrm flipH="false" flipV="false" rot="0">
            <a:off x="8379871" y="1550528"/>
            <a:ext cx="877120" cy="821606"/>
          </a:xfrm>
          <a:custGeom>
            <a:avLst/>
            <a:gdLst/>
            <a:ahLst/>
            <a:cxnLst/>
            <a:rect r="r" b="b" t="t" l="l"/>
            <a:pathLst>
              <a:path h="821606" w="877120">
                <a:moveTo>
                  <a:pt x="0" y="0"/>
                </a:moveTo>
                <a:lnTo>
                  <a:pt x="877121" y="0"/>
                </a:lnTo>
                <a:lnTo>
                  <a:pt x="877121" y="821607"/>
                </a:lnTo>
                <a:lnTo>
                  <a:pt x="0" y="821607"/>
                </a:lnTo>
                <a:lnTo>
                  <a:pt x="0" y="0"/>
                </a:lnTo>
                <a:close/>
              </a:path>
            </a:pathLst>
          </a:custGeom>
          <a:blipFill>
            <a:blip r:embed="rId6"/>
            <a:stretch>
              <a:fillRect l="0" t="0" r="0" b="0"/>
            </a:stretch>
          </a:blipFill>
        </p:spPr>
      </p:sp>
      <p:sp>
        <p:nvSpPr>
          <p:cNvPr name="TextBox 7" id="7"/>
          <p:cNvSpPr txBox="true"/>
          <p:nvPr/>
        </p:nvSpPr>
        <p:spPr>
          <a:xfrm rot="0">
            <a:off x="1589373" y="1574685"/>
            <a:ext cx="4813753" cy="913765"/>
          </a:xfrm>
          <a:prstGeom prst="rect">
            <a:avLst/>
          </a:prstGeom>
        </p:spPr>
        <p:txBody>
          <a:bodyPr anchor="t" rtlCol="false" tIns="0" lIns="0" bIns="0" rIns="0">
            <a:spAutoFit/>
          </a:bodyPr>
          <a:lstStyle/>
          <a:p>
            <a:pPr algn="l" marL="0" indent="0" lvl="1">
              <a:lnSpc>
                <a:spcPts val="6305"/>
              </a:lnSpc>
              <a:spcBef>
                <a:spcPct val="0"/>
              </a:spcBef>
            </a:pPr>
            <a:r>
              <a:rPr lang="en-US" b="true" sz="6500">
                <a:solidFill>
                  <a:srgbClr val="1C2120"/>
                </a:solidFill>
                <a:latin typeface="Poppins Bold"/>
                <a:ea typeface="Poppins Bold"/>
                <a:cs typeface="Poppins Bold"/>
                <a:sym typeface="Poppins Bold"/>
              </a:rPr>
              <a:t> Tools Used</a:t>
            </a:r>
          </a:p>
        </p:txBody>
      </p:sp>
      <p:sp>
        <p:nvSpPr>
          <p:cNvPr name="TextBox 8" id="8"/>
          <p:cNvSpPr txBox="true"/>
          <p:nvPr/>
        </p:nvSpPr>
        <p:spPr>
          <a:xfrm rot="0">
            <a:off x="9732879" y="1798205"/>
            <a:ext cx="6290068" cy="381000"/>
          </a:xfrm>
          <a:prstGeom prst="rect">
            <a:avLst/>
          </a:prstGeom>
        </p:spPr>
        <p:txBody>
          <a:bodyPr anchor="t" rtlCol="false" tIns="0" lIns="0" bIns="0" rIns="0">
            <a:spAutoFit/>
          </a:bodyPr>
          <a:lstStyle/>
          <a:p>
            <a:pPr algn="l">
              <a:lnSpc>
                <a:spcPts val="2849"/>
              </a:lnSpc>
              <a:spcBef>
                <a:spcPct val="0"/>
              </a:spcBef>
            </a:pPr>
            <a:r>
              <a:rPr lang="en-US" b="true" sz="2499">
                <a:solidFill>
                  <a:srgbClr val="1C2120"/>
                </a:solidFill>
                <a:latin typeface="Poppins Bold"/>
                <a:ea typeface="Poppins Bold"/>
                <a:cs typeface="Poppins Bold"/>
                <a:sym typeface="Poppins Bold"/>
              </a:rPr>
              <a:t>Az</a:t>
            </a:r>
            <a:r>
              <a:rPr lang="en-US" b="true" sz="2499">
                <a:solidFill>
                  <a:srgbClr val="1C2120"/>
                </a:solidFill>
                <a:latin typeface="Poppins Bold"/>
                <a:ea typeface="Poppins Bold"/>
                <a:cs typeface="Poppins Bold"/>
                <a:sym typeface="Poppins Bold"/>
              </a:rPr>
              <a:t>ure Portal –</a:t>
            </a:r>
            <a:r>
              <a:rPr lang="en-US" sz="2499">
                <a:solidFill>
                  <a:srgbClr val="1C2120"/>
                </a:solidFill>
                <a:latin typeface="Poppins"/>
                <a:ea typeface="Poppins"/>
                <a:cs typeface="Poppins"/>
                <a:sym typeface="Poppins"/>
              </a:rPr>
              <a:t> Resource management.</a:t>
            </a:r>
          </a:p>
        </p:txBody>
      </p:sp>
      <p:sp>
        <p:nvSpPr>
          <p:cNvPr name="TextBox 9" id="9"/>
          <p:cNvSpPr txBox="true"/>
          <p:nvPr/>
        </p:nvSpPr>
        <p:spPr>
          <a:xfrm rot="0">
            <a:off x="9732879" y="3250968"/>
            <a:ext cx="7063256" cy="381000"/>
          </a:xfrm>
          <a:prstGeom prst="rect">
            <a:avLst/>
          </a:prstGeom>
        </p:spPr>
        <p:txBody>
          <a:bodyPr anchor="t" rtlCol="false" tIns="0" lIns="0" bIns="0" rIns="0">
            <a:spAutoFit/>
          </a:bodyPr>
          <a:lstStyle/>
          <a:p>
            <a:pPr algn="l">
              <a:lnSpc>
                <a:spcPts val="2849"/>
              </a:lnSpc>
              <a:spcBef>
                <a:spcPct val="0"/>
              </a:spcBef>
            </a:pPr>
            <a:r>
              <a:rPr lang="en-US" b="true" sz="2499">
                <a:solidFill>
                  <a:srgbClr val="1C2120"/>
                </a:solidFill>
                <a:latin typeface="Poppins Bold"/>
                <a:ea typeface="Poppins Bold"/>
                <a:cs typeface="Poppins Bold"/>
                <a:sym typeface="Poppins Bold"/>
              </a:rPr>
              <a:t>Az</a:t>
            </a:r>
            <a:r>
              <a:rPr lang="en-US" b="true" sz="2499">
                <a:solidFill>
                  <a:srgbClr val="1C2120"/>
                </a:solidFill>
                <a:latin typeface="Poppins Bold"/>
                <a:ea typeface="Poppins Bold"/>
                <a:cs typeface="Poppins Bold"/>
                <a:sym typeface="Poppins Bold"/>
              </a:rPr>
              <a:t>ure Data Factory –</a:t>
            </a:r>
            <a:r>
              <a:rPr lang="en-US" sz="2499">
                <a:solidFill>
                  <a:srgbClr val="1C2120"/>
                </a:solidFill>
                <a:latin typeface="Poppins"/>
                <a:ea typeface="Poppins"/>
                <a:cs typeface="Poppins"/>
                <a:sym typeface="Poppins"/>
              </a:rPr>
              <a:t> Pipeline orchestration.</a:t>
            </a:r>
          </a:p>
        </p:txBody>
      </p:sp>
      <p:sp>
        <p:nvSpPr>
          <p:cNvPr name="TextBox 10" id="10"/>
          <p:cNvSpPr txBox="true"/>
          <p:nvPr/>
        </p:nvSpPr>
        <p:spPr>
          <a:xfrm rot="0">
            <a:off x="9757256" y="4770814"/>
            <a:ext cx="6460707" cy="381000"/>
          </a:xfrm>
          <a:prstGeom prst="rect">
            <a:avLst/>
          </a:prstGeom>
        </p:spPr>
        <p:txBody>
          <a:bodyPr anchor="t" rtlCol="false" tIns="0" lIns="0" bIns="0" rIns="0">
            <a:spAutoFit/>
          </a:bodyPr>
          <a:lstStyle/>
          <a:p>
            <a:pPr algn="l">
              <a:lnSpc>
                <a:spcPts val="2849"/>
              </a:lnSpc>
              <a:spcBef>
                <a:spcPct val="0"/>
              </a:spcBef>
            </a:pPr>
            <a:r>
              <a:rPr lang="en-US" b="true" sz="2499">
                <a:solidFill>
                  <a:srgbClr val="1C2120"/>
                </a:solidFill>
                <a:latin typeface="Poppins Bold"/>
                <a:ea typeface="Poppins Bold"/>
                <a:cs typeface="Poppins Bold"/>
                <a:sym typeface="Poppins Bold"/>
              </a:rPr>
              <a:t>Az</a:t>
            </a:r>
            <a:r>
              <a:rPr lang="en-US" b="true" sz="2499">
                <a:solidFill>
                  <a:srgbClr val="1C2120"/>
                </a:solidFill>
                <a:latin typeface="Poppins Bold"/>
                <a:ea typeface="Poppins Bold"/>
                <a:cs typeface="Poppins Bold"/>
                <a:sym typeface="Poppins Bold"/>
              </a:rPr>
              <a:t>ure DevOps – </a:t>
            </a:r>
            <a:r>
              <a:rPr lang="en-US" sz="2499">
                <a:solidFill>
                  <a:srgbClr val="1C2120"/>
                </a:solidFill>
                <a:latin typeface="Poppins"/>
                <a:ea typeface="Poppins"/>
                <a:cs typeface="Poppins"/>
                <a:sym typeface="Poppins"/>
              </a:rPr>
              <a:t>Version control &amp; CI/CD.</a:t>
            </a:r>
          </a:p>
        </p:txBody>
      </p:sp>
      <p:sp>
        <p:nvSpPr>
          <p:cNvPr name="TextBox 11" id="11"/>
          <p:cNvSpPr txBox="true"/>
          <p:nvPr/>
        </p:nvSpPr>
        <p:spPr>
          <a:xfrm rot="0">
            <a:off x="9757256" y="6144593"/>
            <a:ext cx="5973165" cy="882650"/>
          </a:xfrm>
          <a:prstGeom prst="rect">
            <a:avLst/>
          </a:prstGeom>
        </p:spPr>
        <p:txBody>
          <a:bodyPr anchor="t" rtlCol="false" tIns="0" lIns="0" bIns="0" rIns="0">
            <a:spAutoFit/>
          </a:bodyPr>
          <a:lstStyle/>
          <a:p>
            <a:pPr algn="l">
              <a:lnSpc>
                <a:spcPts val="3474"/>
              </a:lnSpc>
            </a:pPr>
            <a:r>
              <a:rPr lang="en-US" sz="2499" b="true">
                <a:solidFill>
                  <a:srgbClr val="1C2120"/>
                </a:solidFill>
                <a:latin typeface="Poppins Bold"/>
                <a:ea typeface="Poppins Bold"/>
                <a:cs typeface="Poppins Bold"/>
                <a:sym typeface="Poppins Bold"/>
              </a:rPr>
              <a:t>S</a:t>
            </a:r>
            <a:r>
              <a:rPr lang="en-US" b="true" sz="2499">
                <a:solidFill>
                  <a:srgbClr val="1C2120"/>
                </a:solidFill>
                <a:latin typeface="Poppins Bold"/>
                <a:ea typeface="Poppins Bold"/>
                <a:cs typeface="Poppins Bold"/>
                <a:sym typeface="Poppins Bold"/>
              </a:rPr>
              <a:t>ynapse Studio &amp; SQL –</a:t>
            </a:r>
            <a:r>
              <a:rPr lang="en-US" sz="2499">
                <a:solidFill>
                  <a:srgbClr val="1C2120"/>
                </a:solidFill>
                <a:latin typeface="Poppins"/>
                <a:ea typeface="Poppins"/>
                <a:cs typeface="Poppins"/>
                <a:sym typeface="Poppins"/>
              </a:rPr>
              <a:t> Querying and validation.</a:t>
            </a:r>
          </a:p>
        </p:txBody>
      </p:sp>
      <p:grpSp>
        <p:nvGrpSpPr>
          <p:cNvPr name="Group 12" id="12"/>
          <p:cNvGrpSpPr/>
          <p:nvPr/>
        </p:nvGrpSpPr>
        <p:grpSpPr>
          <a:xfrm rot="0">
            <a:off x="-141035" y="8190580"/>
            <a:ext cx="20530640" cy="2405040"/>
            <a:chOff x="0" y="0"/>
            <a:chExt cx="6872801" cy="805107"/>
          </a:xfrm>
        </p:grpSpPr>
        <p:sp>
          <p:nvSpPr>
            <p:cNvPr name="Freeform 13" id="13"/>
            <p:cNvSpPr/>
            <p:nvPr/>
          </p:nvSpPr>
          <p:spPr>
            <a:xfrm flipH="false" flipV="false" rot="0">
              <a:off x="0" y="0"/>
              <a:ext cx="6872801" cy="805107"/>
            </a:xfrm>
            <a:custGeom>
              <a:avLst/>
              <a:gdLst/>
              <a:ahLst/>
              <a:cxnLst/>
              <a:rect r="r" b="b" t="t" l="l"/>
              <a:pathLst>
                <a:path h="805107" w="6872801">
                  <a:moveTo>
                    <a:pt x="0" y="0"/>
                  </a:moveTo>
                  <a:lnTo>
                    <a:pt x="6872801" y="0"/>
                  </a:lnTo>
                  <a:lnTo>
                    <a:pt x="6872801" y="805107"/>
                  </a:lnTo>
                  <a:lnTo>
                    <a:pt x="0" y="805107"/>
                  </a:lnTo>
                  <a:close/>
                </a:path>
              </a:pathLst>
            </a:custGeom>
            <a:solidFill>
              <a:srgbClr val="AAD7D4"/>
            </a:solidFill>
            <a:ln cap="sq">
              <a:noFill/>
              <a:prstDash val="solid"/>
              <a:miter/>
            </a:ln>
          </p:spPr>
        </p:sp>
        <p:sp>
          <p:nvSpPr>
            <p:cNvPr name="TextBox 14" id="14"/>
            <p:cNvSpPr txBox="true"/>
            <p:nvPr/>
          </p:nvSpPr>
          <p:spPr>
            <a:xfrm>
              <a:off x="0" y="85725"/>
              <a:ext cx="6872801" cy="719382"/>
            </a:xfrm>
            <a:prstGeom prst="rect">
              <a:avLst/>
            </a:prstGeom>
          </p:spPr>
          <p:txBody>
            <a:bodyPr anchor="ctr" rtlCol="false" tIns="50800" lIns="50800" bIns="50800" rIns="50800"/>
            <a:lstStyle/>
            <a:p>
              <a:pPr algn="ctr">
                <a:lnSpc>
                  <a:spcPts val="1925"/>
                </a:lnSpc>
              </a:pPr>
            </a:p>
          </p:txBody>
        </p:sp>
      </p:grpSp>
      <p:sp>
        <p:nvSpPr>
          <p:cNvPr name="Freeform 15" id="15"/>
          <p:cNvSpPr/>
          <p:nvPr/>
        </p:nvSpPr>
        <p:spPr>
          <a:xfrm flipH="false" flipV="false" rot="0">
            <a:off x="1028700" y="8162697"/>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transition spd="slow">
    <p:cover dir="u"/>
  </p:transition>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62504" y="1460470"/>
            <a:ext cx="4588387"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Execution Overview</a:t>
            </a:r>
          </a:p>
        </p:txBody>
      </p:sp>
      <p:grpSp>
        <p:nvGrpSpPr>
          <p:cNvPr name="Group 3" id="3"/>
          <p:cNvGrpSpPr/>
          <p:nvPr/>
        </p:nvGrpSpPr>
        <p:grpSpPr>
          <a:xfrm rot="0">
            <a:off x="8090276" y="1489045"/>
            <a:ext cx="9342476" cy="3654455"/>
            <a:chOff x="0" y="0"/>
            <a:chExt cx="2460570" cy="962490"/>
          </a:xfrm>
        </p:grpSpPr>
        <p:sp>
          <p:nvSpPr>
            <p:cNvPr name="Freeform 4" id="4"/>
            <p:cNvSpPr/>
            <p:nvPr/>
          </p:nvSpPr>
          <p:spPr>
            <a:xfrm flipH="false" flipV="false" rot="0">
              <a:off x="0" y="0"/>
              <a:ext cx="2460570" cy="962490"/>
            </a:xfrm>
            <a:custGeom>
              <a:avLst/>
              <a:gdLst/>
              <a:ahLst/>
              <a:cxnLst/>
              <a:rect r="r" b="b" t="t" l="l"/>
              <a:pathLst>
                <a:path h="962490" w="2460570">
                  <a:moveTo>
                    <a:pt x="24860" y="0"/>
                  </a:moveTo>
                  <a:lnTo>
                    <a:pt x="2435710" y="0"/>
                  </a:lnTo>
                  <a:cubicBezTo>
                    <a:pt x="2449440" y="0"/>
                    <a:pt x="2460570" y="11130"/>
                    <a:pt x="2460570" y="24860"/>
                  </a:cubicBezTo>
                  <a:lnTo>
                    <a:pt x="2460570" y="937630"/>
                  </a:lnTo>
                  <a:cubicBezTo>
                    <a:pt x="2460570" y="951360"/>
                    <a:pt x="2449440" y="962490"/>
                    <a:pt x="2435710" y="962490"/>
                  </a:cubicBezTo>
                  <a:lnTo>
                    <a:pt x="24860" y="962490"/>
                  </a:lnTo>
                  <a:cubicBezTo>
                    <a:pt x="11130" y="962490"/>
                    <a:pt x="0" y="951360"/>
                    <a:pt x="0" y="937630"/>
                  </a:cubicBezTo>
                  <a:lnTo>
                    <a:pt x="0" y="24860"/>
                  </a:lnTo>
                  <a:cubicBezTo>
                    <a:pt x="0" y="11130"/>
                    <a:pt x="11130" y="0"/>
                    <a:pt x="24860" y="0"/>
                  </a:cubicBezTo>
                  <a:close/>
                </a:path>
              </a:pathLst>
            </a:custGeom>
            <a:solidFill>
              <a:srgbClr val="106861"/>
            </a:solidFill>
          </p:spPr>
        </p:sp>
        <p:sp>
          <p:nvSpPr>
            <p:cNvPr name="TextBox 5" id="5"/>
            <p:cNvSpPr txBox="true"/>
            <p:nvPr/>
          </p:nvSpPr>
          <p:spPr>
            <a:xfrm>
              <a:off x="0" y="-38100"/>
              <a:ext cx="2460570" cy="1000590"/>
            </a:xfrm>
            <a:prstGeom prst="rect">
              <a:avLst/>
            </a:prstGeom>
          </p:spPr>
          <p:txBody>
            <a:bodyPr anchor="ctr" rtlCol="false" tIns="50800" lIns="50800" bIns="50800" rIns="50800"/>
            <a:lstStyle/>
            <a:p>
              <a:pPr algn="ctr">
                <a:lnSpc>
                  <a:spcPts val="2859"/>
                </a:lnSpc>
              </a:pPr>
            </a:p>
          </p:txBody>
        </p:sp>
      </p:grpSp>
      <p:sp>
        <p:nvSpPr>
          <p:cNvPr name="TextBox 6" id="6"/>
          <p:cNvSpPr txBox="true"/>
          <p:nvPr/>
        </p:nvSpPr>
        <p:spPr>
          <a:xfrm rot="0">
            <a:off x="8686392" y="1906047"/>
            <a:ext cx="8150244" cy="2651249"/>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Provisioned n</a:t>
            </a:r>
            <a:r>
              <a:rPr lang="en-US" sz="2499">
                <a:solidFill>
                  <a:srgbClr val="FDFBFB"/>
                </a:solidFill>
                <a:latin typeface="Poppins"/>
                <a:ea typeface="Poppins"/>
                <a:cs typeface="Poppins"/>
                <a:sym typeface="Poppins"/>
              </a:rPr>
              <a:t>ecessary</a:t>
            </a:r>
            <a:r>
              <a:rPr lang="en-US" sz="2499">
                <a:solidFill>
                  <a:srgbClr val="FDFBFB"/>
                </a:solidFill>
                <a:latin typeface="Poppins"/>
                <a:ea typeface="Poppins"/>
                <a:cs typeface="Poppins"/>
                <a:sym typeface="Poppins"/>
              </a:rPr>
              <a:t> resources.</a:t>
            </a:r>
          </a:p>
          <a:p>
            <a:pPr algn="l" marL="539749" indent="-269875" lvl="1">
              <a:lnSpc>
                <a:spcPts val="4249"/>
              </a:lnSpc>
              <a:buFont typeface="Arial"/>
              <a:buChar char="•"/>
            </a:pPr>
            <a:r>
              <a:rPr lang="en-US" sz="2499">
                <a:solidFill>
                  <a:srgbClr val="FDFBFB"/>
                </a:solidFill>
                <a:latin typeface="Poppins"/>
                <a:ea typeface="Poppins"/>
                <a:cs typeface="Poppins"/>
                <a:sym typeface="Poppins"/>
              </a:rPr>
              <a:t>Created linked services, datasets, and pipeline.</a:t>
            </a:r>
          </a:p>
          <a:p>
            <a:pPr algn="l" marL="539749" indent="-269875" lvl="1">
              <a:lnSpc>
                <a:spcPts val="4249"/>
              </a:lnSpc>
              <a:buFont typeface="Arial"/>
              <a:buChar char="•"/>
            </a:pPr>
            <a:r>
              <a:rPr lang="en-US" sz="2499">
                <a:solidFill>
                  <a:srgbClr val="FDFBFB"/>
                </a:solidFill>
                <a:latin typeface="Poppins"/>
                <a:ea typeface="Poppins"/>
                <a:cs typeface="Poppins"/>
                <a:sym typeface="Poppins"/>
              </a:rPr>
              <a:t>Debugged pipeline and validated output.</a:t>
            </a:r>
          </a:p>
          <a:p>
            <a:pPr algn="l" marL="539749" indent="-269875" lvl="1">
              <a:lnSpc>
                <a:spcPts val="4249"/>
              </a:lnSpc>
              <a:buFont typeface="Arial"/>
              <a:buChar char="•"/>
            </a:pPr>
            <a:r>
              <a:rPr lang="en-US" sz="2499">
                <a:solidFill>
                  <a:srgbClr val="FDFBFB"/>
                </a:solidFill>
                <a:latin typeface="Poppins"/>
                <a:ea typeface="Poppins"/>
                <a:cs typeface="Poppins"/>
                <a:sym typeface="Poppins"/>
              </a:rPr>
              <a:t>Integrated with DevOps for source control.</a:t>
            </a:r>
          </a:p>
          <a:p>
            <a:pPr algn="l" marL="539749" indent="-269875" lvl="1">
              <a:lnSpc>
                <a:spcPts val="4249"/>
              </a:lnSpc>
              <a:buFont typeface="Arial"/>
              <a:buChar char="•"/>
            </a:pPr>
            <a:r>
              <a:rPr lang="en-US" sz="2499">
                <a:solidFill>
                  <a:srgbClr val="FDFBFB"/>
                </a:solidFill>
                <a:latin typeface="Poppins"/>
                <a:ea typeface="Poppins"/>
                <a:cs typeface="Poppins"/>
                <a:sym typeface="Poppins"/>
              </a:rPr>
              <a:t>Configured CI/CD.</a:t>
            </a:r>
          </a:p>
        </p:txBody>
      </p:sp>
      <p:grpSp>
        <p:nvGrpSpPr>
          <p:cNvPr name="Group 7" id="7"/>
          <p:cNvGrpSpPr/>
          <p:nvPr/>
        </p:nvGrpSpPr>
        <p:grpSpPr>
          <a:xfrm rot="0">
            <a:off x="-141035" y="6289167"/>
            <a:ext cx="18677981" cy="2453794"/>
            <a:chOff x="0" y="0"/>
            <a:chExt cx="6252608" cy="821428"/>
          </a:xfrm>
        </p:grpSpPr>
        <p:sp>
          <p:nvSpPr>
            <p:cNvPr name="Freeform 8" id="8"/>
            <p:cNvSpPr/>
            <p:nvPr/>
          </p:nvSpPr>
          <p:spPr>
            <a:xfrm flipH="false" flipV="false" rot="0">
              <a:off x="0" y="0"/>
              <a:ext cx="6252608" cy="821428"/>
            </a:xfrm>
            <a:custGeom>
              <a:avLst/>
              <a:gdLst/>
              <a:ahLst/>
              <a:cxnLst/>
              <a:rect r="r" b="b" t="t" l="l"/>
              <a:pathLst>
                <a:path h="821428" w="6252608">
                  <a:moveTo>
                    <a:pt x="0" y="0"/>
                  </a:moveTo>
                  <a:lnTo>
                    <a:pt x="6252608" y="0"/>
                  </a:lnTo>
                  <a:lnTo>
                    <a:pt x="6252608" y="821428"/>
                  </a:lnTo>
                  <a:lnTo>
                    <a:pt x="0" y="821428"/>
                  </a:lnTo>
                  <a:close/>
                </a:path>
              </a:pathLst>
            </a:custGeom>
            <a:solidFill>
              <a:srgbClr val="AAD7D4"/>
            </a:solidFill>
            <a:ln cap="sq">
              <a:noFill/>
              <a:prstDash val="solid"/>
              <a:miter/>
            </a:ln>
          </p:spPr>
        </p:sp>
        <p:sp>
          <p:nvSpPr>
            <p:cNvPr name="TextBox 9" id="9"/>
            <p:cNvSpPr txBox="true"/>
            <p:nvPr/>
          </p:nvSpPr>
          <p:spPr>
            <a:xfrm>
              <a:off x="0" y="85725"/>
              <a:ext cx="6252608" cy="735703"/>
            </a:xfrm>
            <a:prstGeom prst="rect">
              <a:avLst/>
            </a:prstGeom>
          </p:spPr>
          <p:txBody>
            <a:bodyPr anchor="ctr" rtlCol="false" tIns="50800" lIns="50800" bIns="50800" rIns="50800"/>
            <a:lstStyle/>
            <a:p>
              <a:pPr algn="ctr">
                <a:lnSpc>
                  <a:spcPts val="1925"/>
                </a:lnSpc>
              </a:pPr>
            </a:p>
          </p:txBody>
        </p:sp>
      </p:grpSp>
    </p:spTree>
  </p:cSld>
  <p:clrMapOvr>
    <a:masterClrMapping/>
  </p:clrMapOvr>
  <p:transition spd="slow">
    <p:cover dir="d"/>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4991" y="786534"/>
            <a:ext cx="18677981" cy="3885891"/>
            <a:chOff x="0" y="0"/>
            <a:chExt cx="6252608" cy="1300834"/>
          </a:xfrm>
        </p:grpSpPr>
        <p:sp>
          <p:nvSpPr>
            <p:cNvPr name="Freeform 3" id="3"/>
            <p:cNvSpPr/>
            <p:nvPr/>
          </p:nvSpPr>
          <p:spPr>
            <a:xfrm flipH="false" flipV="false" rot="0">
              <a:off x="0" y="0"/>
              <a:ext cx="6252608" cy="1300834"/>
            </a:xfrm>
            <a:custGeom>
              <a:avLst/>
              <a:gdLst/>
              <a:ahLst/>
              <a:cxnLst/>
              <a:rect r="r" b="b" t="t" l="l"/>
              <a:pathLst>
                <a:path h="1300834" w="6252608">
                  <a:moveTo>
                    <a:pt x="0" y="0"/>
                  </a:moveTo>
                  <a:lnTo>
                    <a:pt x="6252608" y="0"/>
                  </a:lnTo>
                  <a:lnTo>
                    <a:pt x="6252608" y="1300834"/>
                  </a:lnTo>
                  <a:lnTo>
                    <a:pt x="0" y="1300834"/>
                  </a:lnTo>
                  <a:close/>
                </a:path>
              </a:pathLst>
            </a:custGeom>
            <a:solidFill>
              <a:srgbClr val="AAD7D4"/>
            </a:solidFill>
            <a:ln cap="sq">
              <a:noFill/>
              <a:prstDash val="solid"/>
              <a:miter/>
            </a:ln>
          </p:spPr>
        </p:sp>
        <p:sp>
          <p:nvSpPr>
            <p:cNvPr name="TextBox 4" id="4"/>
            <p:cNvSpPr txBox="true"/>
            <p:nvPr/>
          </p:nvSpPr>
          <p:spPr>
            <a:xfrm>
              <a:off x="0" y="85725"/>
              <a:ext cx="6252608" cy="1215109"/>
            </a:xfrm>
            <a:prstGeom prst="rect">
              <a:avLst/>
            </a:prstGeom>
          </p:spPr>
          <p:txBody>
            <a:bodyPr anchor="ctr" rtlCol="false" tIns="50800" lIns="50800" bIns="50800" rIns="50800"/>
            <a:lstStyle/>
            <a:p>
              <a:pPr algn="ctr">
                <a:lnSpc>
                  <a:spcPts val="1925"/>
                </a:lnSpc>
              </a:pPr>
            </a:p>
          </p:txBody>
        </p:sp>
      </p:grpSp>
      <p:sp>
        <p:nvSpPr>
          <p:cNvPr name="TextBox 5" id="5"/>
          <p:cNvSpPr txBox="true"/>
          <p:nvPr/>
        </p:nvSpPr>
        <p:spPr>
          <a:xfrm rot="0">
            <a:off x="1255848" y="1742689"/>
            <a:ext cx="7888152"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Implementation – Linked Services</a:t>
            </a:r>
          </a:p>
        </p:txBody>
      </p:sp>
      <p:grpSp>
        <p:nvGrpSpPr>
          <p:cNvPr name="Group 6" id="6"/>
          <p:cNvGrpSpPr/>
          <p:nvPr/>
        </p:nvGrpSpPr>
        <p:grpSpPr>
          <a:xfrm rot="0">
            <a:off x="7454226" y="5610972"/>
            <a:ext cx="8781803" cy="3416047"/>
            <a:chOff x="0" y="0"/>
            <a:chExt cx="2312903" cy="899700"/>
          </a:xfrm>
        </p:grpSpPr>
        <p:sp>
          <p:nvSpPr>
            <p:cNvPr name="Freeform 7" id="7"/>
            <p:cNvSpPr/>
            <p:nvPr/>
          </p:nvSpPr>
          <p:spPr>
            <a:xfrm flipH="false" flipV="false" rot="0">
              <a:off x="0" y="0"/>
              <a:ext cx="2312903" cy="899700"/>
            </a:xfrm>
            <a:custGeom>
              <a:avLst/>
              <a:gdLst/>
              <a:ahLst/>
              <a:cxnLst/>
              <a:rect r="r" b="b" t="t" l="l"/>
              <a:pathLst>
                <a:path h="899700" w="2312903">
                  <a:moveTo>
                    <a:pt x="26448" y="0"/>
                  </a:moveTo>
                  <a:lnTo>
                    <a:pt x="2286455" y="0"/>
                  </a:lnTo>
                  <a:cubicBezTo>
                    <a:pt x="2293470" y="0"/>
                    <a:pt x="2300197" y="2786"/>
                    <a:pt x="2305157" y="7746"/>
                  </a:cubicBezTo>
                  <a:cubicBezTo>
                    <a:pt x="2310116" y="12706"/>
                    <a:pt x="2312903" y="19433"/>
                    <a:pt x="2312903" y="26448"/>
                  </a:cubicBezTo>
                  <a:lnTo>
                    <a:pt x="2312903" y="873252"/>
                  </a:lnTo>
                  <a:cubicBezTo>
                    <a:pt x="2312903" y="880266"/>
                    <a:pt x="2310116" y="886993"/>
                    <a:pt x="2305157" y="891953"/>
                  </a:cubicBezTo>
                  <a:cubicBezTo>
                    <a:pt x="2300197" y="896913"/>
                    <a:pt x="2293470" y="899700"/>
                    <a:pt x="2286455" y="899700"/>
                  </a:cubicBezTo>
                  <a:lnTo>
                    <a:pt x="26448" y="899700"/>
                  </a:lnTo>
                  <a:cubicBezTo>
                    <a:pt x="19433" y="899700"/>
                    <a:pt x="12706" y="896913"/>
                    <a:pt x="7746" y="891953"/>
                  </a:cubicBezTo>
                  <a:cubicBezTo>
                    <a:pt x="2786" y="886993"/>
                    <a:pt x="0" y="880266"/>
                    <a:pt x="0" y="873252"/>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name="TextBox 8" id="8"/>
            <p:cNvSpPr txBox="true"/>
            <p:nvPr/>
          </p:nvSpPr>
          <p:spPr>
            <a:xfrm>
              <a:off x="0" y="-38100"/>
              <a:ext cx="2312903" cy="937800"/>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8196605" y="6153058"/>
            <a:ext cx="7297046" cy="21177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Defined </a:t>
            </a:r>
            <a:r>
              <a:rPr lang="en-US" sz="2499">
                <a:solidFill>
                  <a:srgbClr val="FDFBFB"/>
                </a:solidFill>
                <a:latin typeface="Poppins"/>
                <a:ea typeface="Poppins"/>
                <a:cs typeface="Poppins"/>
                <a:sym typeface="Poppins"/>
              </a:rPr>
              <a:t>source linked service for Azure SQL Database.</a:t>
            </a:r>
          </a:p>
          <a:p>
            <a:pPr algn="l" marL="539749" indent="-269875" lvl="1">
              <a:lnSpc>
                <a:spcPts val="4249"/>
              </a:lnSpc>
              <a:buFont typeface="Arial"/>
              <a:buChar char="•"/>
            </a:pPr>
            <a:r>
              <a:rPr lang="en-US" sz="2499">
                <a:solidFill>
                  <a:srgbClr val="FDFBFB"/>
                </a:solidFill>
                <a:latin typeface="Poppins"/>
                <a:ea typeface="Poppins"/>
                <a:cs typeface="Poppins"/>
                <a:sym typeface="Poppins"/>
              </a:rPr>
              <a:t>Defined sink linked service for ADLS Gen2 (destination storage).</a:t>
            </a:r>
          </a:p>
        </p:txBody>
      </p:sp>
      <p:sp>
        <p:nvSpPr>
          <p:cNvPr name="Freeform 10" id="10"/>
          <p:cNvSpPr/>
          <p:nvPr/>
        </p:nvSpPr>
        <p:spPr>
          <a:xfrm flipH="false" flipV="false" rot="0">
            <a:off x="1028700" y="8162697"/>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lu"/>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4991" y="786534"/>
            <a:ext cx="18677981" cy="3885891"/>
            <a:chOff x="0" y="0"/>
            <a:chExt cx="6252608" cy="1300834"/>
          </a:xfrm>
        </p:grpSpPr>
        <p:sp>
          <p:nvSpPr>
            <p:cNvPr name="Freeform 3" id="3"/>
            <p:cNvSpPr/>
            <p:nvPr/>
          </p:nvSpPr>
          <p:spPr>
            <a:xfrm flipH="false" flipV="false" rot="0">
              <a:off x="0" y="0"/>
              <a:ext cx="6252608" cy="1300834"/>
            </a:xfrm>
            <a:custGeom>
              <a:avLst/>
              <a:gdLst/>
              <a:ahLst/>
              <a:cxnLst/>
              <a:rect r="r" b="b" t="t" l="l"/>
              <a:pathLst>
                <a:path h="1300834" w="6252608">
                  <a:moveTo>
                    <a:pt x="0" y="0"/>
                  </a:moveTo>
                  <a:lnTo>
                    <a:pt x="6252608" y="0"/>
                  </a:lnTo>
                  <a:lnTo>
                    <a:pt x="6252608" y="1300834"/>
                  </a:lnTo>
                  <a:lnTo>
                    <a:pt x="0" y="1300834"/>
                  </a:lnTo>
                  <a:close/>
                </a:path>
              </a:pathLst>
            </a:custGeom>
            <a:solidFill>
              <a:srgbClr val="AAD7D4"/>
            </a:solidFill>
            <a:ln cap="sq">
              <a:noFill/>
              <a:prstDash val="solid"/>
              <a:miter/>
            </a:ln>
          </p:spPr>
        </p:sp>
        <p:sp>
          <p:nvSpPr>
            <p:cNvPr name="TextBox 4" id="4"/>
            <p:cNvSpPr txBox="true"/>
            <p:nvPr/>
          </p:nvSpPr>
          <p:spPr>
            <a:xfrm>
              <a:off x="0" y="85725"/>
              <a:ext cx="6252608" cy="1215109"/>
            </a:xfrm>
            <a:prstGeom prst="rect">
              <a:avLst/>
            </a:prstGeom>
          </p:spPr>
          <p:txBody>
            <a:bodyPr anchor="ctr" rtlCol="false" tIns="50800" lIns="50800" bIns="50800" rIns="50800"/>
            <a:lstStyle/>
            <a:p>
              <a:pPr algn="ctr">
                <a:lnSpc>
                  <a:spcPts val="1925"/>
                </a:lnSpc>
              </a:pPr>
            </a:p>
          </p:txBody>
        </p:sp>
      </p:grpSp>
      <p:sp>
        <p:nvSpPr>
          <p:cNvPr name="TextBox 5" id="5"/>
          <p:cNvSpPr txBox="true"/>
          <p:nvPr/>
        </p:nvSpPr>
        <p:spPr>
          <a:xfrm rot="0">
            <a:off x="1426488" y="1742689"/>
            <a:ext cx="7888152"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Implementation – Datasets</a:t>
            </a:r>
          </a:p>
        </p:txBody>
      </p:sp>
      <p:grpSp>
        <p:nvGrpSpPr>
          <p:cNvPr name="Group 6" id="6"/>
          <p:cNvGrpSpPr/>
          <p:nvPr/>
        </p:nvGrpSpPr>
        <p:grpSpPr>
          <a:xfrm rot="0">
            <a:off x="7454226" y="6269154"/>
            <a:ext cx="8781803" cy="2757865"/>
            <a:chOff x="0" y="0"/>
            <a:chExt cx="2312903" cy="726351"/>
          </a:xfrm>
        </p:grpSpPr>
        <p:sp>
          <p:nvSpPr>
            <p:cNvPr name="Freeform 7" id="7"/>
            <p:cNvSpPr/>
            <p:nvPr/>
          </p:nvSpPr>
          <p:spPr>
            <a:xfrm flipH="false" flipV="false" rot="0">
              <a:off x="0" y="0"/>
              <a:ext cx="2312903" cy="726351"/>
            </a:xfrm>
            <a:custGeom>
              <a:avLst/>
              <a:gdLst/>
              <a:ahLst/>
              <a:cxnLst/>
              <a:rect r="r" b="b" t="t" l="l"/>
              <a:pathLst>
                <a:path h="726351" w="2312903">
                  <a:moveTo>
                    <a:pt x="26448" y="0"/>
                  </a:moveTo>
                  <a:lnTo>
                    <a:pt x="2286455" y="0"/>
                  </a:lnTo>
                  <a:cubicBezTo>
                    <a:pt x="2293470" y="0"/>
                    <a:pt x="2300197" y="2786"/>
                    <a:pt x="2305157" y="7746"/>
                  </a:cubicBezTo>
                  <a:cubicBezTo>
                    <a:pt x="2310116" y="12706"/>
                    <a:pt x="2312903" y="19433"/>
                    <a:pt x="2312903" y="26448"/>
                  </a:cubicBezTo>
                  <a:lnTo>
                    <a:pt x="2312903" y="699904"/>
                  </a:lnTo>
                  <a:cubicBezTo>
                    <a:pt x="2312903" y="706918"/>
                    <a:pt x="2310116" y="713645"/>
                    <a:pt x="2305157" y="718605"/>
                  </a:cubicBezTo>
                  <a:cubicBezTo>
                    <a:pt x="2300197" y="723565"/>
                    <a:pt x="2293470" y="726351"/>
                    <a:pt x="2286455" y="726351"/>
                  </a:cubicBezTo>
                  <a:lnTo>
                    <a:pt x="26448" y="726351"/>
                  </a:lnTo>
                  <a:cubicBezTo>
                    <a:pt x="19433" y="726351"/>
                    <a:pt x="12706" y="723565"/>
                    <a:pt x="7746" y="718605"/>
                  </a:cubicBezTo>
                  <a:cubicBezTo>
                    <a:pt x="2786" y="713645"/>
                    <a:pt x="0" y="706918"/>
                    <a:pt x="0" y="699904"/>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name="TextBox 8" id="8"/>
            <p:cNvSpPr txBox="true"/>
            <p:nvPr/>
          </p:nvSpPr>
          <p:spPr>
            <a:xfrm>
              <a:off x="0" y="-38100"/>
              <a:ext cx="2312903" cy="764451"/>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8208793" y="6784486"/>
            <a:ext cx="6687619" cy="15843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Created SQL</a:t>
            </a:r>
            <a:r>
              <a:rPr lang="en-US" sz="2499">
                <a:solidFill>
                  <a:srgbClr val="FDFBFB"/>
                </a:solidFill>
                <a:latin typeface="Poppins"/>
                <a:ea typeface="Poppins"/>
                <a:cs typeface="Poppins"/>
                <a:sym typeface="Poppins"/>
              </a:rPr>
              <a:t> table dataset (source).</a:t>
            </a:r>
          </a:p>
          <a:p>
            <a:pPr algn="l" marL="539749" indent="-269875" lvl="1">
              <a:lnSpc>
                <a:spcPts val="4249"/>
              </a:lnSpc>
              <a:buFont typeface="Arial"/>
              <a:buChar char="•"/>
            </a:pPr>
            <a:r>
              <a:rPr lang="en-US" sz="2499">
                <a:solidFill>
                  <a:srgbClr val="FDFBFB"/>
                </a:solidFill>
                <a:latin typeface="Poppins"/>
                <a:ea typeface="Poppins"/>
                <a:cs typeface="Poppins"/>
                <a:sym typeface="Poppins"/>
              </a:rPr>
              <a:t>Created Parquet/CSV dataset (sink) for storing transformed data.</a:t>
            </a:r>
          </a:p>
        </p:txBody>
      </p:sp>
      <p:sp>
        <p:nvSpPr>
          <p:cNvPr name="Freeform 10" id="10"/>
          <p:cNvSpPr/>
          <p:nvPr/>
        </p:nvSpPr>
        <p:spPr>
          <a:xfrm flipH="false" flipV="false" rot="0">
            <a:off x="1028700" y="8162697"/>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ru"/>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4991" y="786534"/>
            <a:ext cx="18677981" cy="3885891"/>
            <a:chOff x="0" y="0"/>
            <a:chExt cx="6252608" cy="1300834"/>
          </a:xfrm>
        </p:grpSpPr>
        <p:sp>
          <p:nvSpPr>
            <p:cNvPr name="Freeform 3" id="3"/>
            <p:cNvSpPr/>
            <p:nvPr/>
          </p:nvSpPr>
          <p:spPr>
            <a:xfrm flipH="false" flipV="false" rot="0">
              <a:off x="0" y="0"/>
              <a:ext cx="6252608" cy="1300834"/>
            </a:xfrm>
            <a:custGeom>
              <a:avLst/>
              <a:gdLst/>
              <a:ahLst/>
              <a:cxnLst/>
              <a:rect r="r" b="b" t="t" l="l"/>
              <a:pathLst>
                <a:path h="1300834" w="6252608">
                  <a:moveTo>
                    <a:pt x="0" y="0"/>
                  </a:moveTo>
                  <a:lnTo>
                    <a:pt x="6252608" y="0"/>
                  </a:lnTo>
                  <a:lnTo>
                    <a:pt x="6252608" y="1300834"/>
                  </a:lnTo>
                  <a:lnTo>
                    <a:pt x="0" y="1300834"/>
                  </a:lnTo>
                  <a:close/>
                </a:path>
              </a:pathLst>
            </a:custGeom>
            <a:solidFill>
              <a:srgbClr val="AAD7D4"/>
            </a:solidFill>
            <a:ln cap="sq">
              <a:noFill/>
              <a:prstDash val="solid"/>
              <a:miter/>
            </a:ln>
          </p:spPr>
        </p:sp>
        <p:sp>
          <p:nvSpPr>
            <p:cNvPr name="TextBox 4" id="4"/>
            <p:cNvSpPr txBox="true"/>
            <p:nvPr/>
          </p:nvSpPr>
          <p:spPr>
            <a:xfrm>
              <a:off x="0" y="85725"/>
              <a:ext cx="6252608" cy="1215109"/>
            </a:xfrm>
            <a:prstGeom prst="rect">
              <a:avLst/>
            </a:prstGeom>
          </p:spPr>
          <p:txBody>
            <a:bodyPr anchor="ctr" rtlCol="false" tIns="50800" lIns="50800" bIns="50800" rIns="50800"/>
            <a:lstStyle/>
            <a:p>
              <a:pPr algn="ctr">
                <a:lnSpc>
                  <a:spcPts val="1925"/>
                </a:lnSpc>
              </a:pPr>
            </a:p>
          </p:txBody>
        </p:sp>
      </p:grpSp>
      <p:sp>
        <p:nvSpPr>
          <p:cNvPr name="TextBox 5" id="5"/>
          <p:cNvSpPr txBox="true"/>
          <p:nvPr/>
        </p:nvSpPr>
        <p:spPr>
          <a:xfrm rot="0">
            <a:off x="1314051" y="1742689"/>
            <a:ext cx="7888152"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Implementation – ADF Pipeline</a:t>
            </a:r>
          </a:p>
        </p:txBody>
      </p:sp>
      <p:grpSp>
        <p:nvGrpSpPr>
          <p:cNvPr name="Group 6" id="6"/>
          <p:cNvGrpSpPr/>
          <p:nvPr/>
        </p:nvGrpSpPr>
        <p:grpSpPr>
          <a:xfrm rot="0">
            <a:off x="8477497" y="5595950"/>
            <a:ext cx="8781803" cy="2437786"/>
            <a:chOff x="0" y="0"/>
            <a:chExt cx="2312903" cy="642051"/>
          </a:xfrm>
        </p:grpSpPr>
        <p:sp>
          <p:nvSpPr>
            <p:cNvPr name="Freeform 7" id="7"/>
            <p:cNvSpPr/>
            <p:nvPr/>
          </p:nvSpPr>
          <p:spPr>
            <a:xfrm flipH="false" flipV="false" rot="0">
              <a:off x="0" y="0"/>
              <a:ext cx="2312903" cy="642051"/>
            </a:xfrm>
            <a:custGeom>
              <a:avLst/>
              <a:gdLst/>
              <a:ahLst/>
              <a:cxnLst/>
              <a:rect r="r" b="b" t="t" l="l"/>
              <a:pathLst>
                <a:path h="642051" w="2312903">
                  <a:moveTo>
                    <a:pt x="26448" y="0"/>
                  </a:moveTo>
                  <a:lnTo>
                    <a:pt x="2286455" y="0"/>
                  </a:lnTo>
                  <a:cubicBezTo>
                    <a:pt x="2293470" y="0"/>
                    <a:pt x="2300197" y="2786"/>
                    <a:pt x="2305157" y="7746"/>
                  </a:cubicBezTo>
                  <a:cubicBezTo>
                    <a:pt x="2310116" y="12706"/>
                    <a:pt x="2312903" y="19433"/>
                    <a:pt x="2312903" y="26448"/>
                  </a:cubicBezTo>
                  <a:lnTo>
                    <a:pt x="2312903" y="615603"/>
                  </a:lnTo>
                  <a:cubicBezTo>
                    <a:pt x="2312903" y="622617"/>
                    <a:pt x="2310116" y="629344"/>
                    <a:pt x="2305157" y="634304"/>
                  </a:cubicBezTo>
                  <a:cubicBezTo>
                    <a:pt x="2300197" y="639264"/>
                    <a:pt x="2293470" y="642051"/>
                    <a:pt x="2286455" y="642051"/>
                  </a:cubicBezTo>
                  <a:lnTo>
                    <a:pt x="26448" y="642051"/>
                  </a:lnTo>
                  <a:cubicBezTo>
                    <a:pt x="19433" y="642051"/>
                    <a:pt x="12706" y="639264"/>
                    <a:pt x="7746" y="634304"/>
                  </a:cubicBezTo>
                  <a:cubicBezTo>
                    <a:pt x="2786" y="629344"/>
                    <a:pt x="0" y="622617"/>
                    <a:pt x="0" y="615603"/>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name="TextBox 8" id="8"/>
            <p:cNvSpPr txBox="true"/>
            <p:nvPr/>
          </p:nvSpPr>
          <p:spPr>
            <a:xfrm>
              <a:off x="0" y="-38100"/>
              <a:ext cx="2312903" cy="680151"/>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9202203" y="5951243"/>
            <a:ext cx="6711996" cy="15843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Built a pipeline with Copy</a:t>
            </a:r>
            <a:r>
              <a:rPr lang="en-US" sz="2499">
                <a:solidFill>
                  <a:srgbClr val="FDFBFB"/>
                </a:solidFill>
                <a:latin typeface="Poppins"/>
                <a:ea typeface="Poppins"/>
                <a:cs typeface="Poppins"/>
                <a:sym typeface="Poppins"/>
              </a:rPr>
              <a:t> Data activity.</a:t>
            </a:r>
          </a:p>
          <a:p>
            <a:pPr algn="l" marL="539749" indent="-269875" lvl="1">
              <a:lnSpc>
                <a:spcPts val="4249"/>
              </a:lnSpc>
              <a:buFont typeface="Arial"/>
              <a:buChar char="•"/>
            </a:pPr>
            <a:r>
              <a:rPr lang="en-US" sz="2499">
                <a:solidFill>
                  <a:srgbClr val="FDFBFB"/>
                </a:solidFill>
                <a:latin typeface="Poppins"/>
                <a:ea typeface="Poppins"/>
                <a:cs typeface="Poppins"/>
                <a:sym typeface="Poppins"/>
              </a:rPr>
              <a:t>Configured source, sink, and mapping tabs for data flow.</a:t>
            </a:r>
          </a:p>
        </p:txBody>
      </p:sp>
      <p:sp>
        <p:nvSpPr>
          <p:cNvPr name="Freeform 10" id="10"/>
          <p:cNvSpPr/>
          <p:nvPr/>
        </p:nvSpPr>
        <p:spPr>
          <a:xfrm flipH="false" flipV="false" rot="0">
            <a:off x="1028700" y="8162697"/>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rd"/>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076915" y="1587101"/>
            <a:ext cx="5060409"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Debug &amp; Monitoring</a:t>
            </a:r>
          </a:p>
        </p:txBody>
      </p:sp>
      <p:grpSp>
        <p:nvGrpSpPr>
          <p:cNvPr name="Group 3" id="3"/>
          <p:cNvGrpSpPr/>
          <p:nvPr/>
        </p:nvGrpSpPr>
        <p:grpSpPr>
          <a:xfrm rot="0">
            <a:off x="-835969" y="6492589"/>
            <a:ext cx="20530640" cy="4103030"/>
            <a:chOff x="0" y="0"/>
            <a:chExt cx="6872801" cy="1373523"/>
          </a:xfrm>
        </p:grpSpPr>
        <p:sp>
          <p:nvSpPr>
            <p:cNvPr name="Freeform 4" id="4"/>
            <p:cNvSpPr/>
            <p:nvPr/>
          </p:nvSpPr>
          <p:spPr>
            <a:xfrm flipH="false" flipV="false" rot="0">
              <a:off x="0" y="0"/>
              <a:ext cx="6872801" cy="1373523"/>
            </a:xfrm>
            <a:custGeom>
              <a:avLst/>
              <a:gdLst/>
              <a:ahLst/>
              <a:cxnLst/>
              <a:rect r="r" b="b" t="t" l="l"/>
              <a:pathLst>
                <a:path h="1373523" w="6872801">
                  <a:moveTo>
                    <a:pt x="0" y="0"/>
                  </a:moveTo>
                  <a:lnTo>
                    <a:pt x="6872801" y="0"/>
                  </a:lnTo>
                  <a:lnTo>
                    <a:pt x="6872801" y="1373523"/>
                  </a:lnTo>
                  <a:lnTo>
                    <a:pt x="0" y="1373523"/>
                  </a:lnTo>
                  <a:close/>
                </a:path>
              </a:pathLst>
            </a:custGeom>
            <a:solidFill>
              <a:srgbClr val="AAD7D4"/>
            </a:solidFill>
            <a:ln cap="sq">
              <a:noFill/>
              <a:prstDash val="solid"/>
              <a:miter/>
            </a:ln>
          </p:spPr>
        </p:sp>
        <p:sp>
          <p:nvSpPr>
            <p:cNvPr name="TextBox 5" id="5"/>
            <p:cNvSpPr txBox="true"/>
            <p:nvPr/>
          </p:nvSpPr>
          <p:spPr>
            <a:xfrm>
              <a:off x="0" y="85725"/>
              <a:ext cx="6872801" cy="1287798"/>
            </a:xfrm>
            <a:prstGeom prst="rect">
              <a:avLst/>
            </a:prstGeom>
          </p:spPr>
          <p:txBody>
            <a:bodyPr anchor="ctr" rtlCol="false" tIns="50800" lIns="50800" bIns="50800" rIns="50800"/>
            <a:lstStyle/>
            <a:p>
              <a:pPr algn="ctr">
                <a:lnSpc>
                  <a:spcPts val="1925"/>
                </a:lnSpc>
              </a:pPr>
            </a:p>
          </p:txBody>
        </p:sp>
      </p:grpSp>
      <p:grpSp>
        <p:nvGrpSpPr>
          <p:cNvPr name="Group 6" id="6"/>
          <p:cNvGrpSpPr/>
          <p:nvPr/>
        </p:nvGrpSpPr>
        <p:grpSpPr>
          <a:xfrm rot="0">
            <a:off x="8916852" y="4355595"/>
            <a:ext cx="8781803" cy="3162897"/>
            <a:chOff x="0" y="0"/>
            <a:chExt cx="2312903" cy="833026"/>
          </a:xfrm>
        </p:grpSpPr>
        <p:sp>
          <p:nvSpPr>
            <p:cNvPr name="Freeform 7" id="7"/>
            <p:cNvSpPr/>
            <p:nvPr/>
          </p:nvSpPr>
          <p:spPr>
            <a:xfrm flipH="false" flipV="false" rot="0">
              <a:off x="0" y="0"/>
              <a:ext cx="2312903" cy="833026"/>
            </a:xfrm>
            <a:custGeom>
              <a:avLst/>
              <a:gdLst/>
              <a:ahLst/>
              <a:cxnLst/>
              <a:rect r="r" b="b" t="t" l="l"/>
              <a:pathLst>
                <a:path h="833026" w="2312903">
                  <a:moveTo>
                    <a:pt x="26448" y="0"/>
                  </a:moveTo>
                  <a:lnTo>
                    <a:pt x="2286455" y="0"/>
                  </a:lnTo>
                  <a:cubicBezTo>
                    <a:pt x="2293470" y="0"/>
                    <a:pt x="2300197" y="2786"/>
                    <a:pt x="2305157" y="7746"/>
                  </a:cubicBezTo>
                  <a:cubicBezTo>
                    <a:pt x="2310116" y="12706"/>
                    <a:pt x="2312903" y="19433"/>
                    <a:pt x="2312903" y="26448"/>
                  </a:cubicBezTo>
                  <a:lnTo>
                    <a:pt x="2312903" y="806579"/>
                  </a:lnTo>
                  <a:cubicBezTo>
                    <a:pt x="2312903" y="813593"/>
                    <a:pt x="2310116" y="820320"/>
                    <a:pt x="2305157" y="825280"/>
                  </a:cubicBezTo>
                  <a:cubicBezTo>
                    <a:pt x="2300197" y="830240"/>
                    <a:pt x="2293470" y="833026"/>
                    <a:pt x="2286455" y="833026"/>
                  </a:cubicBezTo>
                  <a:lnTo>
                    <a:pt x="26448" y="833026"/>
                  </a:lnTo>
                  <a:cubicBezTo>
                    <a:pt x="19433" y="833026"/>
                    <a:pt x="12706" y="830240"/>
                    <a:pt x="7746" y="825280"/>
                  </a:cubicBezTo>
                  <a:cubicBezTo>
                    <a:pt x="2786" y="820320"/>
                    <a:pt x="0" y="813593"/>
                    <a:pt x="0" y="806579"/>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name="TextBox 8" id="8"/>
            <p:cNvSpPr txBox="true"/>
            <p:nvPr/>
          </p:nvSpPr>
          <p:spPr>
            <a:xfrm>
              <a:off x="0" y="-38100"/>
              <a:ext cx="2312903" cy="871126"/>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9647042" y="4806743"/>
            <a:ext cx="7321423" cy="21177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Pipeline executed successfully with "Succeeded"</a:t>
            </a:r>
            <a:r>
              <a:rPr lang="en-US" sz="2499">
                <a:solidFill>
                  <a:srgbClr val="FDFBFB"/>
                </a:solidFill>
                <a:latin typeface="Poppins"/>
                <a:ea typeface="Poppins"/>
                <a:cs typeface="Poppins"/>
                <a:sym typeface="Poppins"/>
              </a:rPr>
              <a:t> status.</a:t>
            </a:r>
          </a:p>
          <a:p>
            <a:pPr algn="l" marL="539749" indent="-269875" lvl="1">
              <a:lnSpc>
                <a:spcPts val="4249"/>
              </a:lnSpc>
              <a:buFont typeface="Arial"/>
              <a:buChar char="•"/>
            </a:pPr>
            <a:r>
              <a:rPr lang="en-US" sz="2499">
                <a:solidFill>
                  <a:srgbClr val="FDFBFB"/>
                </a:solidFill>
                <a:latin typeface="Poppins"/>
                <a:ea typeface="Poppins"/>
                <a:cs typeface="Poppins"/>
                <a:sym typeface="Poppins"/>
              </a:rPr>
              <a:t>Logs and activity run history verified in ADF Monitor tab.</a:t>
            </a:r>
          </a:p>
        </p:txBody>
      </p:sp>
      <p:sp>
        <p:nvSpPr>
          <p:cNvPr name="Freeform 10" id="10"/>
          <p:cNvSpPr/>
          <p:nvPr/>
        </p:nvSpPr>
        <p:spPr>
          <a:xfrm flipH="false" flipV="false" rot="0">
            <a:off x="16184396" y="1028700"/>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ld"/>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8920" y="1028700"/>
            <a:ext cx="20530640" cy="5199999"/>
            <a:chOff x="0" y="0"/>
            <a:chExt cx="6872801" cy="1740742"/>
          </a:xfrm>
        </p:grpSpPr>
        <p:sp>
          <p:nvSpPr>
            <p:cNvPr name="Freeform 3" id="3"/>
            <p:cNvSpPr/>
            <p:nvPr/>
          </p:nvSpPr>
          <p:spPr>
            <a:xfrm flipH="false" flipV="false" rot="0">
              <a:off x="0" y="0"/>
              <a:ext cx="6872801" cy="1740742"/>
            </a:xfrm>
            <a:custGeom>
              <a:avLst/>
              <a:gdLst/>
              <a:ahLst/>
              <a:cxnLst/>
              <a:rect r="r" b="b" t="t" l="l"/>
              <a:pathLst>
                <a:path h="1740742" w="6872801">
                  <a:moveTo>
                    <a:pt x="0" y="0"/>
                  </a:moveTo>
                  <a:lnTo>
                    <a:pt x="6872801" y="0"/>
                  </a:lnTo>
                  <a:lnTo>
                    <a:pt x="6872801" y="1740742"/>
                  </a:lnTo>
                  <a:lnTo>
                    <a:pt x="0" y="1740742"/>
                  </a:lnTo>
                  <a:close/>
                </a:path>
              </a:pathLst>
            </a:custGeom>
            <a:solidFill>
              <a:srgbClr val="AAD7D4"/>
            </a:solidFill>
            <a:ln cap="sq">
              <a:noFill/>
              <a:prstDash val="solid"/>
              <a:miter/>
            </a:ln>
          </p:spPr>
        </p:sp>
        <p:sp>
          <p:nvSpPr>
            <p:cNvPr name="TextBox 4" id="4"/>
            <p:cNvSpPr txBox="true"/>
            <p:nvPr/>
          </p:nvSpPr>
          <p:spPr>
            <a:xfrm>
              <a:off x="0" y="85725"/>
              <a:ext cx="6872801" cy="1655017"/>
            </a:xfrm>
            <a:prstGeom prst="rect">
              <a:avLst/>
            </a:prstGeom>
          </p:spPr>
          <p:txBody>
            <a:bodyPr anchor="ctr" rtlCol="false" tIns="50800" lIns="50800" bIns="50800" rIns="50800"/>
            <a:lstStyle/>
            <a:p>
              <a:pPr algn="ctr">
                <a:lnSpc>
                  <a:spcPts val="1925"/>
                </a:lnSpc>
              </a:pPr>
            </a:p>
          </p:txBody>
        </p:sp>
      </p:grpSp>
      <p:sp>
        <p:nvSpPr>
          <p:cNvPr name="TextBox 5" id="5"/>
          <p:cNvSpPr txBox="true"/>
          <p:nvPr/>
        </p:nvSpPr>
        <p:spPr>
          <a:xfrm rot="0">
            <a:off x="1359494" y="1851125"/>
            <a:ext cx="8546333" cy="101155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Verification in ADLS</a:t>
            </a:r>
          </a:p>
        </p:txBody>
      </p:sp>
      <p:grpSp>
        <p:nvGrpSpPr>
          <p:cNvPr name="Group 6" id="6"/>
          <p:cNvGrpSpPr/>
          <p:nvPr/>
        </p:nvGrpSpPr>
        <p:grpSpPr>
          <a:xfrm rot="0">
            <a:off x="8477497" y="5143500"/>
            <a:ext cx="8781803" cy="2727287"/>
            <a:chOff x="0" y="0"/>
            <a:chExt cx="2312903" cy="718298"/>
          </a:xfrm>
        </p:grpSpPr>
        <p:sp>
          <p:nvSpPr>
            <p:cNvPr name="Freeform 7" id="7"/>
            <p:cNvSpPr/>
            <p:nvPr/>
          </p:nvSpPr>
          <p:spPr>
            <a:xfrm flipH="false" flipV="false" rot="0">
              <a:off x="0" y="0"/>
              <a:ext cx="2312903" cy="718298"/>
            </a:xfrm>
            <a:custGeom>
              <a:avLst/>
              <a:gdLst/>
              <a:ahLst/>
              <a:cxnLst/>
              <a:rect r="r" b="b" t="t" l="l"/>
              <a:pathLst>
                <a:path h="718298" w="2312903">
                  <a:moveTo>
                    <a:pt x="26448" y="0"/>
                  </a:moveTo>
                  <a:lnTo>
                    <a:pt x="2286455" y="0"/>
                  </a:lnTo>
                  <a:cubicBezTo>
                    <a:pt x="2293470" y="0"/>
                    <a:pt x="2300197" y="2786"/>
                    <a:pt x="2305157" y="7746"/>
                  </a:cubicBezTo>
                  <a:cubicBezTo>
                    <a:pt x="2310116" y="12706"/>
                    <a:pt x="2312903" y="19433"/>
                    <a:pt x="2312903" y="26448"/>
                  </a:cubicBezTo>
                  <a:lnTo>
                    <a:pt x="2312903" y="691850"/>
                  </a:lnTo>
                  <a:cubicBezTo>
                    <a:pt x="2312903" y="698865"/>
                    <a:pt x="2310116" y="705592"/>
                    <a:pt x="2305157" y="710551"/>
                  </a:cubicBezTo>
                  <a:cubicBezTo>
                    <a:pt x="2300197" y="715511"/>
                    <a:pt x="2293470" y="718298"/>
                    <a:pt x="2286455" y="718298"/>
                  </a:cubicBezTo>
                  <a:lnTo>
                    <a:pt x="26448" y="718298"/>
                  </a:lnTo>
                  <a:cubicBezTo>
                    <a:pt x="19433" y="718298"/>
                    <a:pt x="12706" y="715511"/>
                    <a:pt x="7746" y="710551"/>
                  </a:cubicBezTo>
                  <a:cubicBezTo>
                    <a:pt x="2786" y="705592"/>
                    <a:pt x="0" y="698865"/>
                    <a:pt x="0" y="691850"/>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name="TextBox 8" id="8"/>
            <p:cNvSpPr txBox="true"/>
            <p:nvPr/>
          </p:nvSpPr>
          <p:spPr>
            <a:xfrm>
              <a:off x="0" y="-38100"/>
              <a:ext cx="2312903" cy="756398"/>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9463646" y="5643543"/>
            <a:ext cx="6809504" cy="15843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Data successfully copied to curated container in</a:t>
            </a:r>
            <a:r>
              <a:rPr lang="en-US" sz="2499">
                <a:solidFill>
                  <a:srgbClr val="FDFBFB"/>
                </a:solidFill>
                <a:latin typeface="Poppins"/>
                <a:ea typeface="Poppins"/>
                <a:cs typeface="Poppins"/>
                <a:sym typeface="Poppins"/>
              </a:rPr>
              <a:t> Parquet format.</a:t>
            </a:r>
          </a:p>
          <a:p>
            <a:pPr algn="l" marL="539749" indent="-269875" lvl="1">
              <a:lnSpc>
                <a:spcPts val="4249"/>
              </a:lnSpc>
              <a:buFont typeface="Arial"/>
              <a:buChar char="•"/>
            </a:pPr>
            <a:r>
              <a:rPr lang="en-US" sz="2499">
                <a:solidFill>
                  <a:srgbClr val="FDFBFB"/>
                </a:solidFill>
                <a:latin typeface="Poppins"/>
                <a:ea typeface="Poppins"/>
                <a:cs typeface="Poppins"/>
                <a:sym typeface="Poppins"/>
              </a:rPr>
              <a:t>F</a:t>
            </a:r>
            <a:r>
              <a:rPr lang="en-US" sz="2499">
                <a:solidFill>
                  <a:srgbClr val="FDFBFB"/>
                </a:solidFill>
                <a:latin typeface="Poppins"/>
                <a:ea typeface="Poppins"/>
                <a:cs typeface="Poppins"/>
                <a:sym typeface="Poppins"/>
              </a:rPr>
              <a:t>older structure validated within ADLS.</a:t>
            </a:r>
          </a:p>
        </p:txBody>
      </p:sp>
      <p:sp>
        <p:nvSpPr>
          <p:cNvPr name="Freeform 10" id="10"/>
          <p:cNvSpPr/>
          <p:nvPr/>
        </p:nvSpPr>
        <p:spPr>
          <a:xfrm flipH="false" flipV="false" rot="0">
            <a:off x="1028700" y="8162697"/>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l"/>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8920" y="1028700"/>
            <a:ext cx="20530640" cy="5199999"/>
            <a:chOff x="0" y="0"/>
            <a:chExt cx="6872801" cy="1740742"/>
          </a:xfrm>
        </p:grpSpPr>
        <p:sp>
          <p:nvSpPr>
            <p:cNvPr name="Freeform 3" id="3"/>
            <p:cNvSpPr/>
            <p:nvPr/>
          </p:nvSpPr>
          <p:spPr>
            <a:xfrm flipH="false" flipV="false" rot="0">
              <a:off x="0" y="0"/>
              <a:ext cx="6872801" cy="1740742"/>
            </a:xfrm>
            <a:custGeom>
              <a:avLst/>
              <a:gdLst/>
              <a:ahLst/>
              <a:cxnLst/>
              <a:rect r="r" b="b" t="t" l="l"/>
              <a:pathLst>
                <a:path h="1740742" w="6872801">
                  <a:moveTo>
                    <a:pt x="0" y="0"/>
                  </a:moveTo>
                  <a:lnTo>
                    <a:pt x="6872801" y="0"/>
                  </a:lnTo>
                  <a:lnTo>
                    <a:pt x="6872801" y="1740742"/>
                  </a:lnTo>
                  <a:lnTo>
                    <a:pt x="0" y="1740742"/>
                  </a:lnTo>
                  <a:close/>
                </a:path>
              </a:pathLst>
            </a:custGeom>
            <a:solidFill>
              <a:srgbClr val="AAD7D4"/>
            </a:solidFill>
            <a:ln cap="sq">
              <a:noFill/>
              <a:prstDash val="solid"/>
              <a:miter/>
            </a:ln>
          </p:spPr>
        </p:sp>
        <p:sp>
          <p:nvSpPr>
            <p:cNvPr name="TextBox 4" id="4"/>
            <p:cNvSpPr txBox="true"/>
            <p:nvPr/>
          </p:nvSpPr>
          <p:spPr>
            <a:xfrm>
              <a:off x="0" y="85725"/>
              <a:ext cx="6872801" cy="1655017"/>
            </a:xfrm>
            <a:prstGeom prst="rect">
              <a:avLst/>
            </a:prstGeom>
          </p:spPr>
          <p:txBody>
            <a:bodyPr anchor="ctr" rtlCol="false" tIns="50800" lIns="50800" bIns="50800" rIns="50800"/>
            <a:lstStyle/>
            <a:p>
              <a:pPr algn="ctr">
                <a:lnSpc>
                  <a:spcPts val="1925"/>
                </a:lnSpc>
              </a:pPr>
            </a:p>
          </p:txBody>
        </p:sp>
      </p:grpSp>
      <p:sp>
        <p:nvSpPr>
          <p:cNvPr name="TextBox 5" id="5"/>
          <p:cNvSpPr txBox="true"/>
          <p:nvPr/>
        </p:nvSpPr>
        <p:spPr>
          <a:xfrm rot="0">
            <a:off x="1638127" y="1686223"/>
            <a:ext cx="6133001"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Verification in Synapse</a:t>
            </a:r>
          </a:p>
        </p:txBody>
      </p:sp>
      <p:grpSp>
        <p:nvGrpSpPr>
          <p:cNvPr name="Group 6" id="6"/>
          <p:cNvGrpSpPr/>
          <p:nvPr/>
        </p:nvGrpSpPr>
        <p:grpSpPr>
          <a:xfrm rot="0">
            <a:off x="8650949" y="4564023"/>
            <a:ext cx="7465440" cy="3329352"/>
            <a:chOff x="0" y="0"/>
            <a:chExt cx="1966206" cy="876866"/>
          </a:xfrm>
        </p:grpSpPr>
        <p:sp>
          <p:nvSpPr>
            <p:cNvPr name="Freeform 7" id="7"/>
            <p:cNvSpPr/>
            <p:nvPr/>
          </p:nvSpPr>
          <p:spPr>
            <a:xfrm flipH="false" flipV="false" rot="0">
              <a:off x="0" y="0"/>
              <a:ext cx="1966207" cy="876866"/>
            </a:xfrm>
            <a:custGeom>
              <a:avLst/>
              <a:gdLst/>
              <a:ahLst/>
              <a:cxnLst/>
              <a:rect r="r" b="b" t="t" l="l"/>
              <a:pathLst>
                <a:path h="876866" w="1966207">
                  <a:moveTo>
                    <a:pt x="31111" y="0"/>
                  </a:moveTo>
                  <a:lnTo>
                    <a:pt x="1935095" y="0"/>
                  </a:lnTo>
                  <a:cubicBezTo>
                    <a:pt x="1943347" y="0"/>
                    <a:pt x="1951260" y="3278"/>
                    <a:pt x="1957094" y="9112"/>
                  </a:cubicBezTo>
                  <a:cubicBezTo>
                    <a:pt x="1962929" y="14947"/>
                    <a:pt x="1966207" y="22860"/>
                    <a:pt x="1966207" y="31111"/>
                  </a:cubicBezTo>
                  <a:lnTo>
                    <a:pt x="1966207" y="845755"/>
                  </a:lnTo>
                  <a:cubicBezTo>
                    <a:pt x="1966207" y="854006"/>
                    <a:pt x="1962929" y="861920"/>
                    <a:pt x="1957094" y="867754"/>
                  </a:cubicBezTo>
                  <a:cubicBezTo>
                    <a:pt x="1951260" y="873589"/>
                    <a:pt x="1943347" y="876866"/>
                    <a:pt x="1935095" y="876866"/>
                  </a:cubicBezTo>
                  <a:lnTo>
                    <a:pt x="31111" y="876866"/>
                  </a:lnTo>
                  <a:cubicBezTo>
                    <a:pt x="22860" y="876866"/>
                    <a:pt x="14947" y="873589"/>
                    <a:pt x="9112" y="867754"/>
                  </a:cubicBezTo>
                  <a:cubicBezTo>
                    <a:pt x="3278" y="861920"/>
                    <a:pt x="0" y="854006"/>
                    <a:pt x="0" y="845755"/>
                  </a:cubicBezTo>
                  <a:lnTo>
                    <a:pt x="0" y="31111"/>
                  </a:lnTo>
                  <a:cubicBezTo>
                    <a:pt x="0" y="22860"/>
                    <a:pt x="3278" y="14947"/>
                    <a:pt x="9112" y="9112"/>
                  </a:cubicBezTo>
                  <a:cubicBezTo>
                    <a:pt x="14947" y="3278"/>
                    <a:pt x="22860" y="0"/>
                    <a:pt x="31111" y="0"/>
                  </a:cubicBezTo>
                  <a:close/>
                </a:path>
              </a:pathLst>
            </a:custGeom>
            <a:solidFill>
              <a:srgbClr val="106861"/>
            </a:solidFill>
          </p:spPr>
        </p:sp>
        <p:sp>
          <p:nvSpPr>
            <p:cNvPr name="TextBox 8" id="8"/>
            <p:cNvSpPr txBox="true"/>
            <p:nvPr/>
          </p:nvSpPr>
          <p:spPr>
            <a:xfrm>
              <a:off x="0" y="-38100"/>
              <a:ext cx="1966206" cy="914966"/>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9612722" y="5098399"/>
            <a:ext cx="5541895" cy="21177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Data queried via OPENROWSET in Syn</a:t>
            </a:r>
            <a:r>
              <a:rPr lang="en-US" sz="2499">
                <a:solidFill>
                  <a:srgbClr val="FDFBFB"/>
                </a:solidFill>
                <a:latin typeface="Poppins"/>
                <a:ea typeface="Poppins"/>
                <a:cs typeface="Poppins"/>
                <a:sym typeface="Poppins"/>
              </a:rPr>
              <a:t>apse Studio.</a:t>
            </a:r>
          </a:p>
          <a:p>
            <a:pPr algn="l" marL="539749" indent="-269875" lvl="1">
              <a:lnSpc>
                <a:spcPts val="4249"/>
              </a:lnSpc>
              <a:buFont typeface="Arial"/>
              <a:buChar char="•"/>
            </a:pPr>
            <a:r>
              <a:rPr lang="en-US" sz="2499">
                <a:solidFill>
                  <a:srgbClr val="FDFBFB"/>
                </a:solidFill>
                <a:latin typeface="Poppins"/>
                <a:ea typeface="Poppins"/>
                <a:cs typeface="Poppins"/>
                <a:sym typeface="Poppins"/>
              </a:rPr>
              <a:t>C</a:t>
            </a:r>
            <a:r>
              <a:rPr lang="en-US" sz="2499">
                <a:solidFill>
                  <a:srgbClr val="FDFBFB"/>
                </a:solidFill>
                <a:latin typeface="Poppins"/>
                <a:ea typeface="Poppins"/>
                <a:cs typeface="Poppins"/>
                <a:sym typeface="Poppins"/>
              </a:rPr>
              <a:t>onfirmed data availability for further analytics.</a:t>
            </a:r>
          </a:p>
        </p:txBody>
      </p:sp>
      <p:sp>
        <p:nvSpPr>
          <p:cNvPr name="Freeform 10" id="10"/>
          <p:cNvSpPr/>
          <p:nvPr/>
        </p:nvSpPr>
        <p:spPr>
          <a:xfrm flipH="false" flipV="false" rot="0">
            <a:off x="1028700" y="8162697"/>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r"/>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931233" y="1565306"/>
            <a:ext cx="4938524"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DevOps Integration</a:t>
            </a:r>
          </a:p>
        </p:txBody>
      </p:sp>
      <p:grpSp>
        <p:nvGrpSpPr>
          <p:cNvPr name="Group 3" id="3"/>
          <p:cNvGrpSpPr/>
          <p:nvPr/>
        </p:nvGrpSpPr>
        <p:grpSpPr>
          <a:xfrm rot="0">
            <a:off x="-835969" y="6492589"/>
            <a:ext cx="20530640" cy="4103030"/>
            <a:chOff x="0" y="0"/>
            <a:chExt cx="6872801" cy="1373523"/>
          </a:xfrm>
        </p:grpSpPr>
        <p:sp>
          <p:nvSpPr>
            <p:cNvPr name="Freeform 4" id="4"/>
            <p:cNvSpPr/>
            <p:nvPr/>
          </p:nvSpPr>
          <p:spPr>
            <a:xfrm flipH="false" flipV="false" rot="0">
              <a:off x="0" y="0"/>
              <a:ext cx="6872801" cy="1373523"/>
            </a:xfrm>
            <a:custGeom>
              <a:avLst/>
              <a:gdLst/>
              <a:ahLst/>
              <a:cxnLst/>
              <a:rect r="r" b="b" t="t" l="l"/>
              <a:pathLst>
                <a:path h="1373523" w="6872801">
                  <a:moveTo>
                    <a:pt x="0" y="0"/>
                  </a:moveTo>
                  <a:lnTo>
                    <a:pt x="6872801" y="0"/>
                  </a:lnTo>
                  <a:lnTo>
                    <a:pt x="6872801" y="1373523"/>
                  </a:lnTo>
                  <a:lnTo>
                    <a:pt x="0" y="1373523"/>
                  </a:lnTo>
                  <a:close/>
                </a:path>
              </a:pathLst>
            </a:custGeom>
            <a:solidFill>
              <a:srgbClr val="AAD7D4"/>
            </a:solidFill>
            <a:ln cap="sq">
              <a:noFill/>
              <a:prstDash val="solid"/>
              <a:miter/>
            </a:ln>
          </p:spPr>
        </p:sp>
        <p:sp>
          <p:nvSpPr>
            <p:cNvPr name="TextBox 5" id="5"/>
            <p:cNvSpPr txBox="true"/>
            <p:nvPr/>
          </p:nvSpPr>
          <p:spPr>
            <a:xfrm>
              <a:off x="0" y="85725"/>
              <a:ext cx="6872801" cy="1287798"/>
            </a:xfrm>
            <a:prstGeom prst="rect">
              <a:avLst/>
            </a:prstGeom>
          </p:spPr>
          <p:txBody>
            <a:bodyPr anchor="ctr" rtlCol="false" tIns="50800" lIns="50800" bIns="50800" rIns="50800"/>
            <a:lstStyle/>
            <a:p>
              <a:pPr algn="ctr">
                <a:lnSpc>
                  <a:spcPts val="1925"/>
                </a:lnSpc>
              </a:pPr>
            </a:p>
          </p:txBody>
        </p:sp>
      </p:grpSp>
      <p:grpSp>
        <p:nvGrpSpPr>
          <p:cNvPr name="Group 6" id="6"/>
          <p:cNvGrpSpPr/>
          <p:nvPr/>
        </p:nvGrpSpPr>
        <p:grpSpPr>
          <a:xfrm rot="0">
            <a:off x="8772835" y="4987095"/>
            <a:ext cx="8147999" cy="2589241"/>
            <a:chOff x="0" y="0"/>
            <a:chExt cx="2145975" cy="681940"/>
          </a:xfrm>
        </p:grpSpPr>
        <p:sp>
          <p:nvSpPr>
            <p:cNvPr name="Freeform 7" id="7"/>
            <p:cNvSpPr/>
            <p:nvPr/>
          </p:nvSpPr>
          <p:spPr>
            <a:xfrm flipH="false" flipV="false" rot="0">
              <a:off x="0" y="0"/>
              <a:ext cx="2145975" cy="681940"/>
            </a:xfrm>
            <a:custGeom>
              <a:avLst/>
              <a:gdLst/>
              <a:ahLst/>
              <a:cxnLst/>
              <a:rect r="r" b="b" t="t" l="l"/>
              <a:pathLst>
                <a:path h="681940" w="2145975">
                  <a:moveTo>
                    <a:pt x="28505" y="0"/>
                  </a:moveTo>
                  <a:lnTo>
                    <a:pt x="2117470" y="0"/>
                  </a:lnTo>
                  <a:cubicBezTo>
                    <a:pt x="2133213" y="0"/>
                    <a:pt x="2145975" y="12762"/>
                    <a:pt x="2145975" y="28505"/>
                  </a:cubicBezTo>
                  <a:lnTo>
                    <a:pt x="2145975" y="653435"/>
                  </a:lnTo>
                  <a:cubicBezTo>
                    <a:pt x="2145975" y="669178"/>
                    <a:pt x="2133213" y="681940"/>
                    <a:pt x="2117470" y="681940"/>
                  </a:cubicBezTo>
                  <a:lnTo>
                    <a:pt x="28505" y="681940"/>
                  </a:lnTo>
                  <a:cubicBezTo>
                    <a:pt x="12762" y="681940"/>
                    <a:pt x="0" y="669178"/>
                    <a:pt x="0" y="653435"/>
                  </a:cubicBezTo>
                  <a:lnTo>
                    <a:pt x="0" y="28505"/>
                  </a:lnTo>
                  <a:cubicBezTo>
                    <a:pt x="0" y="12762"/>
                    <a:pt x="12762" y="0"/>
                    <a:pt x="28505" y="0"/>
                  </a:cubicBezTo>
                  <a:close/>
                </a:path>
              </a:pathLst>
            </a:custGeom>
            <a:solidFill>
              <a:srgbClr val="106861"/>
            </a:solidFill>
          </p:spPr>
        </p:sp>
        <p:sp>
          <p:nvSpPr>
            <p:cNvPr name="TextBox 8" id="8"/>
            <p:cNvSpPr txBox="true"/>
            <p:nvPr/>
          </p:nvSpPr>
          <p:spPr>
            <a:xfrm>
              <a:off x="0" y="-38100"/>
              <a:ext cx="2145975" cy="720040"/>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9600533" y="5418115"/>
            <a:ext cx="6492602" cy="15843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Linked ADF to Azure DevOps Git repo.</a:t>
            </a:r>
          </a:p>
          <a:p>
            <a:pPr algn="l" marL="539749" indent="-269875" lvl="1">
              <a:lnSpc>
                <a:spcPts val="4249"/>
              </a:lnSpc>
              <a:buFont typeface="Arial"/>
              <a:buChar char="•"/>
            </a:pPr>
            <a:r>
              <a:rPr lang="en-US" sz="2499">
                <a:solidFill>
                  <a:srgbClr val="FDFBFB"/>
                </a:solidFill>
                <a:latin typeface="Poppins"/>
                <a:ea typeface="Poppins"/>
                <a:cs typeface="Poppins"/>
                <a:sym typeface="Poppins"/>
              </a:rPr>
              <a:t>On publishing, pi</a:t>
            </a:r>
            <a:r>
              <a:rPr lang="en-US" sz="2499">
                <a:solidFill>
                  <a:srgbClr val="FDFBFB"/>
                </a:solidFill>
                <a:latin typeface="Poppins"/>
                <a:ea typeface="Poppins"/>
                <a:cs typeface="Poppins"/>
                <a:sym typeface="Poppins"/>
              </a:rPr>
              <a:t>peline artifacts stored in adf_publish folder.</a:t>
            </a:r>
          </a:p>
        </p:txBody>
      </p:sp>
      <p:sp>
        <p:nvSpPr>
          <p:cNvPr name="Freeform 10" id="10"/>
          <p:cNvSpPr/>
          <p:nvPr/>
        </p:nvSpPr>
        <p:spPr>
          <a:xfrm flipH="false" flipV="false" rot="0">
            <a:off x="16184396" y="1028700"/>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u"/>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8920" y="1028700"/>
            <a:ext cx="20530640" cy="5199999"/>
            <a:chOff x="0" y="0"/>
            <a:chExt cx="6872801" cy="1740742"/>
          </a:xfrm>
        </p:grpSpPr>
        <p:sp>
          <p:nvSpPr>
            <p:cNvPr name="Freeform 3" id="3"/>
            <p:cNvSpPr/>
            <p:nvPr/>
          </p:nvSpPr>
          <p:spPr>
            <a:xfrm flipH="false" flipV="false" rot="0">
              <a:off x="0" y="0"/>
              <a:ext cx="6872801" cy="1740742"/>
            </a:xfrm>
            <a:custGeom>
              <a:avLst/>
              <a:gdLst/>
              <a:ahLst/>
              <a:cxnLst/>
              <a:rect r="r" b="b" t="t" l="l"/>
              <a:pathLst>
                <a:path h="1740742" w="6872801">
                  <a:moveTo>
                    <a:pt x="0" y="0"/>
                  </a:moveTo>
                  <a:lnTo>
                    <a:pt x="6872801" y="0"/>
                  </a:lnTo>
                  <a:lnTo>
                    <a:pt x="6872801" y="1740742"/>
                  </a:lnTo>
                  <a:lnTo>
                    <a:pt x="0" y="1740742"/>
                  </a:lnTo>
                  <a:close/>
                </a:path>
              </a:pathLst>
            </a:custGeom>
            <a:solidFill>
              <a:srgbClr val="AAD7D4"/>
            </a:solidFill>
            <a:ln cap="sq">
              <a:noFill/>
              <a:prstDash val="solid"/>
              <a:miter/>
            </a:ln>
          </p:spPr>
        </p:sp>
        <p:sp>
          <p:nvSpPr>
            <p:cNvPr name="TextBox 4" id="4"/>
            <p:cNvSpPr txBox="true"/>
            <p:nvPr/>
          </p:nvSpPr>
          <p:spPr>
            <a:xfrm>
              <a:off x="0" y="85725"/>
              <a:ext cx="6872801" cy="1655017"/>
            </a:xfrm>
            <a:prstGeom prst="rect">
              <a:avLst/>
            </a:prstGeom>
          </p:spPr>
          <p:txBody>
            <a:bodyPr anchor="ctr" rtlCol="false" tIns="50800" lIns="50800" bIns="50800" rIns="50800"/>
            <a:lstStyle/>
            <a:p>
              <a:pPr algn="ctr">
                <a:lnSpc>
                  <a:spcPts val="1925"/>
                </a:lnSpc>
              </a:pPr>
            </a:p>
          </p:txBody>
        </p:sp>
      </p:grpSp>
      <p:sp>
        <p:nvSpPr>
          <p:cNvPr name="TextBox 5" id="5"/>
          <p:cNvSpPr txBox="true"/>
          <p:nvPr/>
        </p:nvSpPr>
        <p:spPr>
          <a:xfrm rot="0">
            <a:off x="1589373" y="2149251"/>
            <a:ext cx="5450443" cy="101155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 CI/CD Setup</a:t>
            </a:r>
          </a:p>
        </p:txBody>
      </p:sp>
      <p:grpSp>
        <p:nvGrpSpPr>
          <p:cNvPr name="Group 6" id="6"/>
          <p:cNvGrpSpPr/>
          <p:nvPr/>
        </p:nvGrpSpPr>
        <p:grpSpPr>
          <a:xfrm rot="0">
            <a:off x="8161162" y="4111512"/>
            <a:ext cx="8781803" cy="3575355"/>
            <a:chOff x="0" y="0"/>
            <a:chExt cx="2312903" cy="941657"/>
          </a:xfrm>
        </p:grpSpPr>
        <p:sp>
          <p:nvSpPr>
            <p:cNvPr name="Freeform 7" id="7"/>
            <p:cNvSpPr/>
            <p:nvPr/>
          </p:nvSpPr>
          <p:spPr>
            <a:xfrm flipH="false" flipV="false" rot="0">
              <a:off x="0" y="0"/>
              <a:ext cx="2312903" cy="941657"/>
            </a:xfrm>
            <a:custGeom>
              <a:avLst/>
              <a:gdLst/>
              <a:ahLst/>
              <a:cxnLst/>
              <a:rect r="r" b="b" t="t" l="l"/>
              <a:pathLst>
                <a:path h="941657" w="2312903">
                  <a:moveTo>
                    <a:pt x="26448" y="0"/>
                  </a:moveTo>
                  <a:lnTo>
                    <a:pt x="2286455" y="0"/>
                  </a:lnTo>
                  <a:cubicBezTo>
                    <a:pt x="2293470" y="0"/>
                    <a:pt x="2300197" y="2786"/>
                    <a:pt x="2305157" y="7746"/>
                  </a:cubicBezTo>
                  <a:cubicBezTo>
                    <a:pt x="2310116" y="12706"/>
                    <a:pt x="2312903" y="19433"/>
                    <a:pt x="2312903" y="26448"/>
                  </a:cubicBezTo>
                  <a:lnTo>
                    <a:pt x="2312903" y="915210"/>
                  </a:lnTo>
                  <a:cubicBezTo>
                    <a:pt x="2312903" y="922224"/>
                    <a:pt x="2310116" y="928951"/>
                    <a:pt x="2305157" y="933911"/>
                  </a:cubicBezTo>
                  <a:cubicBezTo>
                    <a:pt x="2300197" y="938871"/>
                    <a:pt x="2293470" y="941657"/>
                    <a:pt x="2286455" y="941657"/>
                  </a:cubicBezTo>
                  <a:lnTo>
                    <a:pt x="26448" y="941657"/>
                  </a:lnTo>
                  <a:cubicBezTo>
                    <a:pt x="19433" y="941657"/>
                    <a:pt x="12706" y="938871"/>
                    <a:pt x="7746" y="933911"/>
                  </a:cubicBezTo>
                  <a:cubicBezTo>
                    <a:pt x="2786" y="928951"/>
                    <a:pt x="0" y="922224"/>
                    <a:pt x="0" y="915210"/>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name="TextBox 8" id="8"/>
            <p:cNvSpPr txBox="true"/>
            <p:nvPr/>
          </p:nvSpPr>
          <p:spPr>
            <a:xfrm>
              <a:off x="0" y="-38100"/>
              <a:ext cx="2312903" cy="979757"/>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8806032" y="4502190"/>
            <a:ext cx="6907012" cy="26511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Service connection (sc-azure-rg-hexaware) created for deployment.</a:t>
            </a:r>
          </a:p>
          <a:p>
            <a:pPr algn="l" marL="539749" indent="-269875" lvl="1">
              <a:lnSpc>
                <a:spcPts val="4249"/>
              </a:lnSpc>
              <a:buFont typeface="Arial"/>
              <a:buChar char="•"/>
            </a:pPr>
            <a:r>
              <a:rPr lang="en-US" sz="2499">
                <a:solidFill>
                  <a:srgbClr val="FDFBFB"/>
                </a:solidFill>
                <a:latin typeface="Poppins"/>
                <a:ea typeface="Poppins"/>
                <a:cs typeface="Poppins"/>
                <a:sym typeface="Poppins"/>
              </a:rPr>
              <a:t>Re</a:t>
            </a:r>
            <a:r>
              <a:rPr lang="en-US" sz="2499">
                <a:solidFill>
                  <a:srgbClr val="FDFBFB"/>
                </a:solidFill>
                <a:latin typeface="Poppins"/>
                <a:ea typeface="Poppins"/>
                <a:cs typeface="Poppins"/>
                <a:sym typeface="Poppins"/>
              </a:rPr>
              <a:t>lease pi</a:t>
            </a:r>
            <a:r>
              <a:rPr lang="en-US" sz="2499">
                <a:solidFill>
                  <a:srgbClr val="FDFBFB"/>
                </a:solidFill>
                <a:latin typeface="Poppins"/>
                <a:ea typeface="Poppins"/>
                <a:cs typeface="Poppins"/>
                <a:sym typeface="Poppins"/>
              </a:rPr>
              <a:t>peline defined but final deployment pending due to parallelism limit.</a:t>
            </a:r>
          </a:p>
        </p:txBody>
      </p:sp>
      <p:sp>
        <p:nvSpPr>
          <p:cNvPr name="Freeform 10" id="10"/>
          <p:cNvSpPr/>
          <p:nvPr/>
        </p:nvSpPr>
        <p:spPr>
          <a:xfrm flipH="false" flipV="false" rot="0">
            <a:off x="1028700" y="8162697"/>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d"/>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84390" y="1596427"/>
            <a:ext cx="4816638"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Successful Output</a:t>
            </a:r>
          </a:p>
        </p:txBody>
      </p:sp>
      <p:grpSp>
        <p:nvGrpSpPr>
          <p:cNvPr name="Group 3" id="3"/>
          <p:cNvGrpSpPr/>
          <p:nvPr/>
        </p:nvGrpSpPr>
        <p:grpSpPr>
          <a:xfrm rot="0">
            <a:off x="-835969" y="6492589"/>
            <a:ext cx="20530640" cy="4103030"/>
            <a:chOff x="0" y="0"/>
            <a:chExt cx="6872801" cy="1373523"/>
          </a:xfrm>
        </p:grpSpPr>
        <p:sp>
          <p:nvSpPr>
            <p:cNvPr name="Freeform 4" id="4"/>
            <p:cNvSpPr/>
            <p:nvPr/>
          </p:nvSpPr>
          <p:spPr>
            <a:xfrm flipH="false" flipV="false" rot="0">
              <a:off x="0" y="0"/>
              <a:ext cx="6872801" cy="1373523"/>
            </a:xfrm>
            <a:custGeom>
              <a:avLst/>
              <a:gdLst/>
              <a:ahLst/>
              <a:cxnLst/>
              <a:rect r="r" b="b" t="t" l="l"/>
              <a:pathLst>
                <a:path h="1373523" w="6872801">
                  <a:moveTo>
                    <a:pt x="0" y="0"/>
                  </a:moveTo>
                  <a:lnTo>
                    <a:pt x="6872801" y="0"/>
                  </a:lnTo>
                  <a:lnTo>
                    <a:pt x="6872801" y="1373523"/>
                  </a:lnTo>
                  <a:lnTo>
                    <a:pt x="0" y="1373523"/>
                  </a:lnTo>
                  <a:close/>
                </a:path>
              </a:pathLst>
            </a:custGeom>
            <a:solidFill>
              <a:srgbClr val="AAD7D4"/>
            </a:solidFill>
            <a:ln cap="sq">
              <a:noFill/>
              <a:prstDash val="solid"/>
              <a:miter/>
            </a:ln>
          </p:spPr>
        </p:sp>
        <p:sp>
          <p:nvSpPr>
            <p:cNvPr name="TextBox 5" id="5"/>
            <p:cNvSpPr txBox="true"/>
            <p:nvPr/>
          </p:nvSpPr>
          <p:spPr>
            <a:xfrm>
              <a:off x="0" y="85725"/>
              <a:ext cx="6872801" cy="1287798"/>
            </a:xfrm>
            <a:prstGeom prst="rect">
              <a:avLst/>
            </a:prstGeom>
          </p:spPr>
          <p:txBody>
            <a:bodyPr anchor="ctr" rtlCol="false" tIns="50800" lIns="50800" bIns="50800" rIns="50800"/>
            <a:lstStyle/>
            <a:p>
              <a:pPr algn="ctr">
                <a:lnSpc>
                  <a:spcPts val="1925"/>
                </a:lnSpc>
              </a:pPr>
            </a:p>
          </p:txBody>
        </p:sp>
      </p:grpSp>
      <p:grpSp>
        <p:nvGrpSpPr>
          <p:cNvPr name="Group 6" id="6"/>
          <p:cNvGrpSpPr/>
          <p:nvPr/>
        </p:nvGrpSpPr>
        <p:grpSpPr>
          <a:xfrm rot="0">
            <a:off x="8306857" y="4394630"/>
            <a:ext cx="8952443" cy="2727197"/>
            <a:chOff x="0" y="0"/>
            <a:chExt cx="2357845" cy="718274"/>
          </a:xfrm>
        </p:grpSpPr>
        <p:sp>
          <p:nvSpPr>
            <p:cNvPr name="Freeform 7" id="7"/>
            <p:cNvSpPr/>
            <p:nvPr/>
          </p:nvSpPr>
          <p:spPr>
            <a:xfrm flipH="false" flipV="false" rot="0">
              <a:off x="0" y="0"/>
              <a:ext cx="2357845" cy="718274"/>
            </a:xfrm>
            <a:custGeom>
              <a:avLst/>
              <a:gdLst/>
              <a:ahLst/>
              <a:cxnLst/>
              <a:rect r="r" b="b" t="t" l="l"/>
              <a:pathLst>
                <a:path h="718274" w="2357845">
                  <a:moveTo>
                    <a:pt x="25943" y="0"/>
                  </a:moveTo>
                  <a:lnTo>
                    <a:pt x="2331901" y="0"/>
                  </a:lnTo>
                  <a:cubicBezTo>
                    <a:pt x="2346230" y="0"/>
                    <a:pt x="2357845" y="11615"/>
                    <a:pt x="2357845" y="25943"/>
                  </a:cubicBezTo>
                  <a:lnTo>
                    <a:pt x="2357845" y="692331"/>
                  </a:lnTo>
                  <a:cubicBezTo>
                    <a:pt x="2357845" y="706659"/>
                    <a:pt x="2346230" y="718274"/>
                    <a:pt x="2331901" y="718274"/>
                  </a:cubicBezTo>
                  <a:lnTo>
                    <a:pt x="25943" y="718274"/>
                  </a:lnTo>
                  <a:cubicBezTo>
                    <a:pt x="11615" y="718274"/>
                    <a:pt x="0" y="706659"/>
                    <a:pt x="0" y="692331"/>
                  </a:cubicBezTo>
                  <a:lnTo>
                    <a:pt x="0" y="25943"/>
                  </a:lnTo>
                  <a:cubicBezTo>
                    <a:pt x="0" y="11615"/>
                    <a:pt x="11615" y="0"/>
                    <a:pt x="25943" y="0"/>
                  </a:cubicBezTo>
                  <a:close/>
                </a:path>
              </a:pathLst>
            </a:custGeom>
            <a:solidFill>
              <a:srgbClr val="106861"/>
            </a:solidFill>
          </p:spPr>
        </p:sp>
        <p:sp>
          <p:nvSpPr>
            <p:cNvPr name="TextBox 8" id="8"/>
            <p:cNvSpPr txBox="true"/>
            <p:nvPr/>
          </p:nvSpPr>
          <p:spPr>
            <a:xfrm>
              <a:off x="0" y="-38100"/>
              <a:ext cx="2357845" cy="756374"/>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8695768" y="4908264"/>
            <a:ext cx="8174621" cy="15843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Data successfully moved from </a:t>
            </a:r>
          </a:p>
          <a:p>
            <a:pPr algn="l">
              <a:lnSpc>
                <a:spcPts val="4249"/>
              </a:lnSpc>
            </a:pPr>
            <a:r>
              <a:rPr lang="en-US" sz="2499">
                <a:solidFill>
                  <a:srgbClr val="FDFBFB"/>
                </a:solidFill>
                <a:latin typeface="Poppins"/>
                <a:ea typeface="Poppins"/>
                <a:cs typeface="Poppins"/>
                <a:sym typeface="Poppins"/>
              </a:rPr>
              <a:t>       </a:t>
            </a:r>
            <a:r>
              <a:rPr lang="en-US" sz="2499">
                <a:solidFill>
                  <a:srgbClr val="FDFBFB"/>
                </a:solidFill>
                <a:latin typeface="Poppins"/>
                <a:ea typeface="Poppins"/>
                <a:cs typeface="Poppins"/>
                <a:sym typeface="Poppins"/>
              </a:rPr>
              <a:t>SQL → ADLS → Synapse.</a:t>
            </a:r>
          </a:p>
          <a:p>
            <a:pPr algn="l" marL="539749" indent="-269875" lvl="1">
              <a:lnSpc>
                <a:spcPts val="4249"/>
              </a:lnSpc>
              <a:buFont typeface="Arial"/>
              <a:buChar char="•"/>
            </a:pPr>
            <a:r>
              <a:rPr lang="en-US" sz="2499">
                <a:solidFill>
                  <a:srgbClr val="FDFBFB"/>
                </a:solidFill>
                <a:latin typeface="Poppins"/>
                <a:ea typeface="Poppins"/>
                <a:cs typeface="Poppins"/>
                <a:sym typeface="Poppins"/>
              </a:rPr>
              <a:t>Artif</a:t>
            </a:r>
            <a:r>
              <a:rPr lang="en-US" sz="2499">
                <a:solidFill>
                  <a:srgbClr val="FDFBFB"/>
                </a:solidFill>
                <a:latin typeface="Poppins"/>
                <a:ea typeface="Poppins"/>
                <a:cs typeface="Poppins"/>
                <a:sym typeface="Poppins"/>
              </a:rPr>
              <a:t>acts push</a:t>
            </a:r>
            <a:r>
              <a:rPr lang="en-US" sz="2499">
                <a:solidFill>
                  <a:srgbClr val="FDFBFB"/>
                </a:solidFill>
                <a:latin typeface="Poppins"/>
                <a:ea typeface="Poppins"/>
                <a:cs typeface="Poppins"/>
                <a:sym typeface="Poppins"/>
              </a:rPr>
              <a:t>ed to DevOps for version tracking.</a:t>
            </a:r>
          </a:p>
        </p:txBody>
      </p:sp>
      <p:sp>
        <p:nvSpPr>
          <p:cNvPr name="Freeform 10" id="10"/>
          <p:cNvSpPr/>
          <p:nvPr/>
        </p:nvSpPr>
        <p:spPr>
          <a:xfrm flipH="false" flipV="false" rot="0">
            <a:off x="16184396" y="1028700"/>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lu"/>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68920" y="1028700"/>
            <a:ext cx="20530640" cy="5199999"/>
            <a:chOff x="0" y="0"/>
            <a:chExt cx="6872801" cy="1740742"/>
          </a:xfrm>
        </p:grpSpPr>
        <p:sp>
          <p:nvSpPr>
            <p:cNvPr name="Freeform 3" id="3"/>
            <p:cNvSpPr/>
            <p:nvPr/>
          </p:nvSpPr>
          <p:spPr>
            <a:xfrm flipH="false" flipV="false" rot="0">
              <a:off x="0" y="0"/>
              <a:ext cx="6872801" cy="1740742"/>
            </a:xfrm>
            <a:custGeom>
              <a:avLst/>
              <a:gdLst/>
              <a:ahLst/>
              <a:cxnLst/>
              <a:rect r="r" b="b" t="t" l="l"/>
              <a:pathLst>
                <a:path h="1740742" w="6872801">
                  <a:moveTo>
                    <a:pt x="0" y="0"/>
                  </a:moveTo>
                  <a:lnTo>
                    <a:pt x="6872801" y="0"/>
                  </a:lnTo>
                  <a:lnTo>
                    <a:pt x="6872801" y="1740742"/>
                  </a:lnTo>
                  <a:lnTo>
                    <a:pt x="0" y="1740742"/>
                  </a:lnTo>
                  <a:close/>
                </a:path>
              </a:pathLst>
            </a:custGeom>
            <a:solidFill>
              <a:srgbClr val="AAD7D4"/>
            </a:solidFill>
            <a:ln cap="sq">
              <a:noFill/>
              <a:prstDash val="solid"/>
              <a:miter/>
            </a:ln>
          </p:spPr>
        </p:sp>
        <p:sp>
          <p:nvSpPr>
            <p:cNvPr name="TextBox 4" id="4"/>
            <p:cNvSpPr txBox="true"/>
            <p:nvPr/>
          </p:nvSpPr>
          <p:spPr>
            <a:xfrm>
              <a:off x="0" y="85725"/>
              <a:ext cx="6872801" cy="1655017"/>
            </a:xfrm>
            <a:prstGeom prst="rect">
              <a:avLst/>
            </a:prstGeom>
          </p:spPr>
          <p:txBody>
            <a:bodyPr anchor="ctr" rtlCol="false" tIns="50800" lIns="50800" bIns="50800" rIns="50800"/>
            <a:lstStyle/>
            <a:p>
              <a:pPr algn="ctr">
                <a:lnSpc>
                  <a:spcPts val="1925"/>
                </a:lnSpc>
              </a:pPr>
            </a:p>
          </p:txBody>
        </p:sp>
      </p:grpSp>
      <p:sp>
        <p:nvSpPr>
          <p:cNvPr name="TextBox 5" id="5"/>
          <p:cNvSpPr txBox="true"/>
          <p:nvPr/>
        </p:nvSpPr>
        <p:spPr>
          <a:xfrm rot="0">
            <a:off x="1760013" y="2077479"/>
            <a:ext cx="5572328" cy="194500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Optimization Strategies</a:t>
            </a:r>
          </a:p>
        </p:txBody>
      </p:sp>
      <p:grpSp>
        <p:nvGrpSpPr>
          <p:cNvPr name="Group 6" id="6"/>
          <p:cNvGrpSpPr/>
          <p:nvPr/>
        </p:nvGrpSpPr>
        <p:grpSpPr>
          <a:xfrm rot="0">
            <a:off x="8916852" y="4356255"/>
            <a:ext cx="8781803" cy="4170914"/>
            <a:chOff x="0" y="0"/>
            <a:chExt cx="2312903" cy="1098512"/>
          </a:xfrm>
        </p:grpSpPr>
        <p:sp>
          <p:nvSpPr>
            <p:cNvPr name="Freeform 7" id="7"/>
            <p:cNvSpPr/>
            <p:nvPr/>
          </p:nvSpPr>
          <p:spPr>
            <a:xfrm flipH="false" flipV="false" rot="0">
              <a:off x="0" y="0"/>
              <a:ext cx="2312903" cy="1098512"/>
            </a:xfrm>
            <a:custGeom>
              <a:avLst/>
              <a:gdLst/>
              <a:ahLst/>
              <a:cxnLst/>
              <a:rect r="r" b="b" t="t" l="l"/>
              <a:pathLst>
                <a:path h="1098512" w="2312903">
                  <a:moveTo>
                    <a:pt x="26448" y="0"/>
                  </a:moveTo>
                  <a:lnTo>
                    <a:pt x="2286455" y="0"/>
                  </a:lnTo>
                  <a:cubicBezTo>
                    <a:pt x="2293470" y="0"/>
                    <a:pt x="2300197" y="2786"/>
                    <a:pt x="2305157" y="7746"/>
                  </a:cubicBezTo>
                  <a:cubicBezTo>
                    <a:pt x="2310116" y="12706"/>
                    <a:pt x="2312903" y="19433"/>
                    <a:pt x="2312903" y="26448"/>
                  </a:cubicBezTo>
                  <a:lnTo>
                    <a:pt x="2312903" y="1072065"/>
                  </a:lnTo>
                  <a:cubicBezTo>
                    <a:pt x="2312903" y="1079079"/>
                    <a:pt x="2310116" y="1085806"/>
                    <a:pt x="2305157" y="1090766"/>
                  </a:cubicBezTo>
                  <a:cubicBezTo>
                    <a:pt x="2300197" y="1095726"/>
                    <a:pt x="2293470" y="1098512"/>
                    <a:pt x="2286455" y="1098512"/>
                  </a:cubicBezTo>
                  <a:lnTo>
                    <a:pt x="26448" y="1098512"/>
                  </a:lnTo>
                  <a:cubicBezTo>
                    <a:pt x="19433" y="1098512"/>
                    <a:pt x="12706" y="1095726"/>
                    <a:pt x="7746" y="1090766"/>
                  </a:cubicBezTo>
                  <a:cubicBezTo>
                    <a:pt x="2786" y="1085806"/>
                    <a:pt x="0" y="1079079"/>
                    <a:pt x="0" y="1072065"/>
                  </a:cubicBezTo>
                  <a:lnTo>
                    <a:pt x="0" y="26448"/>
                  </a:lnTo>
                  <a:cubicBezTo>
                    <a:pt x="0" y="19433"/>
                    <a:pt x="2786" y="12706"/>
                    <a:pt x="7746" y="7746"/>
                  </a:cubicBezTo>
                  <a:cubicBezTo>
                    <a:pt x="12706" y="2786"/>
                    <a:pt x="19433" y="0"/>
                    <a:pt x="26448" y="0"/>
                  </a:cubicBezTo>
                  <a:close/>
                </a:path>
              </a:pathLst>
            </a:custGeom>
            <a:solidFill>
              <a:srgbClr val="106861"/>
            </a:solidFill>
          </p:spPr>
        </p:sp>
        <p:sp>
          <p:nvSpPr>
            <p:cNvPr name="TextBox 8" id="8"/>
            <p:cNvSpPr txBox="true"/>
            <p:nvPr/>
          </p:nvSpPr>
          <p:spPr>
            <a:xfrm>
              <a:off x="0" y="-38100"/>
              <a:ext cx="2312903" cy="1136612"/>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9573911" y="4778012"/>
            <a:ext cx="7467686" cy="31845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Partitioning data for large-scale ingestion.</a:t>
            </a:r>
          </a:p>
          <a:p>
            <a:pPr algn="l" marL="539749" indent="-269875" lvl="1">
              <a:lnSpc>
                <a:spcPts val="4249"/>
              </a:lnSpc>
              <a:buFont typeface="Arial"/>
              <a:buChar char="•"/>
            </a:pPr>
            <a:r>
              <a:rPr lang="en-US" sz="2499">
                <a:solidFill>
                  <a:srgbClr val="FDFBFB"/>
                </a:solidFill>
                <a:latin typeface="Poppins"/>
                <a:ea typeface="Poppins"/>
                <a:cs typeface="Poppins"/>
                <a:sym typeface="Poppins"/>
              </a:rPr>
              <a:t>Incremental loads using watermarking techniques.</a:t>
            </a:r>
          </a:p>
          <a:p>
            <a:pPr algn="l" marL="539749" indent="-269875" lvl="1">
              <a:lnSpc>
                <a:spcPts val="4249"/>
              </a:lnSpc>
              <a:buFont typeface="Arial"/>
              <a:buChar char="•"/>
            </a:pPr>
            <a:r>
              <a:rPr lang="en-US" sz="2499">
                <a:solidFill>
                  <a:srgbClr val="FDFBFB"/>
                </a:solidFill>
                <a:latin typeface="Poppins"/>
                <a:ea typeface="Poppins"/>
                <a:cs typeface="Poppins"/>
                <a:sym typeface="Poppins"/>
              </a:rPr>
              <a:t>Parameterized pipelines for reusability.</a:t>
            </a:r>
          </a:p>
          <a:p>
            <a:pPr algn="l" marL="539749" indent="-269875" lvl="1">
              <a:lnSpc>
                <a:spcPts val="4249"/>
              </a:lnSpc>
              <a:buFont typeface="Arial"/>
              <a:buChar char="•"/>
            </a:pPr>
            <a:r>
              <a:rPr lang="en-US" sz="2499">
                <a:solidFill>
                  <a:srgbClr val="FDFBFB"/>
                </a:solidFill>
                <a:latin typeface="Poppins"/>
                <a:ea typeface="Poppins"/>
                <a:cs typeface="Poppins"/>
                <a:sym typeface="Poppins"/>
              </a:rPr>
              <a:t>Autom</a:t>
            </a:r>
            <a:r>
              <a:rPr lang="en-US" sz="2499">
                <a:solidFill>
                  <a:srgbClr val="FDFBFB"/>
                </a:solidFill>
                <a:latin typeface="Poppins"/>
                <a:ea typeface="Poppins"/>
                <a:cs typeface="Poppins"/>
                <a:sym typeface="Poppins"/>
              </a:rPr>
              <a:t>at</a:t>
            </a:r>
            <a:r>
              <a:rPr lang="en-US" sz="2499">
                <a:solidFill>
                  <a:srgbClr val="FDFBFB"/>
                </a:solidFill>
                <a:latin typeface="Poppins"/>
                <a:ea typeface="Poppins"/>
                <a:cs typeface="Poppins"/>
                <a:sym typeface="Poppins"/>
              </a:rPr>
              <a:t>ed deployments via DevOps release pipelines.</a:t>
            </a:r>
          </a:p>
        </p:txBody>
      </p:sp>
      <p:sp>
        <p:nvSpPr>
          <p:cNvPr name="Freeform 10" id="10"/>
          <p:cNvSpPr/>
          <p:nvPr/>
        </p:nvSpPr>
        <p:spPr>
          <a:xfrm flipH="false" flipV="false" rot="0">
            <a:off x="1028700" y="8162697"/>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ru"/>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076915" y="1648741"/>
            <a:ext cx="4987278" cy="1011555"/>
          </a:xfrm>
          <a:prstGeom prst="rect">
            <a:avLst/>
          </a:prstGeom>
        </p:spPr>
        <p:txBody>
          <a:bodyPr anchor="t" rtlCol="false" tIns="0" lIns="0" bIns="0" rIns="0">
            <a:spAutoFit/>
          </a:bodyPr>
          <a:lstStyle/>
          <a:p>
            <a:pPr algn="l">
              <a:lnSpc>
                <a:spcPts val="7410"/>
              </a:lnSpc>
            </a:pPr>
            <a:r>
              <a:rPr lang="en-US" sz="6500" b="true">
                <a:solidFill>
                  <a:srgbClr val="1C2120"/>
                </a:solidFill>
                <a:latin typeface="Poppins Bold"/>
                <a:ea typeface="Poppins Bold"/>
                <a:cs typeface="Poppins Bold"/>
                <a:sym typeface="Poppins Bold"/>
              </a:rPr>
              <a:t>Conclusion</a:t>
            </a:r>
          </a:p>
        </p:txBody>
      </p:sp>
      <p:grpSp>
        <p:nvGrpSpPr>
          <p:cNvPr name="Group 3" id="3"/>
          <p:cNvGrpSpPr/>
          <p:nvPr/>
        </p:nvGrpSpPr>
        <p:grpSpPr>
          <a:xfrm rot="0">
            <a:off x="-835969" y="6492589"/>
            <a:ext cx="20530640" cy="4103030"/>
            <a:chOff x="0" y="0"/>
            <a:chExt cx="6872801" cy="1373523"/>
          </a:xfrm>
        </p:grpSpPr>
        <p:sp>
          <p:nvSpPr>
            <p:cNvPr name="Freeform 4" id="4"/>
            <p:cNvSpPr/>
            <p:nvPr/>
          </p:nvSpPr>
          <p:spPr>
            <a:xfrm flipH="false" flipV="false" rot="0">
              <a:off x="0" y="0"/>
              <a:ext cx="6872801" cy="1373523"/>
            </a:xfrm>
            <a:custGeom>
              <a:avLst/>
              <a:gdLst/>
              <a:ahLst/>
              <a:cxnLst/>
              <a:rect r="r" b="b" t="t" l="l"/>
              <a:pathLst>
                <a:path h="1373523" w="6872801">
                  <a:moveTo>
                    <a:pt x="0" y="0"/>
                  </a:moveTo>
                  <a:lnTo>
                    <a:pt x="6872801" y="0"/>
                  </a:lnTo>
                  <a:lnTo>
                    <a:pt x="6872801" y="1373523"/>
                  </a:lnTo>
                  <a:lnTo>
                    <a:pt x="0" y="1373523"/>
                  </a:lnTo>
                  <a:close/>
                </a:path>
              </a:pathLst>
            </a:custGeom>
            <a:solidFill>
              <a:srgbClr val="AAD7D4"/>
            </a:solidFill>
            <a:ln cap="sq">
              <a:noFill/>
              <a:prstDash val="solid"/>
              <a:miter/>
            </a:ln>
          </p:spPr>
        </p:sp>
        <p:sp>
          <p:nvSpPr>
            <p:cNvPr name="TextBox 5" id="5"/>
            <p:cNvSpPr txBox="true"/>
            <p:nvPr/>
          </p:nvSpPr>
          <p:spPr>
            <a:xfrm>
              <a:off x="0" y="85725"/>
              <a:ext cx="6872801" cy="1287798"/>
            </a:xfrm>
            <a:prstGeom prst="rect">
              <a:avLst/>
            </a:prstGeom>
          </p:spPr>
          <p:txBody>
            <a:bodyPr anchor="ctr" rtlCol="false" tIns="50800" lIns="50800" bIns="50800" rIns="50800"/>
            <a:lstStyle/>
            <a:p>
              <a:pPr algn="ctr">
                <a:lnSpc>
                  <a:spcPts val="1925"/>
                </a:lnSpc>
              </a:pPr>
            </a:p>
          </p:txBody>
        </p:sp>
      </p:grpSp>
      <p:grpSp>
        <p:nvGrpSpPr>
          <p:cNvPr name="Group 6" id="6"/>
          <p:cNvGrpSpPr/>
          <p:nvPr/>
        </p:nvGrpSpPr>
        <p:grpSpPr>
          <a:xfrm rot="0">
            <a:off x="7990522" y="4669547"/>
            <a:ext cx="9561870" cy="3418834"/>
            <a:chOff x="0" y="0"/>
            <a:chExt cx="2518353" cy="900434"/>
          </a:xfrm>
        </p:grpSpPr>
        <p:sp>
          <p:nvSpPr>
            <p:cNvPr name="Freeform 7" id="7"/>
            <p:cNvSpPr/>
            <p:nvPr/>
          </p:nvSpPr>
          <p:spPr>
            <a:xfrm flipH="false" flipV="false" rot="0">
              <a:off x="0" y="0"/>
              <a:ext cx="2518353" cy="900434"/>
            </a:xfrm>
            <a:custGeom>
              <a:avLst/>
              <a:gdLst/>
              <a:ahLst/>
              <a:cxnLst/>
              <a:rect r="r" b="b" t="t" l="l"/>
              <a:pathLst>
                <a:path h="900434" w="2518353">
                  <a:moveTo>
                    <a:pt x="24290" y="0"/>
                  </a:moveTo>
                  <a:lnTo>
                    <a:pt x="2494063" y="0"/>
                  </a:lnTo>
                  <a:cubicBezTo>
                    <a:pt x="2507478" y="0"/>
                    <a:pt x="2518353" y="10875"/>
                    <a:pt x="2518353" y="24290"/>
                  </a:cubicBezTo>
                  <a:lnTo>
                    <a:pt x="2518353" y="876144"/>
                  </a:lnTo>
                  <a:cubicBezTo>
                    <a:pt x="2518353" y="889559"/>
                    <a:pt x="2507478" y="900434"/>
                    <a:pt x="2494063" y="900434"/>
                  </a:cubicBezTo>
                  <a:lnTo>
                    <a:pt x="24290" y="900434"/>
                  </a:lnTo>
                  <a:cubicBezTo>
                    <a:pt x="10875" y="900434"/>
                    <a:pt x="0" y="889559"/>
                    <a:pt x="0" y="876144"/>
                  </a:cubicBezTo>
                  <a:lnTo>
                    <a:pt x="0" y="24290"/>
                  </a:lnTo>
                  <a:cubicBezTo>
                    <a:pt x="0" y="10875"/>
                    <a:pt x="10875" y="0"/>
                    <a:pt x="24290" y="0"/>
                  </a:cubicBezTo>
                  <a:close/>
                </a:path>
              </a:pathLst>
            </a:custGeom>
            <a:solidFill>
              <a:srgbClr val="106861"/>
            </a:solidFill>
          </p:spPr>
        </p:sp>
        <p:sp>
          <p:nvSpPr>
            <p:cNvPr name="TextBox 8" id="8"/>
            <p:cNvSpPr txBox="true"/>
            <p:nvPr/>
          </p:nvSpPr>
          <p:spPr>
            <a:xfrm>
              <a:off x="0" y="-38100"/>
              <a:ext cx="2518353" cy="938534"/>
            </a:xfrm>
            <a:prstGeom prst="rect">
              <a:avLst/>
            </a:prstGeom>
          </p:spPr>
          <p:txBody>
            <a:bodyPr anchor="ctr" rtlCol="false" tIns="50800" lIns="50800" bIns="50800" rIns="50800"/>
            <a:lstStyle/>
            <a:p>
              <a:pPr algn="ctr">
                <a:lnSpc>
                  <a:spcPts val="2859"/>
                </a:lnSpc>
              </a:pPr>
            </a:p>
          </p:txBody>
        </p:sp>
      </p:grpSp>
      <p:sp>
        <p:nvSpPr>
          <p:cNvPr name="TextBox 9" id="9"/>
          <p:cNvSpPr txBox="true"/>
          <p:nvPr/>
        </p:nvSpPr>
        <p:spPr>
          <a:xfrm rot="0">
            <a:off x="8232887" y="5000625"/>
            <a:ext cx="9077141" cy="2651125"/>
          </a:xfrm>
          <a:prstGeom prst="rect">
            <a:avLst/>
          </a:prstGeom>
        </p:spPr>
        <p:txBody>
          <a:bodyPr anchor="t" rtlCol="false" tIns="0" lIns="0" bIns="0" rIns="0">
            <a:spAutoFit/>
          </a:bodyPr>
          <a:lstStyle/>
          <a:p>
            <a:pPr algn="l" marL="539749" indent="-269875" lvl="1">
              <a:lnSpc>
                <a:spcPts val="4249"/>
              </a:lnSpc>
              <a:buFont typeface="Arial"/>
              <a:buChar char="•"/>
            </a:pPr>
            <a:r>
              <a:rPr lang="en-US" sz="2499">
                <a:solidFill>
                  <a:srgbClr val="FDFBFB"/>
                </a:solidFill>
                <a:latin typeface="Poppins"/>
                <a:ea typeface="Poppins"/>
                <a:cs typeface="Poppins"/>
                <a:sym typeface="Poppins"/>
              </a:rPr>
              <a:t>End-to-end data pipeline successfully implemented.</a:t>
            </a:r>
          </a:p>
          <a:p>
            <a:pPr algn="l" marL="539749" indent="-269875" lvl="1">
              <a:lnSpc>
                <a:spcPts val="4249"/>
              </a:lnSpc>
              <a:buFont typeface="Arial"/>
              <a:buChar char="•"/>
            </a:pPr>
            <a:r>
              <a:rPr lang="en-US" sz="2499">
                <a:solidFill>
                  <a:srgbClr val="FDFBFB"/>
                </a:solidFill>
                <a:latin typeface="Poppins"/>
                <a:ea typeface="Poppins"/>
                <a:cs typeface="Poppins"/>
                <a:sym typeface="Poppins"/>
              </a:rPr>
              <a:t>Ve</a:t>
            </a:r>
            <a:r>
              <a:rPr lang="en-US" sz="2499">
                <a:solidFill>
                  <a:srgbClr val="FDFBFB"/>
                </a:solidFill>
                <a:latin typeface="Poppins"/>
                <a:ea typeface="Poppins"/>
                <a:cs typeface="Poppins"/>
                <a:sym typeface="Poppins"/>
              </a:rPr>
              <a:t>rified seamless data movement and integration with analytics layer.</a:t>
            </a:r>
          </a:p>
          <a:p>
            <a:pPr algn="l" marL="539749" indent="-269875" lvl="1">
              <a:lnSpc>
                <a:spcPts val="4249"/>
              </a:lnSpc>
              <a:buFont typeface="Arial"/>
              <a:buChar char="•"/>
            </a:pPr>
            <a:r>
              <a:rPr lang="en-US" sz="2499">
                <a:solidFill>
                  <a:srgbClr val="FDFBFB"/>
                </a:solidFill>
                <a:latin typeface="Poppins"/>
                <a:ea typeface="Poppins"/>
                <a:cs typeface="Poppins"/>
                <a:sym typeface="Poppins"/>
              </a:rPr>
              <a:t>G</a:t>
            </a:r>
            <a:r>
              <a:rPr lang="en-US" sz="2499">
                <a:solidFill>
                  <a:srgbClr val="FDFBFB"/>
                </a:solidFill>
                <a:latin typeface="Poppins"/>
                <a:ea typeface="Poppins"/>
                <a:cs typeface="Poppins"/>
                <a:sym typeface="Poppins"/>
              </a:rPr>
              <a:t>ained hands-on experience in ADF pipeline orchestrati</a:t>
            </a:r>
            <a:r>
              <a:rPr lang="en-US" sz="2499">
                <a:solidFill>
                  <a:srgbClr val="FDFBFB"/>
                </a:solidFill>
                <a:latin typeface="Poppins"/>
                <a:ea typeface="Poppins"/>
                <a:cs typeface="Poppins"/>
                <a:sym typeface="Poppins"/>
              </a:rPr>
              <a:t>on and DevOps integration.</a:t>
            </a:r>
          </a:p>
        </p:txBody>
      </p:sp>
      <p:sp>
        <p:nvSpPr>
          <p:cNvPr name="Freeform 10" id="10"/>
          <p:cNvSpPr/>
          <p:nvPr/>
        </p:nvSpPr>
        <p:spPr>
          <a:xfrm flipH="false" flipV="false" rot="0">
            <a:off x="16184396" y="1028700"/>
            <a:ext cx="1074904" cy="1095603"/>
          </a:xfrm>
          <a:custGeom>
            <a:avLst/>
            <a:gdLst/>
            <a:ahLst/>
            <a:cxnLst/>
            <a:rect r="r" b="b" t="t" l="l"/>
            <a:pathLst>
              <a:path h="1095603" w="1074904">
                <a:moveTo>
                  <a:pt x="0" y="0"/>
                </a:moveTo>
                <a:lnTo>
                  <a:pt x="1074904" y="0"/>
                </a:lnTo>
                <a:lnTo>
                  <a:pt x="1074904" y="1095603"/>
                </a:lnTo>
                <a:lnTo>
                  <a:pt x="0" y="10956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rd"/>
  </p:transition>
</p:sld>
</file>

<file path=ppt/slides/slide26.xml><?xml version="1.0" encoding="utf-8"?>
<p:sld xmlns:p="http://schemas.openxmlformats.org/presentationml/2006/main" xmlns:a="http://schemas.openxmlformats.org/drawingml/2006/main">
  <p:cSld>
    <p:bg>
      <p:bgPr>
        <a:solidFill>
          <a:srgbClr val="AAD7D4"/>
        </a:solidFill>
      </p:bgPr>
    </p:bg>
    <p:spTree>
      <p:nvGrpSpPr>
        <p:cNvPr id="1" name=""/>
        <p:cNvGrpSpPr/>
        <p:nvPr/>
      </p:nvGrpSpPr>
      <p:grpSpPr>
        <a:xfrm>
          <a:off x="0" y="0"/>
          <a:ext cx="0" cy="0"/>
          <a:chOff x="0" y="0"/>
          <a:chExt cx="0" cy="0"/>
        </a:xfrm>
      </p:grpSpPr>
      <p:sp>
        <p:nvSpPr>
          <p:cNvPr name="TextBox 2" id="2"/>
          <p:cNvSpPr txBox="true"/>
          <p:nvPr/>
        </p:nvSpPr>
        <p:spPr>
          <a:xfrm rot="0">
            <a:off x="3182017" y="4063522"/>
            <a:ext cx="11923966" cy="1563044"/>
          </a:xfrm>
          <a:prstGeom prst="rect">
            <a:avLst/>
          </a:prstGeom>
        </p:spPr>
        <p:txBody>
          <a:bodyPr anchor="t" rtlCol="false" tIns="0" lIns="0" bIns="0" rIns="0">
            <a:spAutoFit/>
          </a:bodyPr>
          <a:lstStyle/>
          <a:p>
            <a:pPr algn="ctr">
              <a:lnSpc>
                <a:spcPts val="10460"/>
              </a:lnSpc>
            </a:pPr>
            <a:r>
              <a:rPr lang="en-US" b="true" sz="12023">
                <a:solidFill>
                  <a:srgbClr val="1C2120"/>
                </a:solidFill>
                <a:latin typeface="Poppins Bold"/>
                <a:ea typeface="Poppins Bold"/>
                <a:cs typeface="Poppins Bold"/>
                <a:sym typeface="Poppins Bold"/>
              </a:rPr>
              <a:t>Thank you !</a:t>
            </a:r>
          </a:p>
        </p:txBody>
      </p:sp>
      <p:grpSp>
        <p:nvGrpSpPr>
          <p:cNvPr name="Group 3" id="3"/>
          <p:cNvGrpSpPr/>
          <p:nvPr/>
        </p:nvGrpSpPr>
        <p:grpSpPr>
          <a:xfrm rot="0">
            <a:off x="5652409" y="6834602"/>
            <a:ext cx="6983181" cy="669188"/>
            <a:chOff x="0" y="0"/>
            <a:chExt cx="1839192" cy="176247"/>
          </a:xfrm>
        </p:grpSpPr>
        <p:sp>
          <p:nvSpPr>
            <p:cNvPr name="Freeform 4" id="4"/>
            <p:cNvSpPr/>
            <p:nvPr/>
          </p:nvSpPr>
          <p:spPr>
            <a:xfrm flipH="false" flipV="false" rot="0">
              <a:off x="0" y="0"/>
              <a:ext cx="1839192" cy="176247"/>
            </a:xfrm>
            <a:custGeom>
              <a:avLst/>
              <a:gdLst/>
              <a:ahLst/>
              <a:cxnLst/>
              <a:rect r="r" b="b" t="t" l="l"/>
              <a:pathLst>
                <a:path h="176247" w="1839192">
                  <a:moveTo>
                    <a:pt x="0" y="0"/>
                  </a:moveTo>
                  <a:lnTo>
                    <a:pt x="1839192" y="0"/>
                  </a:lnTo>
                  <a:lnTo>
                    <a:pt x="1839192" y="176247"/>
                  </a:lnTo>
                  <a:lnTo>
                    <a:pt x="0" y="176247"/>
                  </a:lnTo>
                  <a:close/>
                </a:path>
              </a:pathLst>
            </a:custGeom>
            <a:solidFill>
              <a:srgbClr val="AAD7D4"/>
            </a:solidFill>
            <a:ln w="28575" cap="sq">
              <a:solidFill>
                <a:srgbClr val="1C2120"/>
              </a:solidFill>
              <a:prstDash val="solid"/>
              <a:miter/>
            </a:ln>
          </p:spPr>
        </p:sp>
        <p:sp>
          <p:nvSpPr>
            <p:cNvPr name="TextBox 5" id="5"/>
            <p:cNvSpPr txBox="true"/>
            <p:nvPr/>
          </p:nvSpPr>
          <p:spPr>
            <a:xfrm>
              <a:off x="0" y="-38100"/>
              <a:ext cx="1839192" cy="21434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916295" y="6947057"/>
            <a:ext cx="6617965" cy="482379"/>
          </a:xfrm>
          <a:prstGeom prst="rect">
            <a:avLst/>
          </a:prstGeom>
        </p:spPr>
        <p:txBody>
          <a:bodyPr anchor="t" rtlCol="false" tIns="0" lIns="0" bIns="0" rIns="0">
            <a:spAutoFit/>
          </a:bodyPr>
          <a:lstStyle/>
          <a:p>
            <a:pPr algn="ctr">
              <a:lnSpc>
                <a:spcPts val="3445"/>
              </a:lnSpc>
            </a:pPr>
            <a:r>
              <a:rPr lang="en-US" sz="3445" spc="-68">
                <a:solidFill>
                  <a:srgbClr val="1C2120"/>
                </a:solidFill>
                <a:latin typeface="Poppins"/>
                <a:ea typeface="Poppins"/>
                <a:cs typeface="Poppins"/>
                <a:sym typeface="Poppins"/>
              </a:rPr>
              <a:t>OPEN TO QUESTIONS!</a:t>
            </a:r>
          </a:p>
        </p:txBody>
      </p:sp>
    </p:spTree>
  </p:cSld>
  <p:clrMapOvr>
    <a:masterClrMapping/>
  </p:clrMapOvr>
  <p:transition spd="slow">
    <p:cover dir="l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DAGxRbgX6xM</dc:identifier>
  <dcterms:modified xsi:type="dcterms:W3CDTF">2011-08-01T06:04:30Z</dcterms:modified>
  <cp:revision>1</cp:revision>
  <dc:title>Data Movement Pipeline using Azure Data Factory &amp; Azure DevOps</dc:title>
</cp:coreProperties>
</file>